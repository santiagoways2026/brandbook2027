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s" id="{5838a4c5-37f7-92de-6451-c6d3a2ba2258}">
          <p14:sldIdLst>
            <p14:sldId id="256"/>
            <p14:sldId id="257"/>
          </p14:sldIdLst>
        </p14:section>
        <p14:section name="Estructura" id="{2daf71fd-1728-2202-39d4-b2a7e006ea1a}">
          <p14:sldIdLst>
            <p14:sldId id="258"/>
            <p14:sldId id="259"/>
          </p14:sldIdLst>
        </p14:section>
        <p14:section name="Contenido" id="{9c05f44b-3351-7f2d-3e2c-a49fae767c1c}">
          <p14:sldIdLst>
            <p14:sldId id="260"/>
            <p14:sldId id="261"/>
            <p14:sldId id="262"/>
            <p14:sldId id="263"/>
          </p14:sldIdLst>
        </p14:section>
        <p14:section name="Datos" id="{d0b17636-49a7-02eb-1058-8a12fd77cfd0}">
          <p14:sldIdLst>
            <p14:sldId id="264"/>
            <p14:sldId id="265"/>
            <p14:sldId id="266"/>
          </p14:sldIdLst>
        </p14:section>
        <p14:section name="Propuesta" id="{701c698e-4610-b9bc-6569-c9b035118ac9}">
          <p14:sldIdLst>
            <p14:sldId id="267"/>
            <p14:sldId id="268"/>
          </p14:sldIdLst>
        </p14:section>
        <p14:section name="Plan" id="{31545b34-79e0-0044-3bf3-2e32a0b04e91}">
          <p14:sldIdLst>
            <p14:sldId id="269"/>
            <p14:sldId id="270"/>
          </p14:sldIdLst>
        </p14:section>
        <p14:section name="Cierre" id="{39250b33-392b-cece-0cb3-068bd5913209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Peregrinos (%)</c:v>
                </c:pt>
              </c:strCache>
            </c:strRef>
          </c:tx>
          <c:spPr>
            <a:solidFill>
              <a:srgbClr val="7AA606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E2E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Camino Francés</c:v>
                  </c:pt>
                  <c:pt idx="1">
                    <c:v>Camino Portugués</c:v>
                  </c:pt>
                  <c:pt idx="2">
                    <c:v>Camino del Norte</c:v>
                  </c:pt>
                  <c:pt idx="3">
                    <c:v>Camino Primitivo</c:v>
                  </c:pt>
                  <c:pt idx="4">
                    <c:v>Camino Inglés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21</c:v>
                </c:pt>
                <c:pt idx="2">
                  <c:v>9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2E2E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E2E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s-brandbook-/fbbf11e7-4add-5196-9360-974883348c29/scratchpad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286000" cy="36618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0"/>
            <a:ext cx="502920" cy="502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TIPO DE DOCUMENTO · 2027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3310128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Título de la presentación</a:t>
            </a:r>
            <a:endParaRPr lang="en-US" sz="4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85800" y="4800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Subtítulo o descripción breve</a:t>
            </a:r>
            <a:endParaRPr lang="en-US" sz="1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685800" y="598932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Nombre Apellido · Área · dd/mm/aaaa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con 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s-brandbook-/fbbf11e7-4add-5196-9360-974883348c29/scratchpad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103120" cy="33688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0"/>
            <a:ext cx="502920" cy="502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971800"/>
            <a:ext cx="47548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TIPO DE DOCUMENTO · 2027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3310128"/>
            <a:ext cx="49377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Título de la presentación</a:t>
            </a:r>
            <a:endParaRPr lang="en-US" sz="3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85800" y="5029200"/>
            <a:ext cx="47548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Subtítulo o descripción breve</a:t>
            </a:r>
            <a:endParaRPr lang="en-US" sz="16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685800" y="5989320"/>
            <a:ext cx="47548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Nombre Apellido · Área · dd/mm/aaaa</a:t>
            </a:r>
            <a:endParaRPr lang="en-US" sz="1100" dirty="0"/>
          </a:p>
        </p:txBody>
      </p:sp>
      <p:sp>
        <p:nvSpPr>
          <p:cNvPr id="8" name="Text 1"/>
          <p:cNvSpPr/>
          <p:nvPr>
            <p:ph idx="106" hasCustomPrompt="1"/>
          </p:nvPr>
        </p:nvSpPr>
        <p:spPr>
          <a:xfrm>
            <a:off x="6096305" y="0"/>
            <a:ext cx="609539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dirty="0">
                <a:solidFill>
                  <a:schemeClr val="tx1"/>
                </a:solidFill>
              </a:rPr>
              <a:t>Foto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234440"/>
            <a:ext cx="5486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0"/>
          <p:cNvSpPr/>
          <p:nvPr/>
        </p:nvSpPr>
        <p:spPr>
          <a:xfrm>
            <a:off x="685800" y="3246120"/>
            <a:ext cx="502920" cy="502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3520440"/>
            <a:ext cx="86868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Título del capítulo</a:t>
            </a: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85800" y="448056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Texto breve que presenta el capítulo</a:t>
            </a:r>
            <a:endParaRPr lang="en-US" sz="1800" dirty="0"/>
          </a:p>
        </p:txBody>
      </p:sp>
      <p:pic>
        <p:nvPicPr>
          <p:cNvPr id="6" name="Image 0" descr="/tmp/claude-0/-home-user-pruebas-brandbook-/fbbf11e7-4add-5196-9360-974883348c29/scratchpad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188720" cy="1904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s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ANTETÍTULO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Título de la diapositiva</a:t>
            </a:r>
            <a:endParaRPr lang="en-US" sz="3200" dirty="0"/>
          </a:p>
        </p:txBody>
      </p:sp>
      <p:pic>
        <p:nvPicPr>
          <p:cNvPr id="4" name="Image 0" descr="/tmp/claude-0/-home-user-pruebas-brandbook-/fbbf11e7-4add-5196-9360-974883348c29/scratchpad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188720" cy="1904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ANTETÍTULO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Título de la diapositiva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828800"/>
            <a:ext cx="667512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Texto de la diapositiva</a:t>
            </a:r>
            <a:endParaRPr lang="en-US" sz="1600" dirty="0"/>
          </a:p>
        </p:txBody>
      </p:sp>
      <p:pic>
        <p:nvPicPr>
          <p:cNvPr id="5" name="Image 0" descr="/tmp/claude-0/-home-user-pruebas-brandbook-/fbbf11e7-4add-5196-9360-974883348c29/scratchpad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188720" cy="1904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ANTETÍTULO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Título de la diapositiva</a:t>
            </a:r>
            <a:endParaRPr lang="en-US" sz="3200" dirty="0"/>
          </a:p>
        </p:txBody>
      </p:sp>
      <p:sp>
        <p:nvSpPr>
          <p:cNvPr id="4" name="Shape 0"/>
          <p:cNvSpPr/>
          <p:nvPr/>
        </p:nvSpPr>
        <p:spPr>
          <a:xfrm>
            <a:off x="685800" y="1828800"/>
            <a:ext cx="513572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6370168" y="1828800"/>
            <a:ext cx="513572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85800" y="2011680"/>
            <a:ext cx="513572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Subtítulo</a:t>
            </a:r>
            <a:endParaRPr lang="en-US" sz="18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685800" y="2514600"/>
            <a:ext cx="5135728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Texto de la columna</a:t>
            </a:r>
            <a:endParaRPr lang="en-US" sz="16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6370168" y="2011680"/>
            <a:ext cx="513572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Subtítulo</a:t>
            </a:r>
            <a:endParaRPr lang="en-US" sz="18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6370168" y="2514600"/>
            <a:ext cx="5135728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Texto de la columna</a:t>
            </a:r>
            <a:endParaRPr lang="en-US" sz="1600" dirty="0"/>
          </a:p>
        </p:txBody>
      </p:sp>
      <p:pic>
        <p:nvPicPr>
          <p:cNvPr id="10" name="Image 0" descr="/tmp/claude-0/-home-user-pruebas-brandbook-/fbbf11e7-4add-5196-9360-974883348c29/scratchpad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188720" cy="1904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 e imag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4937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ANTETÍTULO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49377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Título de la diapositiva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2240280"/>
            <a:ext cx="493776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Texto de la diapositiva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6309360" y="0"/>
            <a:ext cx="588233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dirty="0">
                <a:solidFill>
                  <a:schemeClr val="tx1"/>
                </a:solidFill>
              </a:rPr>
              <a:t>Foto</a:t>
            </a:r>
            <a:endParaRPr lang="en-US" dirty="0"/>
          </a:p>
        </p:txBody>
      </p:sp>
      <p:pic>
        <p:nvPicPr>
          <p:cNvPr id="6" name="Image 0" descr="/tmp/claude-0/-home-user-pruebas-brandbook-/fbbf11e7-4add-5196-9360-974883348c29/scratchpad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188720" cy="1904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a sangre">
    <p:bg>
      <p:bgPr>
        <a:solidFill>
          <a:srgbClr val="2E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dirty="0">
                <a:solidFill>
                  <a:schemeClr val="bg1"/>
                </a:solidFill>
              </a:rPr>
              <a:t>Foto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áfico y comentari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ANTETÍTULO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Título de la diapositiva</a:t>
            </a:r>
            <a:endParaRPr lang="en-US" sz="3200" dirty="0"/>
          </a:p>
        </p:txBody>
      </p:sp>
      <p:sp>
        <p:nvSpPr>
          <p:cNvPr id="4" name="Shape 0"/>
          <p:cNvSpPr/>
          <p:nvPr/>
        </p:nvSpPr>
        <p:spPr>
          <a:xfrm>
            <a:off x="8229600" y="1828800"/>
            <a:ext cx="327629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229600" y="2011680"/>
            <a:ext cx="3276295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Comentario del gráfico</a:t>
            </a:r>
            <a:endParaRPr lang="en-US" sz="1400" dirty="0"/>
          </a:p>
        </p:txBody>
      </p:sp>
      <p:pic>
        <p:nvPicPr>
          <p:cNvPr id="6" name="Image 0" descr="/tmp/claude-0/-home-user-pruebas-brandbook-/fbbf11e7-4add-5196-9360-974883348c29/scratchpad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188720" cy="1904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554480"/>
            <a:ext cx="502920" cy="502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1828800"/>
            <a:ext cx="64008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«Texto de la cita»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Nombre Apellido · Ruta y año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7863840" y="0"/>
            <a:ext cx="43278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dirty="0">
                <a:solidFill>
                  <a:schemeClr val="tx1"/>
                </a:solidFill>
              </a:rPr>
              <a:t>Foto</a:t>
            </a:r>
            <a:endParaRPr lang="en-US" dirty="0"/>
          </a:p>
        </p:txBody>
      </p:sp>
      <p:pic>
        <p:nvPicPr>
          <p:cNvPr id="6" name="Image 0" descr="/tmp/claude-0/-home-user-pruebas-brandbook-/fbbf11e7-4add-5196-9360-974883348c29/scratchpad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188720" cy="1904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s-brandbook-/fbbf11e7-4add-5196-9360-974883348c29/scratchpad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286000" cy="36618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0"/>
            <a:ext cx="502920" cy="502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3017520"/>
            <a:ext cx="96012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Frase de cierre</a:t>
            </a: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85800" y="443484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Texto breve opcional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INFORME · 2027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3310128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Título de la presentación en una o dos líneas</a:t>
            </a:r>
            <a:endParaRPr lang="en-US" sz="4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85800" y="4800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Subtítulo o descripción breve del contenido.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68580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Nombre Apellido · Marketing · dd/mm/aaaa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PROPUESTA · 2027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3310128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Título de la presentación en una o dos líneas</a:t>
            </a:r>
            <a:endParaRPr lang="en-US" sz="32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85800" y="5029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Subtítulo o descripción breve del contenido.</a:t>
            </a:r>
            <a:endParaRPr lang="en-US" sz="16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685800" y="5989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Nombre Apellido · Marketing · dd/mm/aaaa</a:t>
            </a:r>
            <a:endParaRPr lang="en-US" sz="1100" dirty="0"/>
          </a:p>
        </p:txBody>
      </p:sp>
      <p:pic>
        <p:nvPicPr>
          <p:cNvPr id="6" name="Image 0" descr="/tmp/claude-0/-home-user-pruebas-brandbook-/fbbf11e7-4add-5196-9360-974883348c29/scratchpad/ppt/f-portada.jpg">    </p:cNvPr>
          <p:cNvPicPr>
            <a:picLocks noChangeAspect="1"/>
          </p:cNvPicPr>
          <p:nvPr>
            <p:ph idx="106" hasCustomPrompt="1"/>
          </p:nvPr>
        </p:nvPicPr>
        <p:blipFill>
          <a:blip r:embed="rId1"/>
          <a:stretch>
            <a:fillRect/>
          </a:stretch>
        </p:blipFill>
        <p:spPr>
          <a:xfrm>
            <a:off x="6096305" y="0"/>
            <a:ext cx="60953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CONTENIDO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Índice</a:t>
            </a:r>
            <a:endParaRPr lang="en-US" sz="3200" dirty="0"/>
          </a:p>
        </p:txBody>
      </p:sp>
      <p:sp>
        <p:nvSpPr>
          <p:cNvPr id="4" name="filete-1"/>
          <p:cNvSpPr/>
          <p:nvPr/>
        </p:nvSpPr>
        <p:spPr>
          <a:xfrm>
            <a:off x="685800" y="1828800"/>
            <a:ext cx="5135728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5" name="texto-2"/>
          <p:cNvSpPr txBox="1"/>
          <p:nvPr/>
        </p:nvSpPr>
        <p:spPr>
          <a:xfrm>
            <a:off x="685800" y="20299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o-3"/>
          <p:cNvSpPr txBox="1"/>
          <p:nvPr/>
        </p:nvSpPr>
        <p:spPr>
          <a:xfrm>
            <a:off x="1600200" y="2029968"/>
            <a:ext cx="422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Resumen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Lo más importante en una diapositiva</a:t>
            </a:r>
            <a:endParaRPr lang="en-US" sz="2000" dirty="0"/>
          </a:p>
        </p:txBody>
      </p:sp>
      <p:sp>
        <p:nvSpPr>
          <p:cNvPr id="7" name="filete-4"/>
          <p:cNvSpPr/>
          <p:nvPr/>
        </p:nvSpPr>
        <p:spPr>
          <a:xfrm>
            <a:off x="685800" y="3108960"/>
            <a:ext cx="5135728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8" name="texto-5"/>
          <p:cNvSpPr txBox="1"/>
          <p:nvPr/>
        </p:nvSpPr>
        <p:spPr>
          <a:xfrm>
            <a:off x="685800" y="33101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o-6"/>
          <p:cNvSpPr txBox="1"/>
          <p:nvPr/>
        </p:nvSpPr>
        <p:spPr>
          <a:xfrm>
            <a:off x="1600200" y="3310128"/>
            <a:ext cx="422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Contexto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Dónde estamos y por qué</a:t>
            </a:r>
            <a:endParaRPr lang="en-US" sz="2000" dirty="0"/>
          </a:p>
        </p:txBody>
      </p:sp>
      <p:sp>
        <p:nvSpPr>
          <p:cNvPr id="10" name="filete-7"/>
          <p:cNvSpPr/>
          <p:nvPr/>
        </p:nvSpPr>
        <p:spPr>
          <a:xfrm>
            <a:off x="685800" y="4389120"/>
            <a:ext cx="5135728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1" name="texto-8"/>
          <p:cNvSpPr txBox="1"/>
          <p:nvPr/>
        </p:nvSpPr>
        <p:spPr>
          <a:xfrm>
            <a:off x="685800" y="45902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o-9"/>
          <p:cNvSpPr txBox="1"/>
          <p:nvPr/>
        </p:nvSpPr>
        <p:spPr>
          <a:xfrm>
            <a:off x="1600200" y="4590288"/>
            <a:ext cx="422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Datos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Cifras, gráficos y tablas</a:t>
            </a:r>
            <a:endParaRPr lang="en-US" sz="2000" dirty="0"/>
          </a:p>
        </p:txBody>
      </p:sp>
      <p:sp>
        <p:nvSpPr>
          <p:cNvPr id="13" name="filete-10"/>
          <p:cNvSpPr/>
          <p:nvPr/>
        </p:nvSpPr>
        <p:spPr>
          <a:xfrm>
            <a:off x="6370168" y="1828800"/>
            <a:ext cx="5135728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4" name="texto-11"/>
          <p:cNvSpPr txBox="1"/>
          <p:nvPr/>
        </p:nvSpPr>
        <p:spPr>
          <a:xfrm>
            <a:off x="6370168" y="20299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o-12"/>
          <p:cNvSpPr txBox="1"/>
          <p:nvPr/>
        </p:nvSpPr>
        <p:spPr>
          <a:xfrm>
            <a:off x="7284568" y="2029968"/>
            <a:ext cx="422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Propuesta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Opciones y recomendación</a:t>
            </a:r>
            <a:endParaRPr lang="en-US" sz="2000" dirty="0"/>
          </a:p>
        </p:txBody>
      </p:sp>
      <p:sp>
        <p:nvSpPr>
          <p:cNvPr id="16" name="filete-13"/>
          <p:cNvSpPr/>
          <p:nvPr/>
        </p:nvSpPr>
        <p:spPr>
          <a:xfrm>
            <a:off x="6370168" y="3108960"/>
            <a:ext cx="5135728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7" name="texto-14"/>
          <p:cNvSpPr txBox="1"/>
          <p:nvPr/>
        </p:nvSpPr>
        <p:spPr>
          <a:xfrm>
            <a:off x="6370168" y="33101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o-15"/>
          <p:cNvSpPr txBox="1"/>
          <p:nvPr/>
        </p:nvSpPr>
        <p:spPr>
          <a:xfrm>
            <a:off x="7284568" y="3310128"/>
            <a:ext cx="422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Plan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Proceso y calendario</a:t>
            </a:r>
            <a:endParaRPr lang="en-US" sz="2000" dirty="0"/>
          </a:p>
        </p:txBody>
      </p:sp>
      <p:sp>
        <p:nvSpPr>
          <p:cNvPr id="19" name="filete-16"/>
          <p:cNvSpPr/>
          <p:nvPr/>
        </p:nvSpPr>
        <p:spPr>
          <a:xfrm>
            <a:off x="6370168" y="4389120"/>
            <a:ext cx="5135728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0" name="texto-17"/>
          <p:cNvSpPr txBox="1"/>
          <p:nvPr/>
        </p:nvSpPr>
        <p:spPr>
          <a:xfrm>
            <a:off x="6370168" y="45902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o-18"/>
          <p:cNvSpPr txBox="1"/>
          <p:nvPr/>
        </p:nvSpPr>
        <p:spPr>
          <a:xfrm>
            <a:off x="7284568" y="4590288"/>
            <a:ext cx="422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Próximos pasos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Qué decidimos hoy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35204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Resumen</a:t>
            </a:r>
            <a:endParaRPr lang="en-US" sz="4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44805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Texto breve que presenta el capítulo. Lorem ipsum dolor sit amet, consectetur adipiscing elit.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CAPÍTULO 01 · RESUMEN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Lo más importante en una diapositiva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828800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Entradilla: una o dos frases que resumen el mensaje principal de la presentación.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Primera idea clave: lorem ipsum dolor sit amet.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Segunda idea clave: consectetur adipiscing elit.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Tercera idea clave: integer posuere erat a ante.</a:t>
            </a:r>
            <a:endParaRPr lang="en-US" sz="1600" dirty="0"/>
          </a:p>
        </p:txBody>
      </p:sp>
      <p:sp>
        <p:nvSpPr>
          <p:cNvPr id="5" name="caja-dato-19"/>
          <p:cNvSpPr/>
          <p:nvPr/>
        </p:nvSpPr>
        <p:spPr>
          <a:xfrm>
            <a:off x="8001000" y="1828800"/>
            <a:ext cx="3504895" cy="40233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texto-20"/>
          <p:cNvSpPr txBox="1"/>
          <p:nvPr/>
        </p:nvSpPr>
        <p:spPr>
          <a:xfrm>
            <a:off x="832104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DATO CLAVE</a:t>
            </a:r>
            <a:endParaRPr lang="en-US" sz="1100" dirty="0"/>
          </a:p>
        </p:txBody>
      </p:sp>
      <p:sp>
        <p:nvSpPr>
          <p:cNvPr id="7" name="texto-21"/>
          <p:cNvSpPr txBox="1"/>
          <p:nvPr/>
        </p:nvSpPr>
        <p:spPr>
          <a:xfrm>
            <a:off x="832104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115 km</a:t>
            </a:r>
            <a:endParaRPr lang="en-US" sz="5400" dirty="0"/>
          </a:p>
        </p:txBody>
      </p:sp>
      <p:sp>
        <p:nvSpPr>
          <p:cNvPr id="8" name="texto-22"/>
          <p:cNvSpPr txBox="1"/>
          <p:nvPr/>
        </p:nvSpPr>
        <p:spPr>
          <a:xfrm>
            <a:off x="8321040" y="43434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Distancia mínima a pie para conseguir la Compostela.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CAPÍTULO 02 · CONTEXTO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Dónde estamos y adónde vamos</a:t>
            </a:r>
            <a:endParaRPr lang="en-US" sz="32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85800" y="201168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Situación actual</a:t>
            </a:r>
            <a:endParaRPr lang="en-US" sz="18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685800" y="2514600"/>
            <a:ext cx="51357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Lorem ipsum dolor sit amet, consectetur adipiscing elit. Integer posuere erat a ante venenatis dapibus.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Lorem ipsum dolor sit amet.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Consectetur adipiscing elit.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Integer posuere erat a ante.</a:t>
            </a:r>
            <a:endParaRPr lang="en-US" sz="16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6370168" y="201168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Objetivo para 2027</a:t>
            </a:r>
            <a:endParaRPr lang="en-US" sz="1800" dirty="0"/>
          </a:p>
        </p:txBody>
      </p:sp>
      <p:sp>
        <p:nvSpPr>
          <p:cNvPr id="7" name="Text 2"/>
          <p:cNvSpPr/>
          <p:nvPr>
            <p:ph idx="107" type="body" hasCustomPrompt="1"/>
          </p:nvPr>
        </p:nvSpPr>
        <p:spPr>
          <a:xfrm>
            <a:off x="6370168" y="2514600"/>
            <a:ext cx="51357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Lorem ipsum dolor sit amet, consectetur adipiscing elit. Integer posuere erat a ante venenatis dapibus.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Maecenas sed diam eget risus.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Vestibulum id ligula porta felis.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Nullam quis risus eget urna.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CAPÍTULO 02 · CONTEXTO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Una diapositiva con texto y foto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2240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Lorem ipsum dolor sit amet, consectetur adipiscing elit. Integer posuere erat a ante venenatis dapibus. Cras mattis consectetur purus sit amet fermentum.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Primer punto destacado.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Segundo punto destacado.</a:t>
            </a:r>
            <a:endParaRPr lang="en-US" sz="1600" dirty="0"/>
          </a:p>
          <a:p>
            <a:pPr algn="l" marL="228600" indent="-2286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Tercer punto destacado.</a:t>
            </a:r>
            <a:endParaRPr lang="en-US" sz="1600" dirty="0"/>
          </a:p>
        </p:txBody>
      </p:sp>
      <p:pic>
        <p:nvPicPr>
          <p:cNvPr id="5" name="Image 0" descr="/tmp/claude-0/-home-user-pruebas-brandbook-/fbbf11e7-4add-5196-9360-974883348c29/scratchpad/ppt/f-texto.jpg">    </p:cNvPr>
          <p:cNvPicPr>
            <a:picLocks noChangeAspect="1"/>
          </p:cNvPicPr>
          <p:nvPr>
            <p:ph idx="103" hasCustomPrompt="1"/>
          </p:nvPr>
        </p:nvPicPr>
        <p:blipFill>
          <a:blip r:embed="rId1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s-brandbook-/fbbf11e7-4add-5196-9360-974883348c29/scratchpad/ppt/f-sangre.jpg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degradado-23" descr="/tmp/claude-0/-home-user-pruebas-brandbook-/fbbf11e7-4add-5196-9360-974883348c29/scratchpad/ppt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o-24"/>
          <p:cNvSpPr txBox="1"/>
          <p:nvPr/>
        </p:nvSpPr>
        <p:spPr>
          <a:xfrm>
            <a:off x="6858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SANTIAGO DE COMPOSTELA</a:t>
            </a:r>
            <a:endParaRPr lang="en-US" sz="1100" dirty="0"/>
          </a:p>
        </p:txBody>
      </p:sp>
      <p:sp>
        <p:nvSpPr>
          <p:cNvPr id="5" name="texto-25"/>
          <p:cNvSpPr txBox="1"/>
          <p:nvPr/>
        </p:nvSpPr>
        <p:spPr>
          <a:xfrm>
            <a:off x="685800" y="48920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 titular corto sobre una foto a sangre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CAPÍTULO 03 · DATOS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Cifras clave</a:t>
            </a:r>
            <a:endParaRPr lang="en-US" sz="3200" dirty="0"/>
          </a:p>
        </p:txBody>
      </p:sp>
      <p:sp>
        <p:nvSpPr>
          <p:cNvPr id="4" name="filete-cifra-26"/>
          <p:cNvSpPr/>
          <p:nvPr/>
        </p:nvSpPr>
        <p:spPr>
          <a:xfrm>
            <a:off x="685800" y="2103120"/>
            <a:ext cx="2430704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o-27"/>
          <p:cNvSpPr txBox="1"/>
          <p:nvPr/>
        </p:nvSpPr>
        <p:spPr>
          <a:xfrm>
            <a:off x="685800" y="2377440"/>
            <a:ext cx="243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115 km</a:t>
            </a:r>
            <a:endParaRPr lang="en-US" sz="4000" dirty="0"/>
          </a:p>
        </p:txBody>
      </p:sp>
      <p:sp>
        <p:nvSpPr>
          <p:cNvPr id="6" name="texto-28"/>
          <p:cNvSpPr txBox="1"/>
          <p:nvPr/>
        </p:nvSpPr>
        <p:spPr>
          <a:xfrm>
            <a:off x="685800" y="3246120"/>
            <a:ext cx="224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Distancia mínima a pie para la Compostela</a:t>
            </a:r>
            <a:endParaRPr lang="en-US" sz="1400" dirty="0"/>
          </a:p>
        </p:txBody>
      </p:sp>
      <p:sp>
        <p:nvSpPr>
          <p:cNvPr id="7" name="filete-cifra-29"/>
          <p:cNvSpPr/>
          <p:nvPr/>
        </p:nvSpPr>
        <p:spPr>
          <a:xfrm>
            <a:off x="3482264" y="2103120"/>
            <a:ext cx="2430704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o-30"/>
          <p:cNvSpPr txBox="1"/>
          <p:nvPr/>
        </p:nvSpPr>
        <p:spPr>
          <a:xfrm>
            <a:off x="3482264" y="2377440"/>
            <a:ext cx="243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a 8</a:t>
            </a:r>
            <a:endParaRPr lang="en-US" sz="4000" dirty="0"/>
          </a:p>
        </p:txBody>
      </p:sp>
      <p:sp>
        <p:nvSpPr>
          <p:cNvPr id="9" name="texto-31"/>
          <p:cNvSpPr txBox="1"/>
          <p:nvPr/>
        </p:nvSpPr>
        <p:spPr>
          <a:xfrm>
            <a:off x="3482264" y="3246120"/>
            <a:ext cx="224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Etapas en una ruta habitual</a:t>
            </a:r>
            <a:endParaRPr lang="en-US" sz="1400" dirty="0"/>
          </a:p>
        </p:txBody>
      </p:sp>
      <p:sp>
        <p:nvSpPr>
          <p:cNvPr id="10" name="filete-cifra-32"/>
          <p:cNvSpPr/>
          <p:nvPr/>
        </p:nvSpPr>
        <p:spPr>
          <a:xfrm>
            <a:off x="6278728" y="2103120"/>
            <a:ext cx="2430704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o-33"/>
          <p:cNvSpPr txBox="1"/>
          <p:nvPr/>
        </p:nvSpPr>
        <p:spPr>
          <a:xfrm>
            <a:off x="6278728" y="2377440"/>
            <a:ext cx="243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100.000</a:t>
            </a:r>
            <a:endParaRPr lang="en-US" sz="4000" dirty="0"/>
          </a:p>
        </p:txBody>
      </p:sp>
      <p:sp>
        <p:nvSpPr>
          <p:cNvPr id="12" name="texto-34"/>
          <p:cNvSpPr txBox="1"/>
          <p:nvPr/>
        </p:nvSpPr>
        <p:spPr>
          <a:xfrm>
            <a:off x="6278728" y="3246120"/>
            <a:ext cx="224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Seguidores en Instagram</a:t>
            </a:r>
            <a:endParaRPr lang="en-US" sz="1400" dirty="0"/>
          </a:p>
        </p:txBody>
      </p:sp>
      <p:sp>
        <p:nvSpPr>
          <p:cNvPr id="13" name="filete-cifra-35"/>
          <p:cNvSpPr/>
          <p:nvPr/>
        </p:nvSpPr>
        <p:spPr>
          <a:xfrm>
            <a:off x="9075191" y="2103120"/>
            <a:ext cx="2430704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o-36"/>
          <p:cNvSpPr txBox="1"/>
          <p:nvPr/>
        </p:nvSpPr>
        <p:spPr>
          <a:xfrm>
            <a:off x="9075191" y="2377440"/>
            <a:ext cx="243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2027</a:t>
            </a:r>
            <a:endParaRPr lang="en-US" sz="4000" dirty="0"/>
          </a:p>
        </p:txBody>
      </p:sp>
      <p:sp>
        <p:nvSpPr>
          <p:cNvPr id="15" name="texto-37"/>
          <p:cNvSpPr txBox="1"/>
          <p:nvPr/>
        </p:nvSpPr>
        <p:spPr>
          <a:xfrm>
            <a:off x="9075191" y="3246120"/>
            <a:ext cx="224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Año Santo Compostelano</a:t>
            </a:r>
            <a:endParaRPr lang="en-US" sz="1400" dirty="0"/>
          </a:p>
        </p:txBody>
      </p:sp>
      <p:sp>
        <p:nvSpPr>
          <p:cNvPr id="16" name="texto-38"/>
          <p:cNvSpPr txBox="1"/>
          <p:nvPr/>
        </p:nvSpPr>
        <p:spPr>
          <a:xfrm>
            <a:off x="685800" y="4572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Datos de ejemplo. Una frase que explique qué significan las cifras y de dónde salen. Lorem ipsum dolor sit amet, consectetur adipiscing elit. Integer posuere erat a ante venenatis dapibus.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CAPÍTULO 03 · DATOS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Peregrinos por ruta</a:t>
            </a:r>
            <a:endParaRPr lang="en-US" sz="3200" dirty="0"/>
          </a:p>
        </p:txBody>
      </p:sp>
      <p:graphicFrame>
        <p:nvGraphicFramePr>
          <p:cNvPr id="4" name="grafico-39" descr=""/>
          <p:cNvGraphicFramePr/>
          <p:nvPr/>
        </p:nvGraphicFramePr>
        <p:xfrm>
          <a:off x="685800" y="1828800"/>
          <a:ext cx="71323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>
            <p:ph idx="103" type="body" hasCustomPrompt="1"/>
          </p:nvPr>
        </p:nvSpPr>
        <p:spPr>
          <a:xfrm>
            <a:off x="8229600" y="2011680"/>
            <a:ext cx="327629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Qué nos dice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Camino Francés concentra la mitad de los peregrinos. Lorem ipsum dolor sit amet, consectetur adipiscing elit. Integer posuere erat a ante venenatis dapibus.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3"/>
                </a:solidFill>
              </a:rPr>
              <a:t>Fuente: datos de ejemplo.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CAPÍTULO 03 · DATOS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Rutas más solicitadas</a:t>
            </a:r>
            <a:endParaRPr lang="en-US" sz="3200" dirty="0"/>
          </a:p>
        </p:txBody>
      </p:sp>
      <p:graphicFrame>
        <p:nvGraphicFramePr>
          <p:cNvPr id="12" name="tabla-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82009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737360"/>
                <a:gridCol w="1737360"/>
                <a:gridCol w="1858975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100" kern="0" dirty="0">
                          <a:solidFill>
                            <a:schemeClr val="tx1"/>
                          </a:solidFill>
                        </a:rPr>
                        <a:t>RUTA</a:t>
                      </a:r>
                      <a:endParaRPr lang="en-US" sz="1100" dirty="0"/>
                    </a:p>
                  </a:txBody>
                  <a:tcPr marL="0" marR="91440" marT="0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E2E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spc="100" kern="0" dirty="0">
                          <a:solidFill>
                            <a:schemeClr val="tx1"/>
                          </a:solidFill>
                        </a:rPr>
                        <a:t>ETAPAS</a:t>
                      </a:r>
                      <a:endParaRPr lang="en-US" sz="1100" dirty="0"/>
                    </a:p>
                  </a:txBody>
                  <a:tcPr marL="0" marR="91440" marT="0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E2E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spc="100" kern="0" dirty="0">
                          <a:solidFill>
                            <a:schemeClr val="tx1"/>
                          </a:solidFill>
                        </a:rPr>
                        <a:t>KM</a:t>
                      </a:r>
                      <a:endParaRPr lang="en-US" sz="1100" dirty="0"/>
                    </a:p>
                  </a:txBody>
                  <a:tcPr marL="0" marR="91440" marT="0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E2E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spc="100" kern="0" dirty="0">
                          <a:solidFill>
                            <a:schemeClr val="tx1"/>
                          </a:solidFill>
                        </a:rPr>
                        <a:t>PRECIO DESDE</a:t>
                      </a:r>
                      <a:endParaRPr lang="en-US" sz="1100" dirty="0"/>
                    </a:p>
                  </a:txBody>
                  <a:tcPr marL="0" marR="91440" marT="0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E2E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Camino Francés desde Sarria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115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695 €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Camino Portugués desde Tui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118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725 €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Camino Inglés desde Ferrol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113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680 €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Camino del Norte desde Ribadeo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193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1.050 €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Camino Primitivo desde Lugo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710 €</a:t>
                      </a:r>
                      <a:endParaRPr lang="en-US" sz="1400" dirty="0"/>
                    </a:p>
                  </a:txBody>
                  <a:tcPr marL="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o-41"/>
          <p:cNvSpPr txBox="1"/>
          <p:nvPr/>
        </p:nvSpPr>
        <p:spPr>
          <a:xfrm>
            <a:off x="68580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Precios de ejemplo, por persona.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CAPÍTULO 04 · PROPUESTA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Comparativa de opciones</a:t>
            </a:r>
            <a:endParaRPr lang="en-US" sz="3200" dirty="0"/>
          </a:p>
        </p:txBody>
      </p:sp>
      <p:sp>
        <p:nvSpPr>
          <p:cNvPr id="4" name="columna-recomendada-42"/>
          <p:cNvSpPr/>
          <p:nvPr/>
        </p:nvSpPr>
        <p:spPr>
          <a:xfrm>
            <a:off x="7177735" y="1783080"/>
            <a:ext cx="2164080" cy="42062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" name="texto-43"/>
          <p:cNvSpPr txBox="1"/>
          <p:nvPr/>
        </p:nvSpPr>
        <p:spPr>
          <a:xfrm>
            <a:off x="5013655" y="21945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Esencial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desde 695 €</a:t>
            </a:r>
            <a:endParaRPr lang="en-US" sz="1800" dirty="0"/>
          </a:p>
        </p:txBody>
      </p:sp>
      <p:sp>
        <p:nvSpPr>
          <p:cNvPr id="6" name="texto-44"/>
          <p:cNvSpPr txBox="1"/>
          <p:nvPr/>
        </p:nvSpPr>
        <p:spPr>
          <a:xfrm>
            <a:off x="7177735" y="1920240"/>
            <a:ext cx="216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RECOMENDADO</a:t>
            </a:r>
            <a:endParaRPr lang="en-US" sz="1000" dirty="0"/>
          </a:p>
        </p:txBody>
      </p:sp>
      <p:sp>
        <p:nvSpPr>
          <p:cNvPr id="7" name="texto-45"/>
          <p:cNvSpPr txBox="1"/>
          <p:nvPr/>
        </p:nvSpPr>
        <p:spPr>
          <a:xfrm>
            <a:off x="7177735" y="21945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Confort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desde 845 €</a:t>
            </a:r>
            <a:endParaRPr lang="en-US" sz="1800" dirty="0"/>
          </a:p>
        </p:txBody>
      </p:sp>
      <p:sp>
        <p:nvSpPr>
          <p:cNvPr id="8" name="texto-46"/>
          <p:cNvSpPr txBox="1"/>
          <p:nvPr/>
        </p:nvSpPr>
        <p:spPr>
          <a:xfrm>
            <a:off x="9341815" y="219456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Premium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desde 1.190 €</a:t>
            </a:r>
            <a:endParaRPr lang="en-US" sz="1800" dirty="0"/>
          </a:p>
        </p:txBody>
      </p:sp>
      <p:sp>
        <p:nvSpPr>
          <p:cNvPr id="9" name="filete-47"/>
          <p:cNvSpPr/>
          <p:nvPr/>
        </p:nvSpPr>
        <p:spPr>
          <a:xfrm>
            <a:off x="685800" y="2971800"/>
            <a:ext cx="1082009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0" name="texto-48"/>
          <p:cNvSpPr txBox="1"/>
          <p:nvPr/>
        </p:nvSpPr>
        <p:spPr>
          <a:xfrm>
            <a:off x="685800" y="3127248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Alojamiento en cada etapa</a:t>
            </a:r>
            <a:endParaRPr lang="en-US" sz="1400" dirty="0"/>
          </a:p>
        </p:txBody>
      </p:sp>
      <p:sp>
        <p:nvSpPr>
          <p:cNvPr id="11" name="texto-49"/>
          <p:cNvSpPr txBox="1"/>
          <p:nvPr/>
        </p:nvSpPr>
        <p:spPr>
          <a:xfrm>
            <a:off x="5013655" y="3054096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12" name="texto-50"/>
          <p:cNvSpPr txBox="1"/>
          <p:nvPr/>
        </p:nvSpPr>
        <p:spPr>
          <a:xfrm>
            <a:off x="7177735" y="3054096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13" name="texto-51"/>
          <p:cNvSpPr txBox="1"/>
          <p:nvPr/>
        </p:nvSpPr>
        <p:spPr>
          <a:xfrm>
            <a:off x="9341815" y="3054096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14" name="filete-52"/>
          <p:cNvSpPr/>
          <p:nvPr/>
        </p:nvSpPr>
        <p:spPr>
          <a:xfrm>
            <a:off x="685800" y="3502152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5" name="texto-53"/>
          <p:cNvSpPr txBox="1"/>
          <p:nvPr/>
        </p:nvSpPr>
        <p:spPr>
          <a:xfrm>
            <a:off x="685800" y="3611880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Traslado de equipaje</a:t>
            </a:r>
            <a:endParaRPr lang="en-US" sz="1400" dirty="0"/>
          </a:p>
        </p:txBody>
      </p:sp>
      <p:sp>
        <p:nvSpPr>
          <p:cNvPr id="16" name="texto-54"/>
          <p:cNvSpPr txBox="1"/>
          <p:nvPr/>
        </p:nvSpPr>
        <p:spPr>
          <a:xfrm>
            <a:off x="5013655" y="3538728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17" name="texto-55"/>
          <p:cNvSpPr txBox="1"/>
          <p:nvPr/>
        </p:nvSpPr>
        <p:spPr>
          <a:xfrm>
            <a:off x="7177735" y="3538728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18" name="texto-56"/>
          <p:cNvSpPr txBox="1"/>
          <p:nvPr/>
        </p:nvSpPr>
        <p:spPr>
          <a:xfrm>
            <a:off x="9341815" y="3538728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19" name="filete-57"/>
          <p:cNvSpPr/>
          <p:nvPr/>
        </p:nvSpPr>
        <p:spPr>
          <a:xfrm>
            <a:off x="685800" y="3986784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0" name="texto-58"/>
          <p:cNvSpPr txBox="1"/>
          <p:nvPr/>
        </p:nvSpPr>
        <p:spPr>
          <a:xfrm>
            <a:off x="685800" y="4096512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Desayunos</a:t>
            </a:r>
            <a:endParaRPr lang="en-US" sz="1400" dirty="0"/>
          </a:p>
        </p:txBody>
      </p:sp>
      <p:sp>
        <p:nvSpPr>
          <p:cNvPr id="21" name="texto-59"/>
          <p:cNvSpPr txBox="1"/>
          <p:nvPr/>
        </p:nvSpPr>
        <p:spPr>
          <a:xfrm>
            <a:off x="5013655" y="4023360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B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2000" dirty="0"/>
          </a:p>
        </p:txBody>
      </p:sp>
      <p:sp>
        <p:nvSpPr>
          <p:cNvPr id="22" name="texto-60"/>
          <p:cNvSpPr txBox="1"/>
          <p:nvPr/>
        </p:nvSpPr>
        <p:spPr>
          <a:xfrm>
            <a:off x="7177735" y="4023360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o-61"/>
          <p:cNvSpPr txBox="1"/>
          <p:nvPr/>
        </p:nvSpPr>
        <p:spPr>
          <a:xfrm>
            <a:off x="9341815" y="4023360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24" name="filete-62"/>
          <p:cNvSpPr/>
          <p:nvPr/>
        </p:nvSpPr>
        <p:spPr>
          <a:xfrm>
            <a:off x="685800" y="4471416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5" name="texto-63"/>
          <p:cNvSpPr txBox="1"/>
          <p:nvPr/>
        </p:nvSpPr>
        <p:spPr>
          <a:xfrm>
            <a:off x="685800" y="4581144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Cenas en ruta</a:t>
            </a:r>
            <a:endParaRPr lang="en-US" sz="1400" dirty="0"/>
          </a:p>
        </p:txBody>
      </p:sp>
      <p:sp>
        <p:nvSpPr>
          <p:cNvPr id="26" name="texto-64"/>
          <p:cNvSpPr txBox="1"/>
          <p:nvPr/>
        </p:nvSpPr>
        <p:spPr>
          <a:xfrm>
            <a:off x="5013655" y="4507992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B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2000" dirty="0"/>
          </a:p>
        </p:txBody>
      </p:sp>
      <p:sp>
        <p:nvSpPr>
          <p:cNvPr id="27" name="texto-65"/>
          <p:cNvSpPr txBox="1"/>
          <p:nvPr/>
        </p:nvSpPr>
        <p:spPr>
          <a:xfrm>
            <a:off x="7177735" y="4507992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B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2000" dirty="0"/>
          </a:p>
        </p:txBody>
      </p:sp>
      <p:sp>
        <p:nvSpPr>
          <p:cNvPr id="28" name="texto-66"/>
          <p:cNvSpPr txBox="1"/>
          <p:nvPr/>
        </p:nvSpPr>
        <p:spPr>
          <a:xfrm>
            <a:off x="9341815" y="4507992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29" name="filete-67"/>
          <p:cNvSpPr/>
          <p:nvPr/>
        </p:nvSpPr>
        <p:spPr>
          <a:xfrm>
            <a:off x="685800" y="4956048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30" name="texto-68"/>
          <p:cNvSpPr txBox="1"/>
          <p:nvPr/>
        </p:nvSpPr>
        <p:spPr>
          <a:xfrm>
            <a:off x="685800" y="5065776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Seguro de viaje</a:t>
            </a:r>
            <a:endParaRPr lang="en-US" sz="1400" dirty="0"/>
          </a:p>
        </p:txBody>
      </p:sp>
      <p:sp>
        <p:nvSpPr>
          <p:cNvPr id="31" name="texto-69"/>
          <p:cNvSpPr txBox="1"/>
          <p:nvPr/>
        </p:nvSpPr>
        <p:spPr>
          <a:xfrm>
            <a:off x="5013655" y="4992624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B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2000" dirty="0"/>
          </a:p>
        </p:txBody>
      </p:sp>
      <p:sp>
        <p:nvSpPr>
          <p:cNvPr id="32" name="texto-70"/>
          <p:cNvSpPr txBox="1"/>
          <p:nvPr/>
        </p:nvSpPr>
        <p:spPr>
          <a:xfrm>
            <a:off x="7177735" y="4992624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33" name="texto-71"/>
          <p:cNvSpPr txBox="1"/>
          <p:nvPr/>
        </p:nvSpPr>
        <p:spPr>
          <a:xfrm>
            <a:off x="9341815" y="4992624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34" name="filete-72"/>
          <p:cNvSpPr/>
          <p:nvPr/>
        </p:nvSpPr>
        <p:spPr>
          <a:xfrm>
            <a:off x="685800" y="5440680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35" name="texto-73"/>
          <p:cNvSpPr txBox="1"/>
          <p:nvPr/>
        </p:nvSpPr>
        <p:spPr>
          <a:xfrm>
            <a:off x="685800" y="5550408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Guía acompañante</a:t>
            </a:r>
            <a:endParaRPr lang="en-US" sz="1400" dirty="0"/>
          </a:p>
        </p:txBody>
      </p:sp>
      <p:sp>
        <p:nvSpPr>
          <p:cNvPr id="36" name="texto-74"/>
          <p:cNvSpPr txBox="1"/>
          <p:nvPr/>
        </p:nvSpPr>
        <p:spPr>
          <a:xfrm>
            <a:off x="5013655" y="5477256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B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2000" dirty="0"/>
          </a:p>
        </p:txBody>
      </p:sp>
      <p:sp>
        <p:nvSpPr>
          <p:cNvPr id="37" name="texto-75"/>
          <p:cNvSpPr txBox="1"/>
          <p:nvPr/>
        </p:nvSpPr>
        <p:spPr>
          <a:xfrm>
            <a:off x="7177735" y="5477256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B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2000" dirty="0"/>
          </a:p>
        </p:txBody>
      </p:sp>
      <p:sp>
        <p:nvSpPr>
          <p:cNvPr id="38" name="texto-76"/>
          <p:cNvSpPr txBox="1"/>
          <p:nvPr/>
        </p:nvSpPr>
        <p:spPr>
          <a:xfrm>
            <a:off x="9341815" y="5477256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A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39" name="filete-77"/>
          <p:cNvSpPr/>
          <p:nvPr/>
        </p:nvSpPr>
        <p:spPr>
          <a:xfrm>
            <a:off x="685800" y="5925312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CAPÍTULO 04 · PROPUESTA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Cómo funciona</a:t>
            </a:r>
            <a:endParaRPr lang="en-US" sz="3200" dirty="0"/>
          </a:p>
        </p:txBody>
      </p:sp>
      <p:sp>
        <p:nvSpPr>
          <p:cNvPr id="4" name="filete-paso-78"/>
          <p:cNvSpPr/>
          <p:nvPr/>
        </p:nvSpPr>
        <p:spPr>
          <a:xfrm>
            <a:off x="685800" y="2103120"/>
            <a:ext cx="2430704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o-79"/>
          <p:cNvSpPr txBox="1"/>
          <p:nvPr/>
        </p:nvSpPr>
        <p:spPr>
          <a:xfrm>
            <a:off x="685800" y="23774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o-80"/>
          <p:cNvSpPr txBox="1"/>
          <p:nvPr/>
        </p:nvSpPr>
        <p:spPr>
          <a:xfrm>
            <a:off x="685800" y="3017520"/>
            <a:ext cx="243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Elige tu ruta</a:t>
            </a:r>
            <a:endParaRPr lang="en-US" sz="2000" dirty="0"/>
          </a:p>
        </p:txBody>
      </p:sp>
      <p:sp>
        <p:nvSpPr>
          <p:cNvPr id="7" name="texto-81"/>
          <p:cNvSpPr txBox="1"/>
          <p:nvPr/>
        </p:nvSpPr>
        <p:spPr>
          <a:xfrm>
            <a:off x="685800" y="3520440"/>
            <a:ext cx="2247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Lorem ipsum dolor sit amet, consectetur adipiscing elit.</a:t>
            </a:r>
            <a:endParaRPr lang="en-US" sz="1400" dirty="0"/>
          </a:p>
        </p:txBody>
      </p:sp>
      <p:sp>
        <p:nvSpPr>
          <p:cNvPr id="8" name="filete-paso-82"/>
          <p:cNvSpPr/>
          <p:nvPr/>
        </p:nvSpPr>
        <p:spPr>
          <a:xfrm>
            <a:off x="3482264" y="2103120"/>
            <a:ext cx="2430704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o-83"/>
          <p:cNvSpPr txBox="1"/>
          <p:nvPr/>
        </p:nvSpPr>
        <p:spPr>
          <a:xfrm>
            <a:off x="3482264" y="23774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o-84"/>
          <p:cNvSpPr txBox="1"/>
          <p:nvPr/>
        </p:nvSpPr>
        <p:spPr>
          <a:xfrm>
            <a:off x="3482264" y="3017520"/>
            <a:ext cx="243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Reserva</a:t>
            </a:r>
            <a:endParaRPr lang="en-US" sz="2000" dirty="0"/>
          </a:p>
        </p:txBody>
      </p:sp>
      <p:sp>
        <p:nvSpPr>
          <p:cNvPr id="11" name="texto-85"/>
          <p:cNvSpPr txBox="1"/>
          <p:nvPr/>
        </p:nvSpPr>
        <p:spPr>
          <a:xfrm>
            <a:off x="3482264" y="3520440"/>
            <a:ext cx="2247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Integer posuere erat a ante venenatis dapibus.</a:t>
            </a:r>
            <a:endParaRPr lang="en-US" sz="1400" dirty="0"/>
          </a:p>
        </p:txBody>
      </p:sp>
      <p:sp>
        <p:nvSpPr>
          <p:cNvPr id="12" name="filete-paso-86"/>
          <p:cNvSpPr/>
          <p:nvPr/>
        </p:nvSpPr>
        <p:spPr>
          <a:xfrm>
            <a:off x="6278728" y="2103120"/>
            <a:ext cx="2430704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o-87"/>
          <p:cNvSpPr txBox="1"/>
          <p:nvPr/>
        </p:nvSpPr>
        <p:spPr>
          <a:xfrm>
            <a:off x="6278728" y="23774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o-88"/>
          <p:cNvSpPr txBox="1"/>
          <p:nvPr/>
        </p:nvSpPr>
        <p:spPr>
          <a:xfrm>
            <a:off x="6278728" y="3017520"/>
            <a:ext cx="243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Prepárate</a:t>
            </a:r>
            <a:endParaRPr lang="en-US" sz="2000" dirty="0"/>
          </a:p>
        </p:txBody>
      </p:sp>
      <p:sp>
        <p:nvSpPr>
          <p:cNvPr id="15" name="texto-89"/>
          <p:cNvSpPr txBox="1"/>
          <p:nvPr/>
        </p:nvSpPr>
        <p:spPr>
          <a:xfrm>
            <a:off x="6278728" y="3520440"/>
            <a:ext cx="2247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Cras mattis consectetur purus sit amet fermentum.</a:t>
            </a:r>
            <a:endParaRPr lang="en-US" sz="1400" dirty="0"/>
          </a:p>
        </p:txBody>
      </p:sp>
      <p:sp>
        <p:nvSpPr>
          <p:cNvPr id="16" name="filete-paso-90"/>
          <p:cNvSpPr/>
          <p:nvPr/>
        </p:nvSpPr>
        <p:spPr>
          <a:xfrm>
            <a:off x="9075191" y="2103120"/>
            <a:ext cx="2430704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o-91"/>
          <p:cNvSpPr txBox="1"/>
          <p:nvPr/>
        </p:nvSpPr>
        <p:spPr>
          <a:xfrm>
            <a:off x="9075191" y="2377440"/>
            <a:ext cx="243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o-92"/>
          <p:cNvSpPr txBox="1"/>
          <p:nvPr/>
        </p:nvSpPr>
        <p:spPr>
          <a:xfrm>
            <a:off x="9075191" y="3017520"/>
            <a:ext cx="243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Camina</a:t>
            </a:r>
            <a:endParaRPr lang="en-US" sz="2000" dirty="0"/>
          </a:p>
        </p:txBody>
      </p:sp>
      <p:sp>
        <p:nvSpPr>
          <p:cNvPr id="19" name="texto-93"/>
          <p:cNvSpPr txBox="1"/>
          <p:nvPr/>
        </p:nvSpPr>
        <p:spPr>
          <a:xfrm>
            <a:off x="9075191" y="3520440"/>
            <a:ext cx="2247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Donec ullamcorper nulla non metus auctor fringilla.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CAPÍTULO 05 ·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Plan de trabajo</a:t>
            </a:r>
            <a:endParaRPr lang="en-US" sz="3200" dirty="0"/>
          </a:p>
        </p:txBody>
      </p:sp>
      <p:sp>
        <p:nvSpPr>
          <p:cNvPr id="4" name="texto-94"/>
          <p:cNvSpPr txBox="1"/>
          <p:nvPr/>
        </p:nvSpPr>
        <p:spPr>
          <a:xfrm>
            <a:off x="3794760" y="1828800"/>
            <a:ext cx="1285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ENE</a:t>
            </a:r>
            <a:endParaRPr lang="en-US" sz="1100" dirty="0"/>
          </a:p>
        </p:txBody>
      </p:sp>
      <p:sp>
        <p:nvSpPr>
          <p:cNvPr id="5" name="texto-95"/>
          <p:cNvSpPr txBox="1"/>
          <p:nvPr/>
        </p:nvSpPr>
        <p:spPr>
          <a:xfrm>
            <a:off x="5079949" y="1828800"/>
            <a:ext cx="1285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FEB</a:t>
            </a:r>
            <a:endParaRPr lang="en-US" sz="1100" dirty="0"/>
          </a:p>
        </p:txBody>
      </p:sp>
      <p:sp>
        <p:nvSpPr>
          <p:cNvPr id="6" name="texto-96"/>
          <p:cNvSpPr txBox="1"/>
          <p:nvPr/>
        </p:nvSpPr>
        <p:spPr>
          <a:xfrm>
            <a:off x="6365138" y="1828800"/>
            <a:ext cx="1285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MAR</a:t>
            </a:r>
            <a:endParaRPr lang="en-US" sz="1100" dirty="0"/>
          </a:p>
        </p:txBody>
      </p:sp>
      <p:sp>
        <p:nvSpPr>
          <p:cNvPr id="7" name="texto-97"/>
          <p:cNvSpPr txBox="1"/>
          <p:nvPr/>
        </p:nvSpPr>
        <p:spPr>
          <a:xfrm>
            <a:off x="7650328" y="1828800"/>
            <a:ext cx="1285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ABR</a:t>
            </a:r>
            <a:endParaRPr lang="en-US" sz="1100" dirty="0"/>
          </a:p>
        </p:txBody>
      </p:sp>
      <p:sp>
        <p:nvSpPr>
          <p:cNvPr id="8" name="texto-98"/>
          <p:cNvSpPr txBox="1"/>
          <p:nvPr/>
        </p:nvSpPr>
        <p:spPr>
          <a:xfrm>
            <a:off x="8935517" y="1828800"/>
            <a:ext cx="1285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MAY</a:t>
            </a:r>
            <a:endParaRPr lang="en-US" sz="1100" dirty="0"/>
          </a:p>
        </p:txBody>
      </p:sp>
      <p:sp>
        <p:nvSpPr>
          <p:cNvPr id="9" name="texto-99"/>
          <p:cNvSpPr txBox="1"/>
          <p:nvPr/>
        </p:nvSpPr>
        <p:spPr>
          <a:xfrm>
            <a:off x="10220706" y="1828800"/>
            <a:ext cx="1285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JUN</a:t>
            </a:r>
            <a:endParaRPr lang="en-US" sz="1100" dirty="0"/>
          </a:p>
        </p:txBody>
      </p:sp>
      <p:sp>
        <p:nvSpPr>
          <p:cNvPr id="10" name="filete-100"/>
          <p:cNvSpPr/>
          <p:nvPr/>
        </p:nvSpPr>
        <p:spPr>
          <a:xfrm>
            <a:off x="685800" y="2176272"/>
            <a:ext cx="1082009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1" name="texto-101"/>
          <p:cNvSpPr txBox="1"/>
          <p:nvPr/>
        </p:nvSpPr>
        <p:spPr>
          <a:xfrm>
            <a:off x="6858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TAREA</a:t>
            </a:r>
            <a:endParaRPr lang="en-US" sz="1100" dirty="0"/>
          </a:p>
        </p:txBody>
      </p:sp>
      <p:sp>
        <p:nvSpPr>
          <p:cNvPr id="12" name="texto-102"/>
          <p:cNvSpPr txBox="1"/>
          <p:nvPr/>
        </p:nvSpPr>
        <p:spPr>
          <a:xfrm>
            <a:off x="685800" y="24048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Definición de la campaña</a:t>
            </a:r>
            <a:endParaRPr lang="en-US" sz="1400" dirty="0"/>
          </a:p>
        </p:txBody>
      </p:sp>
      <p:sp>
        <p:nvSpPr>
          <p:cNvPr id="13" name="barra-103"/>
          <p:cNvSpPr/>
          <p:nvPr/>
        </p:nvSpPr>
        <p:spPr>
          <a:xfrm>
            <a:off x="3831336" y="2414016"/>
            <a:ext cx="2497226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filete-104"/>
          <p:cNvSpPr/>
          <p:nvPr/>
        </p:nvSpPr>
        <p:spPr>
          <a:xfrm>
            <a:off x="685800" y="2816352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5" name="texto-105"/>
          <p:cNvSpPr txBox="1"/>
          <p:nvPr/>
        </p:nvSpPr>
        <p:spPr>
          <a:xfrm>
            <a:off x="685800" y="29535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Producción de contenidos</a:t>
            </a:r>
            <a:endParaRPr lang="en-US" sz="1400" dirty="0"/>
          </a:p>
        </p:txBody>
      </p:sp>
      <p:sp>
        <p:nvSpPr>
          <p:cNvPr id="16" name="barra-106"/>
          <p:cNvSpPr/>
          <p:nvPr/>
        </p:nvSpPr>
        <p:spPr>
          <a:xfrm>
            <a:off x="5116525" y="2962656"/>
            <a:ext cx="3782416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filete-107"/>
          <p:cNvSpPr/>
          <p:nvPr/>
        </p:nvSpPr>
        <p:spPr>
          <a:xfrm>
            <a:off x="685800" y="3364992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8" name="texto-108"/>
          <p:cNvSpPr txBox="1"/>
          <p:nvPr/>
        </p:nvSpPr>
        <p:spPr>
          <a:xfrm>
            <a:off x="685800" y="35021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Lanzamiento</a:t>
            </a:r>
            <a:endParaRPr lang="en-US" sz="1400" dirty="0"/>
          </a:p>
        </p:txBody>
      </p:sp>
      <p:sp>
        <p:nvSpPr>
          <p:cNvPr id="19" name="barra-109"/>
          <p:cNvSpPr/>
          <p:nvPr/>
        </p:nvSpPr>
        <p:spPr>
          <a:xfrm>
            <a:off x="7686904" y="3511296"/>
            <a:ext cx="1212037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filete-110"/>
          <p:cNvSpPr/>
          <p:nvPr/>
        </p:nvSpPr>
        <p:spPr>
          <a:xfrm>
            <a:off x="685800" y="3913632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1" name="texto-111"/>
          <p:cNvSpPr txBox="1"/>
          <p:nvPr/>
        </p:nvSpPr>
        <p:spPr>
          <a:xfrm>
            <a:off x="685800" y="4050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Campaña en redes</a:t>
            </a:r>
            <a:endParaRPr lang="en-US" sz="1400" dirty="0"/>
          </a:p>
        </p:txBody>
      </p:sp>
      <p:sp>
        <p:nvSpPr>
          <p:cNvPr id="22" name="barra-112"/>
          <p:cNvSpPr/>
          <p:nvPr/>
        </p:nvSpPr>
        <p:spPr>
          <a:xfrm>
            <a:off x="7686904" y="4059936"/>
            <a:ext cx="3782416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filete-113"/>
          <p:cNvSpPr/>
          <p:nvPr/>
        </p:nvSpPr>
        <p:spPr>
          <a:xfrm>
            <a:off x="685800" y="4462272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4" name="texto-114"/>
          <p:cNvSpPr txBox="1"/>
          <p:nvPr/>
        </p:nvSpPr>
        <p:spPr>
          <a:xfrm>
            <a:off x="685800" y="45994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Medición y ajustes</a:t>
            </a:r>
            <a:endParaRPr lang="en-US" sz="1400" dirty="0"/>
          </a:p>
        </p:txBody>
      </p:sp>
      <p:sp>
        <p:nvSpPr>
          <p:cNvPr id="25" name="barra-115"/>
          <p:cNvSpPr/>
          <p:nvPr/>
        </p:nvSpPr>
        <p:spPr>
          <a:xfrm>
            <a:off x="8972093" y="4608576"/>
            <a:ext cx="2497226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filete-116"/>
          <p:cNvSpPr/>
          <p:nvPr/>
        </p:nvSpPr>
        <p:spPr>
          <a:xfrm>
            <a:off x="685800" y="5010912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7" name="texto-117"/>
          <p:cNvSpPr txBox="1"/>
          <p:nvPr/>
        </p:nvSpPr>
        <p:spPr>
          <a:xfrm>
            <a:off x="685800" y="5148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Informe final</a:t>
            </a:r>
            <a:endParaRPr lang="en-US" sz="1400" dirty="0"/>
          </a:p>
        </p:txBody>
      </p:sp>
      <p:sp>
        <p:nvSpPr>
          <p:cNvPr id="28" name="barra-118"/>
          <p:cNvSpPr/>
          <p:nvPr/>
        </p:nvSpPr>
        <p:spPr>
          <a:xfrm>
            <a:off x="10257282" y="5157216"/>
            <a:ext cx="1212037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filete-119"/>
          <p:cNvSpPr/>
          <p:nvPr/>
        </p:nvSpPr>
        <p:spPr>
          <a:xfrm>
            <a:off x="685800" y="5559552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30" name="leyenda-120"/>
          <p:cNvSpPr/>
          <p:nvPr/>
        </p:nvSpPr>
        <p:spPr>
          <a:xfrm>
            <a:off x="685800" y="574243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1" name="texto-121"/>
          <p:cNvSpPr txBox="1"/>
          <p:nvPr/>
        </p:nvSpPr>
        <p:spPr>
          <a:xfrm>
            <a:off x="914400" y="5687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Tarea</a:t>
            </a:r>
            <a:endParaRPr lang="en-US" sz="1100" dirty="0"/>
          </a:p>
        </p:txBody>
      </p:sp>
      <p:sp>
        <p:nvSpPr>
          <p:cNvPr id="32" name="leyenda-122"/>
          <p:cNvSpPr/>
          <p:nvPr/>
        </p:nvSpPr>
        <p:spPr>
          <a:xfrm>
            <a:off x="1783080" y="5742432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3" name="texto-123"/>
          <p:cNvSpPr txBox="1"/>
          <p:nvPr/>
        </p:nvSpPr>
        <p:spPr>
          <a:xfrm>
            <a:off x="2011680" y="5687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Hito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182880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«Una opinión de un cliente o una frase que resuma el espíritu de la propuesta. Lorem ipsum dolor sit amet.»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85800" y="4754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Nombre Apellido · Camino Francés 2026</a:t>
            </a:r>
            <a:endParaRPr lang="en-US" sz="1400" dirty="0"/>
          </a:p>
        </p:txBody>
      </p:sp>
      <p:pic>
        <p:nvPicPr>
          <p:cNvPr id="4" name="Image 0" descr="/tmp/claude-0/-home-user-pruebas-brandbook-/fbbf11e7-4add-5196-9360-974883348c29/scratchpad/ppt/f-cita.jpg">    </p:cNvPr>
          <p:cNvPicPr>
            <a:picLocks noChangeAspect="1"/>
          </p:cNvPicPr>
          <p:nvPr>
            <p:ph idx="103" hasCustomPrompt="1"/>
          </p:nvPr>
        </p:nvPicPr>
        <p:blipFill>
          <a:blip r:embed="rId1"/>
          <a:stretch>
            <a:fillRect/>
          </a:stretch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CAPÍTULO 06 · PRÓXIMOS PASOS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4124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Qué decidimos hoy</a:t>
            </a:r>
            <a:endParaRPr lang="en-US" sz="3200" dirty="0"/>
          </a:p>
        </p:txBody>
      </p:sp>
      <p:sp>
        <p:nvSpPr>
          <p:cNvPr id="4" name="filete-124"/>
          <p:cNvSpPr/>
          <p:nvPr/>
        </p:nvSpPr>
        <p:spPr>
          <a:xfrm>
            <a:off x="685800" y="1828800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5" name="texto-125"/>
          <p:cNvSpPr txBox="1"/>
          <p:nvPr/>
        </p:nvSpPr>
        <p:spPr>
          <a:xfrm>
            <a:off x="685800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o-126"/>
          <p:cNvSpPr txBox="1"/>
          <p:nvPr/>
        </p:nvSpPr>
        <p:spPr>
          <a:xfrm>
            <a:off x="1783080" y="2057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Primera decisión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Responsable · fecha</a:t>
            </a:r>
            <a:endParaRPr lang="en-US" sz="2000" dirty="0"/>
          </a:p>
        </p:txBody>
      </p:sp>
      <p:sp>
        <p:nvSpPr>
          <p:cNvPr id="7" name="filete-127"/>
          <p:cNvSpPr/>
          <p:nvPr/>
        </p:nvSpPr>
        <p:spPr>
          <a:xfrm>
            <a:off x="685800" y="3017520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8" name="texto-128"/>
          <p:cNvSpPr txBox="1"/>
          <p:nvPr/>
        </p:nvSpPr>
        <p:spPr>
          <a:xfrm>
            <a:off x="685800" y="3246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o-129"/>
          <p:cNvSpPr txBox="1"/>
          <p:nvPr/>
        </p:nvSpPr>
        <p:spPr>
          <a:xfrm>
            <a:off x="1783080" y="3246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Segunda decisión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Responsable · fecha</a:t>
            </a:r>
            <a:endParaRPr lang="en-US" sz="2000" dirty="0"/>
          </a:p>
        </p:txBody>
      </p:sp>
      <p:sp>
        <p:nvSpPr>
          <p:cNvPr id="10" name="filete-130"/>
          <p:cNvSpPr/>
          <p:nvPr/>
        </p:nvSpPr>
        <p:spPr>
          <a:xfrm>
            <a:off x="685800" y="4206240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1" name="texto-131"/>
          <p:cNvSpPr txBox="1"/>
          <p:nvPr/>
        </p:nvSpPr>
        <p:spPr>
          <a:xfrm>
            <a:off x="685800" y="4434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o-132"/>
          <p:cNvSpPr txBox="1"/>
          <p:nvPr/>
        </p:nvSpPr>
        <p:spPr>
          <a:xfrm>
            <a:off x="1783080" y="4434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Tercera decisión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Responsable · fecha</a:t>
            </a:r>
            <a:endParaRPr lang="en-US" sz="2000" dirty="0"/>
          </a:p>
        </p:txBody>
      </p:sp>
      <p:sp>
        <p:nvSpPr>
          <p:cNvPr id="13" name="filete-133"/>
          <p:cNvSpPr/>
          <p:nvPr/>
        </p:nvSpPr>
        <p:spPr>
          <a:xfrm>
            <a:off x="685800" y="5394960"/>
            <a:ext cx="1082009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2179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E2E2D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30175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Frase de cierre de la presentación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85800" y="4434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Gracias. Texto breve opcional con el siguiente paso.</a:t>
            </a:r>
            <a:endParaRPr lang="en-US" sz="1800" dirty="0"/>
          </a:p>
        </p:txBody>
      </p:sp>
      <p:sp>
        <p:nvSpPr>
          <p:cNvPr id="4" name="filete-134"/>
          <p:cNvSpPr/>
          <p:nvPr/>
        </p:nvSpPr>
        <p:spPr>
          <a:xfrm>
            <a:off x="685800" y="5669280"/>
            <a:ext cx="1082009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o-135"/>
          <p:cNvSpPr txBox="1"/>
          <p:nvPr/>
        </p:nvSpPr>
        <p:spPr>
          <a:xfrm>
            <a:off x="685800" y="5779008"/>
            <a:ext cx="252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50" kern="0" dirty="0">
                <a:solidFill>
                  <a:schemeClr val="accent3"/>
                </a:solidFill>
              </a:rPr>
              <a:t>WEB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santiagoways.com</a:t>
            </a:r>
            <a:endParaRPr lang="en-US" sz="1000" dirty="0"/>
          </a:p>
        </p:txBody>
      </p:sp>
      <p:sp>
        <p:nvSpPr>
          <p:cNvPr id="6" name="texto-136"/>
          <p:cNvSpPr txBox="1"/>
          <p:nvPr/>
        </p:nvSpPr>
        <p:spPr>
          <a:xfrm>
            <a:off x="3390824" y="5779008"/>
            <a:ext cx="252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50" kern="0" dirty="0">
                <a:solidFill>
                  <a:schemeClr val="accent3"/>
                </a:solidFill>
              </a:rPr>
              <a:t>CORREO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correo@santiagoways.com</a:t>
            </a:r>
            <a:endParaRPr lang="en-US" sz="1000" dirty="0"/>
          </a:p>
        </p:txBody>
      </p:sp>
      <p:sp>
        <p:nvSpPr>
          <p:cNvPr id="7" name="texto-137"/>
          <p:cNvSpPr txBox="1"/>
          <p:nvPr/>
        </p:nvSpPr>
        <p:spPr>
          <a:xfrm>
            <a:off x="6095848" y="5779008"/>
            <a:ext cx="252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50" kern="0" dirty="0">
                <a:solidFill>
                  <a:schemeClr val="accent3"/>
                </a:solidFill>
              </a:rPr>
              <a:t>TELÉFONO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+34 000 000 000</a:t>
            </a:r>
            <a:endParaRPr lang="en-US" sz="1000" dirty="0"/>
          </a:p>
        </p:txBody>
      </p:sp>
      <p:sp>
        <p:nvSpPr>
          <p:cNvPr id="8" name="texto-138"/>
          <p:cNvSpPr txBox="1"/>
          <p:nvPr/>
        </p:nvSpPr>
        <p:spPr>
          <a:xfrm>
            <a:off x="8800871" y="5779008"/>
            <a:ext cx="252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50" kern="0" dirty="0">
                <a:solidFill>
                  <a:schemeClr val="accent3"/>
                </a:solidFill>
              </a:rPr>
              <a:t>CONTACTO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Nombre Apellido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tiago Ways">
  <a:themeElements>
    <a:clrScheme name="Santiago Ways">
      <a:dk1>
        <a:srgbClr val="2E2E2D"/>
      </a:dk1>
      <a:lt1>
        <a:srgbClr val="FFFFFF"/>
      </a:lt1>
      <a:dk2>
        <a:srgbClr val="506718"/>
      </a:dk2>
      <a:lt2>
        <a:srgbClr val="E8E8E6"/>
      </a:lt2>
      <a:accent1>
        <a:srgbClr val="7AA606"/>
      </a:accent1>
      <a:accent2>
        <a:srgbClr val="506718"/>
      </a:accent2>
      <a:accent3>
        <a:srgbClr val="6F6F6E"/>
      </a:accent3>
      <a:accent4>
        <a:srgbClr val="A9C95A"/>
      </a:accent4>
      <a:accent5>
        <a:srgbClr val="FAFFEE"/>
      </a:accent5>
      <a:accent6>
        <a:srgbClr val="2E2E2D"/>
      </a:accent6>
      <a:hlink>
        <a:srgbClr val="506718"/>
      </a:hlink>
      <a:folHlink>
        <a:srgbClr val="6F6F6E"/>
      </a:folHlink>
    </a:clrScheme>
    <a:fontScheme name="Santiago Ways">
      <a:majorFont>
        <a:latin typeface="Montserrat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Santiago Ways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Santiago Ways</dc:title>
  <dc:subject>PptxGenJS Presentation</dc:subject>
  <dc:creator>Santiago Ways</dc:creator>
  <cp:lastModifiedBy>Santiago Ways</cp:lastModifiedBy>
  <cp:revision>1</cp:revision>
  <dcterms:created xsi:type="dcterms:W3CDTF">2026-10-20T07:59:00Z</dcterms:created>
  <dcterms:modified xsi:type="dcterms:W3CDTF">2026-10-20T07:59:00Z</dcterms:modified>
</cp:coreProperties>
</file>