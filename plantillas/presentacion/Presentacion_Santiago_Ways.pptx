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s" id="{50ed84b0-7239-2160-f8c4-34c122d449c0}">
          <p14:sldIdLst>
            <p14:sldId id="256"/>
            <p14:sldId id="257"/>
            <p14:sldId id="258"/>
          </p14:sldIdLst>
        </p14:section>
        <p14:section name="Estructura" id="{0195089d-d30e-e9e8-4ccc-89b4c968476d}">
          <p14:sldIdLst>
            <p14:sldId id="259"/>
            <p14:sldId id="260"/>
            <p14:sldId id="261"/>
          </p14:sldIdLst>
        </p14:section>
        <p14:section name="Bloques de contenido" id="{54024128-5a7c-539d-0612-3f61ffa7002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Datos" id="{06feaad5-7214-1562-7b70-2e093ccba587}">
          <p14:sldIdLst>
            <p14:sldId id="281"/>
            <p14:sldId id="282"/>
            <p14:sldId id="283"/>
            <p14:sldId id="284"/>
          </p14:sldIdLst>
        </p14:section>
        <p14:section name="Recursos de marca" id="{4de6b0c0-6be1-a622-4ff9-0cde2c5e785b}">
          <p14:sldIdLst>
            <p14:sldId id="285"/>
            <p14:sldId id="286"/>
            <p14:sldId id="287"/>
          </p14:sldIdLst>
        </p14:section>
        <p14:section name="Contraportadas" id="{204db12c-c9f3-bfd6-f8fe-328920096f66}">
          <p14:sldIdLst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Reservas</c:v>
                </c:pt>
              </c:strCache>
            </c:strRef>
          </c:tx>
          <c:spPr>
            <a:solidFill>
              <a:srgbClr val="7AA6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E2E2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120</c:v>
                </c:pt>
                <c:pt idx="1">
                  <c:v>150</c:v>
                </c:pt>
                <c:pt idx="2">
                  <c:v>210</c:v>
                </c:pt>
                <c:pt idx="3">
                  <c:v>340</c:v>
                </c:pt>
                <c:pt idx="4">
                  <c:v>520</c:v>
                </c:pt>
                <c:pt idx="5">
                  <c:v>480</c:v>
                </c:pt>
                <c:pt idx="6">
                  <c:v>390</c:v>
                </c:pt>
                <c:pt idx="7">
                  <c:v>360</c:v>
                </c:pt>
                <c:pt idx="8">
                  <c:v>450</c:v>
                </c:pt>
                <c:pt idx="9">
                  <c:v>280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E2E2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8E8E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F6F6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ido-verde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Fondo-verde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uebas-brandbook-/fbbf11e7-4add-5196-9360-974883348c29/scratchpad/ppt2/img/iso-ver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11480"/>
            <a:ext cx="365760" cy="30684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15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ANTETÍTULO · SECCIÓN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Título de la diapositiva</a:t>
            </a: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Una frase que explica la diapositiva</a:t>
            </a:r>
            <a:endParaRPr lang="en-US" sz="13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Nota al pie o fuente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 ver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uebas-brandbook-/fbbf11e7-4add-5196-9360-974883348c29/scratchpad/ppt2/img/iso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11480"/>
            <a:ext cx="365760" cy="30684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15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ANTETÍTULO · SECCIÓN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Título de la diapositiva</a:t>
            </a: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Una frase que explica la diapositiva</a:t>
            </a:r>
            <a:endParaRPr lang="en-US" sz="13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Nota al pie o fuente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 sendero">
    <p:bg>
      <p:bgPr>
        <a:solidFill>
          <a:srgbClr val="5067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uebas-brandbook-/fbbf11e7-4add-5196-9360-974883348c29/scratchpad/ppt2/img/iso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11480"/>
            <a:ext cx="365760" cy="30684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15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ANTETÍTULO · SECCIÓN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Título de la diapositiva</a:t>
            </a: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Una frase que explica la diapositiva</a:t>
            </a:r>
            <a:endParaRPr lang="en-US" sz="13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Nota al pie o fuente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a sangre">
    <p:bg>
      <p:bgPr>
        <a:solidFill>
          <a:srgbClr val="2E2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dirty="0">
                <a:solidFill>
                  <a:schemeClr val="bg1"/>
                </a:solidFill>
              </a:rPr>
              <a:t>Foto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ndo verd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image" Target="../media/image-14-5.png"/><Relationship Id="rId6" Type="http://schemas.openxmlformats.org/officeDocument/2006/relationships/image" Target="../media/image-14-5.png"/><Relationship Id="rId7" Type="http://schemas.openxmlformats.org/officeDocument/2006/relationships/image" Target="../media/image-14-5.png"/><Relationship Id="rId8" Type="http://schemas.openxmlformats.org/officeDocument/2006/relationships/image" Target="../media/image-14-8.png"/><Relationship Id="rId9" Type="http://schemas.openxmlformats.org/officeDocument/2006/relationships/image" Target="../media/image-14-8.png"/><Relationship Id="rId10" Type="http://schemas.openxmlformats.org/officeDocument/2006/relationships/image" Target="../media/image-14-8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2.png"/><Relationship Id="rId5" Type="http://schemas.openxmlformats.org/officeDocument/2006/relationships/image" Target="../media/image-17-5.png"/><Relationship Id="rId6" Type="http://schemas.openxmlformats.org/officeDocument/2006/relationships/image" Target="../media/image-17-2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1.png"/><Relationship Id="rId3" Type="http://schemas.openxmlformats.org/officeDocument/2006/relationships/image" Target="../media/image-19-1.png"/><Relationship Id="rId4" Type="http://schemas.openxmlformats.org/officeDocument/2006/relationships/image" Target="../media/image-19-4.png"/><Relationship Id="rId5" Type="http://schemas.openxmlformats.org/officeDocument/2006/relationships/image" Target="../media/image-19-4.png"/><Relationship Id="rId6" Type="http://schemas.openxmlformats.org/officeDocument/2006/relationships/image" Target="../media/image-19-4.png"/><Relationship Id="rId7" Type="http://schemas.openxmlformats.org/officeDocument/2006/relationships/image" Target="../media/image-19-4.png"/><Relationship Id="rId8" Type="http://schemas.openxmlformats.org/officeDocument/2006/relationships/image" Target="../media/image-19-1.png"/><Relationship Id="rId9" Type="http://schemas.openxmlformats.org/officeDocument/2006/relationships/image" Target="../media/image-19-1.png"/><Relationship Id="rId10" Type="http://schemas.openxmlformats.org/officeDocument/2006/relationships/image" Target="../media/image-19-1.png"/><Relationship Id="rId11" Type="http://schemas.openxmlformats.org/officeDocument/2006/relationships/image" Target="../media/image-19-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1.png"/><Relationship Id="rId3" Type="http://schemas.openxmlformats.org/officeDocument/2006/relationships/image" Target="../media/image-30-1.png"/><Relationship Id="rId4" Type="http://schemas.openxmlformats.org/officeDocument/2006/relationships/image" Target="../media/image-30-1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image" Target="../media/image-32-10.png"/><Relationship Id="rId11" Type="http://schemas.openxmlformats.org/officeDocument/2006/relationships/image" Target="../media/image-32-11.png"/><Relationship Id="rId12" Type="http://schemas.openxmlformats.org/officeDocument/2006/relationships/image" Target="../media/image-32-12.png"/><Relationship Id="rId13" Type="http://schemas.openxmlformats.org/officeDocument/2006/relationships/image" Target="../media/image-32-13.png"/><Relationship Id="rId14" Type="http://schemas.openxmlformats.org/officeDocument/2006/relationships/image" Target="../media/image-32-14.png"/><Relationship Id="rId15" Type="http://schemas.openxmlformats.org/officeDocument/2006/relationships/image" Target="../media/image-32-15.png"/><Relationship Id="rId16" Type="http://schemas.openxmlformats.org/officeDocument/2006/relationships/image" Target="../media/image-32-16.png"/><Relationship Id="rId17" Type="http://schemas.openxmlformats.org/officeDocument/2006/relationships/image" Target="../media/image-32-17.png"/><Relationship Id="rId18" Type="http://schemas.openxmlformats.org/officeDocument/2006/relationships/image" Target="../media/image-32-18.png"/><Relationship Id="rId19" Type="http://schemas.openxmlformats.org/officeDocument/2006/relationships/image" Target="../media/image-32-19.png"/><Relationship Id="rId20" Type="http://schemas.openxmlformats.org/officeDocument/2006/relationships/image" Target="../media/image-32-20.png"/><Relationship Id="rId21" Type="http://schemas.openxmlformats.org/officeDocument/2006/relationships/image" Target="../media/image-32-21.png"/><Relationship Id="rId22" Type="http://schemas.openxmlformats.org/officeDocument/2006/relationships/image" Target="../media/image-32-22.png"/><Relationship Id="rId23" Type="http://schemas.openxmlformats.org/officeDocument/2006/relationships/image" Target="../media/image-32-23.png"/><Relationship Id="rId24" Type="http://schemas.openxmlformats.org/officeDocument/2006/relationships/image" Target="../media/image-32-24.png"/><Relationship Id="rId25" Type="http://schemas.openxmlformats.org/officeDocument/2006/relationships/image" Target="../media/image-32-25.png"/><Relationship Id="rId26" Type="http://schemas.openxmlformats.org/officeDocument/2006/relationships/image" Target="../media/image-32-26.png"/><Relationship Id="rId27" Type="http://schemas.openxmlformats.org/officeDocument/2006/relationships/image" Target="../media/image-32-27.png"/><Relationship Id="rId28" Type="http://schemas.openxmlformats.org/officeDocument/2006/relationships/image" Target="../media/image-32-28.png"/><Relationship Id="rId29" Type="http://schemas.openxmlformats.org/officeDocument/2006/relationships/image" Target="../media/image-32-29.png"/><Relationship Id="rId30" Type="http://schemas.openxmlformats.org/officeDocument/2006/relationships/image" Target="../media/image-32-30.png"/><Relationship Id="rId31" Type="http://schemas.openxmlformats.org/officeDocument/2006/relationships/image" Target="../media/image-32-31.png"/><Relationship Id="rId32" Type="http://schemas.openxmlformats.org/officeDocument/2006/relationships/image" Target="../media/image-32-32.png"/><Relationship Id="rId33" Type="http://schemas.openxmlformats.org/officeDocument/2006/relationships/image" Target="../media/image-32-33.png"/><Relationship Id="rId34" Type="http://schemas.openxmlformats.org/officeDocument/2006/relationships/image" Target="../media/image-32-34.png"/><Relationship Id="rId35" Type="http://schemas.openxmlformats.org/officeDocument/2006/relationships/image" Target="../media/image-32-35.png"/><Relationship Id="rId36" Type="http://schemas.openxmlformats.org/officeDocument/2006/relationships/image" Target="../media/image-32-36.png"/><Relationship Id="rId37" Type="http://schemas.openxmlformats.org/officeDocument/2006/relationships/image" Target="../media/image-32-37.png"/><Relationship Id="rId38" Type="http://schemas.openxmlformats.org/officeDocument/2006/relationships/image" Target="../media/image-32-38.png"/><Relationship Id="rId39" Type="http://schemas.openxmlformats.org/officeDocument/2006/relationships/image" Target="../media/image-32-39.png"/><Relationship Id="rId40" Type="http://schemas.openxmlformats.org/officeDocument/2006/relationships/image" Target="../media/image-32-40.png"/><Relationship Id="rId41" Type="http://schemas.openxmlformats.org/officeDocument/2006/relationships/image" Target="../media/image-32-41.png"/><Relationship Id="rId42" Type="http://schemas.openxmlformats.org/officeDocument/2006/relationships/image" Target="../media/image-32-42.png"/><Relationship Id="rId43" Type="http://schemas.openxmlformats.org/officeDocument/2006/relationships/image" Target="../media/image-32-43.png"/><Relationship Id="rId44" Type="http://schemas.openxmlformats.org/officeDocument/2006/relationships/image" Target="../media/image-32-44.png"/><Relationship Id="rId45" Type="http://schemas.openxmlformats.org/officeDocument/2006/relationships/image" Target="../media/image-32-45.png"/><Relationship Id="rId46" Type="http://schemas.openxmlformats.org/officeDocument/2006/relationships/image" Target="../media/image-32-46.png"/><Relationship Id="rId47" Type="http://schemas.openxmlformats.org/officeDocument/2006/relationships/image" Target="../media/image-32-47.png"/><Relationship Id="rId48" Type="http://schemas.openxmlformats.org/officeDocument/2006/relationships/image" Target="../media/image-32-48.png"/><Relationship Id="rId49" Type="http://schemas.openxmlformats.org/officeDocument/2006/relationships/image" Target="../media/image-32-49.png"/><Relationship Id="rId50" Type="http://schemas.openxmlformats.org/officeDocument/2006/relationships/image" Target="../media/image-32-50.png"/><Relationship Id="rId51" Type="http://schemas.openxmlformats.org/officeDocument/2006/relationships/image" Target="../media/image-32-51.png"/><Relationship Id="rId52" Type="http://schemas.openxmlformats.org/officeDocument/2006/relationships/image" Target="../media/image-32-52.png"/><Relationship Id="rId53" Type="http://schemas.openxmlformats.org/officeDocument/2006/relationships/image" Target="../media/image-32-53.png"/><Relationship Id="rId54" Type="http://schemas.openxmlformats.org/officeDocument/2006/relationships/image" Target="../media/image-32-54.png"/><Relationship Id="rId55" Type="http://schemas.openxmlformats.org/officeDocument/2006/relationships/image" Target="../media/image-32-55.png"/><Relationship Id="rId56" Type="http://schemas.openxmlformats.org/officeDocument/2006/relationships/image" Target="../media/image-32-56.png"/><Relationship Id="rId57" Type="http://schemas.openxmlformats.org/officeDocument/2006/relationships/image" Target="../media/image-32-57.png"/><Relationship Id="rId58" Type="http://schemas.openxmlformats.org/officeDocument/2006/relationships/image" Target="../media/image-32-58.png"/><Relationship Id="rId59" Type="http://schemas.openxmlformats.org/officeDocument/2006/relationships/image" Target="../media/image-32-59.png"/><Relationship Id="rId60" Type="http://schemas.openxmlformats.org/officeDocument/2006/relationships/image" Target="../media/image-32-60.png"/><Relationship Id="rId61" Type="http://schemas.openxmlformats.org/officeDocument/2006/relationships/image" Target="../media/image-32-61.png"/><Relationship Id="rId62" Type="http://schemas.openxmlformats.org/officeDocument/2006/relationships/image" Target="../media/image-32-62.png"/><Relationship Id="rId63" Type="http://schemas.openxmlformats.org/officeDocument/2006/relationships/image" Target="../media/image-32-6.png"/><Relationship Id="rId64" Type="http://schemas.openxmlformats.org/officeDocument/2006/relationships/image" Target="../media/image-32-64.png"/><Relationship Id="rId65" Type="http://schemas.openxmlformats.org/officeDocument/2006/relationships/image" Target="../media/image-32-35.png"/><Relationship Id="rId66" Type="http://schemas.openxmlformats.org/officeDocument/2006/relationships/slideLayout" Target="../slideLayouts/slideLayout2.xml"/><Relationship Id="rId6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uebas-brandbook-/fbbf11e7-4add-5196-9360-974883348c29/scratchpad/ppt2/img/catedral.jpg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ombra 1" descr="/tmp/claude-0/-home-user-pruebas-brandbook-/fbbf11e7-4add-5196-9360-974883348c29/scratchpad/ppt2/img/sombra-fo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2" descr="/tmp/claude-0/-home-user-pruebas-brandbook-/fbbf11e7-4add-5196-9360-974883348c29/scratchpad/ppt2/img/logo-bl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2194560" cy="351536"/>
          </a:xfrm>
          <a:prstGeom prst="rect">
            <a:avLst/>
          </a:prstGeom>
        </p:spPr>
      </p:pic>
      <p:sp>
        <p:nvSpPr>
          <p:cNvPr id="5" name="Texto 3"/>
          <p:cNvSpPr txBox="1"/>
          <p:nvPr/>
        </p:nvSpPr>
        <p:spPr>
          <a:xfrm>
            <a:off x="640080" y="3703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PRESENTACIÓN · 2027</a:t>
            </a:r>
            <a:endParaRPr lang="en-US" sz="1200" dirty="0"/>
          </a:p>
        </p:txBody>
      </p:sp>
      <p:sp>
        <p:nvSpPr>
          <p:cNvPr id="6" name="Texto 4"/>
          <p:cNvSpPr txBox="1"/>
          <p:nvPr/>
        </p:nvSpPr>
        <p:spPr>
          <a:xfrm>
            <a:off x="640080" y="402336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Título de la</a:t>
            </a:r>
            <a:endParaRPr lang="en-US" sz="6000" dirty="0"/>
          </a:p>
        </p:txBody>
      </p:sp>
      <p:sp>
        <p:nvSpPr>
          <p:cNvPr id="7" name="Subrayado Ways 5"/>
          <p:cNvSpPr/>
          <p:nvPr/>
        </p:nvSpPr>
        <p:spPr>
          <a:xfrm rot="-90000">
            <a:off x="640080" y="4919472"/>
            <a:ext cx="5653278" cy="975360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presentación</a:t>
            </a:r>
            <a:endParaRPr lang="en-US" sz="6000" dirty="0"/>
          </a:p>
        </p:txBody>
      </p:sp>
      <p:sp>
        <p:nvSpPr>
          <p:cNvPr id="8" name="Texto 6"/>
          <p:cNvSpPr txBox="1"/>
          <p:nvPr/>
        </p:nvSpPr>
        <p:spPr>
          <a:xfrm>
            <a:off x="64008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Subtítulo o descripción breve · dd/mm/aaaa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uebas-brandbook-/fbbf11e7-4add-5196-9360-974883348c29/scratchpad/ppt2/img/catedral-azul.jpg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arjeta 7"/>
          <p:cNvSpPr/>
          <p:nvPr/>
        </p:nvSpPr>
        <p:spPr>
          <a:xfrm>
            <a:off x="502920" y="1463040"/>
            <a:ext cx="5394960" cy="393192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4" name="Logo 8" descr="/tmp/claude-0/-home-user-pruebas-brandbook-/fbbf11e7-4add-5196-9360-974883348c29/scratchpad/ppt2/img/logo-ver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874520"/>
            <a:ext cx="2377440" cy="380831"/>
          </a:xfrm>
          <a:prstGeom prst="rect">
            <a:avLst/>
          </a:prstGeom>
        </p:spPr>
      </p:pic>
      <p:sp>
        <p:nvSpPr>
          <p:cNvPr id="5" name="Texto 9"/>
          <p:cNvSpPr txBox="1"/>
          <p:nvPr/>
        </p:nvSpPr>
        <p:spPr>
          <a:xfrm>
            <a:off x="896112" y="25146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Título de la</a:t>
            </a:r>
            <a:endParaRPr lang="en-US" sz="4600" dirty="0"/>
          </a:p>
        </p:txBody>
      </p:sp>
      <p:sp>
        <p:nvSpPr>
          <p:cNvPr id="6" name="Subrayado Ways 10"/>
          <p:cNvSpPr/>
          <p:nvPr/>
        </p:nvSpPr>
        <p:spPr>
          <a:xfrm rot="-90000">
            <a:off x="896112" y="3246120"/>
            <a:ext cx="4334180" cy="747776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presentación</a:t>
            </a:r>
            <a:endParaRPr lang="en-US" sz="4600" dirty="0"/>
          </a:p>
        </p:txBody>
      </p:sp>
      <p:sp>
        <p:nvSpPr>
          <p:cNvPr id="7" name="Texto 11"/>
          <p:cNvSpPr txBox="1"/>
          <p:nvPr/>
        </p:nvSpPr>
        <p:spPr>
          <a:xfrm>
            <a:off x="896112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Subtítulo o descripción breve de la presentación en una o dos líneas.</a:t>
            </a:r>
            <a:endParaRPr lang="en-US" sz="1300" dirty="0"/>
          </a:p>
        </p:txBody>
      </p:sp>
      <p:sp>
        <p:nvSpPr>
          <p:cNvPr id="8" name="Texto 12"/>
          <p:cNvSpPr txBox="1"/>
          <p:nvPr/>
        </p:nvSpPr>
        <p:spPr>
          <a:xfrm>
            <a:off x="896112" y="4892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Nombre Apellido · dd/mm/aaaa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cha marca de agua 13" descr="/tmp/claude-0/-home-user-pruebas-brandbook-/fbbf11e7-4add-5196-9360-974883348c29/scratchpad/ppt2/img/concha-agua-blan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2971800"/>
            <a:ext cx="3657600" cy="3068456"/>
          </a:xfrm>
          <a:prstGeom prst="rect">
            <a:avLst/>
          </a:prstGeom>
        </p:spPr>
      </p:pic>
      <p:pic>
        <p:nvPicPr>
          <p:cNvPr id="3" name="Foto 14" descr="/tmp/claude-0/-home-user-pruebas-brandbook-/fbbf11e7-4add-5196-9360-974883348c29/scratchpad/ppt2/img/catedral-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0"/>
            <a:ext cx="4922215" cy="6858000"/>
          </a:xfrm>
          <a:prstGeom prst="rect">
            <a:avLst/>
          </a:prstGeom>
        </p:spPr>
      </p:pic>
      <p:pic>
        <p:nvPicPr>
          <p:cNvPr id="4" name="Logo 15" descr="/tmp/claude-0/-home-user-pruebas-brandbook-/fbbf11e7-4add-5196-9360-974883348c29/scratchpad/ppt2/img/logo-bl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2194560" cy="351536"/>
          </a:xfrm>
          <a:prstGeom prst="rect">
            <a:avLst/>
          </a:prstGeom>
        </p:spPr>
      </p:pic>
      <p:sp>
        <p:nvSpPr>
          <p:cNvPr id="5" name="Texto 16"/>
          <p:cNvSpPr txBox="1"/>
          <p:nvPr/>
        </p:nvSpPr>
        <p:spPr>
          <a:xfrm>
            <a:off x="64008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PROPUESTA · 2027</a:t>
            </a:r>
            <a:endParaRPr lang="en-US" sz="1200" dirty="0"/>
          </a:p>
        </p:txBody>
      </p:sp>
      <p:sp>
        <p:nvSpPr>
          <p:cNvPr id="6" name="Texto 17"/>
          <p:cNvSpPr txBox="1"/>
          <p:nvPr/>
        </p:nvSpPr>
        <p:spPr>
          <a:xfrm>
            <a:off x="640080" y="265176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Título de la</a:t>
            </a:r>
            <a:endParaRPr lang="en-US" sz="5000" dirty="0"/>
          </a:p>
        </p:txBody>
      </p:sp>
      <p:sp>
        <p:nvSpPr>
          <p:cNvPr id="7" name="Subrayado Ways 18"/>
          <p:cNvSpPr/>
          <p:nvPr/>
        </p:nvSpPr>
        <p:spPr>
          <a:xfrm rot="-90000">
            <a:off x="640080" y="3429000"/>
            <a:ext cx="4711065" cy="812800"/>
          </a:xfrm>
          <a:prstGeom prst="rect">
            <a:avLst/>
          </a:prstGeom>
          <a:solidFill>
            <a:srgbClr val="5067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presentación</a:t>
            </a:r>
            <a:endParaRPr lang="en-US" sz="5000" dirty="0"/>
          </a:p>
        </p:txBody>
      </p:sp>
      <p:sp>
        <p:nvSpPr>
          <p:cNvPr id="8" name="Texto 19"/>
          <p:cNvSpPr txBox="1"/>
          <p:nvPr/>
        </p:nvSpPr>
        <p:spPr>
          <a:xfrm>
            <a:off x="640080" y="452628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Subtítulo o descripción breve de la presentación en una o dos líneas.</a:t>
            </a:r>
            <a:endParaRPr lang="en-US" sz="1400" dirty="0"/>
          </a:p>
        </p:txBody>
      </p:sp>
      <p:sp>
        <p:nvSpPr>
          <p:cNvPr id="9" name="Texto 20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Nombre Apellido · dd/mm/aaaa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CONTENIDO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Qué vamos a</a:t>
            </a:r>
            <a:endParaRPr lang="en-US" sz="2800" dirty="0"/>
          </a:p>
        </p:txBody>
      </p:sp>
      <p:sp>
        <p:nvSpPr>
          <p:cNvPr id="4" name="Subrayado Ways 21"/>
          <p:cNvSpPr/>
          <p:nvPr/>
        </p:nvSpPr>
        <p:spPr>
          <a:xfrm rot="-90000">
            <a:off x="3163367" y="731520"/>
            <a:ext cx="750316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Seis bloques, una sola historia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 recorrido en seis bloques, de la situación de partida a los próximos pasos.</a:t>
            </a:r>
            <a:endParaRPr lang="en-US" sz="1300" dirty="0"/>
          </a:p>
        </p:txBody>
      </p:sp>
      <p:sp>
        <p:nvSpPr>
          <p:cNvPr id="7" name="Tarjeta 22"/>
          <p:cNvSpPr/>
          <p:nvPr/>
        </p:nvSpPr>
        <p:spPr>
          <a:xfrm>
            <a:off x="640080" y="2011680"/>
            <a:ext cx="345429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8" name="Texto 23"/>
          <p:cNvSpPr txBox="1"/>
          <p:nvPr/>
        </p:nvSpPr>
        <p:spPr>
          <a:xfrm>
            <a:off x="914400" y="22677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o 24"/>
          <p:cNvSpPr txBox="1"/>
          <p:nvPr/>
        </p:nvSpPr>
        <p:spPr>
          <a:xfrm>
            <a:off x="914400" y="283464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Punto de partida</a:t>
            </a:r>
            <a:endParaRPr lang="en-US" sz="1500" dirty="0"/>
          </a:p>
        </p:txBody>
      </p:sp>
      <p:sp>
        <p:nvSpPr>
          <p:cNvPr id="10" name="Texto 25"/>
          <p:cNvSpPr txBox="1"/>
          <p:nvPr/>
        </p:nvSpPr>
        <p:spPr>
          <a:xfrm>
            <a:off x="914400" y="317296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Dónde estamos y por qué</a:t>
            </a:r>
            <a:endParaRPr lang="en-US" sz="1200" dirty="0"/>
          </a:p>
        </p:txBody>
      </p:sp>
      <p:sp>
        <p:nvSpPr>
          <p:cNvPr id="11" name="Tarjeta 26"/>
          <p:cNvSpPr/>
          <p:nvPr/>
        </p:nvSpPr>
        <p:spPr>
          <a:xfrm>
            <a:off x="4368698" y="2011680"/>
            <a:ext cx="345429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2" name="Texto 27"/>
          <p:cNvSpPr txBox="1"/>
          <p:nvPr/>
        </p:nvSpPr>
        <p:spPr>
          <a:xfrm>
            <a:off x="4643018" y="22677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o 28"/>
          <p:cNvSpPr txBox="1"/>
          <p:nvPr/>
        </p:nvSpPr>
        <p:spPr>
          <a:xfrm>
            <a:off x="4643018" y="283464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Objetivos</a:t>
            </a:r>
            <a:endParaRPr lang="en-US" sz="1500" dirty="0"/>
          </a:p>
        </p:txBody>
      </p:sp>
      <p:sp>
        <p:nvSpPr>
          <p:cNvPr id="14" name="Texto 29"/>
          <p:cNvSpPr txBox="1"/>
          <p:nvPr/>
        </p:nvSpPr>
        <p:spPr>
          <a:xfrm>
            <a:off x="4643018" y="317296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Qué queremos conseguir</a:t>
            </a:r>
            <a:endParaRPr lang="en-US" sz="1200" dirty="0"/>
          </a:p>
        </p:txBody>
      </p:sp>
      <p:sp>
        <p:nvSpPr>
          <p:cNvPr id="15" name="Tarjeta 30"/>
          <p:cNvSpPr/>
          <p:nvPr/>
        </p:nvSpPr>
        <p:spPr>
          <a:xfrm>
            <a:off x="8097317" y="2011680"/>
            <a:ext cx="345429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6" name="Texto 31"/>
          <p:cNvSpPr txBox="1"/>
          <p:nvPr/>
        </p:nvSpPr>
        <p:spPr>
          <a:xfrm>
            <a:off x="8371637" y="22677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o 32"/>
          <p:cNvSpPr txBox="1"/>
          <p:nvPr/>
        </p:nvSpPr>
        <p:spPr>
          <a:xfrm>
            <a:off x="8371637" y="283464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Públicos y mensajes</a:t>
            </a:r>
            <a:endParaRPr lang="en-US" sz="1500" dirty="0"/>
          </a:p>
        </p:txBody>
      </p:sp>
      <p:sp>
        <p:nvSpPr>
          <p:cNvPr id="18" name="Texto 33"/>
          <p:cNvSpPr txBox="1"/>
          <p:nvPr/>
        </p:nvSpPr>
        <p:spPr>
          <a:xfrm>
            <a:off x="8371637" y="317296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 quién hablamos y cómo</a:t>
            </a:r>
            <a:endParaRPr lang="en-US" sz="1200" dirty="0"/>
          </a:p>
        </p:txBody>
      </p:sp>
      <p:sp>
        <p:nvSpPr>
          <p:cNvPr id="19" name="Tarjeta 34"/>
          <p:cNvSpPr/>
          <p:nvPr/>
        </p:nvSpPr>
        <p:spPr>
          <a:xfrm>
            <a:off x="640080" y="4069080"/>
            <a:ext cx="345429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0" name="Texto 35"/>
          <p:cNvSpPr txBox="1"/>
          <p:nvPr/>
        </p:nvSpPr>
        <p:spPr>
          <a:xfrm>
            <a:off x="914400" y="4325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o 36"/>
          <p:cNvSpPr txBox="1"/>
          <p:nvPr/>
        </p:nvSpPr>
        <p:spPr>
          <a:xfrm>
            <a:off x="914400" y="489204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Plan</a:t>
            </a:r>
            <a:endParaRPr lang="en-US" sz="1500" dirty="0"/>
          </a:p>
        </p:txBody>
      </p:sp>
      <p:sp>
        <p:nvSpPr>
          <p:cNvPr id="22" name="Texto 37"/>
          <p:cNvSpPr txBox="1"/>
          <p:nvPr/>
        </p:nvSpPr>
        <p:spPr>
          <a:xfrm>
            <a:off x="914400" y="523036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Fases, acciones y calendario</a:t>
            </a:r>
            <a:endParaRPr lang="en-US" sz="1200" dirty="0"/>
          </a:p>
        </p:txBody>
      </p:sp>
      <p:sp>
        <p:nvSpPr>
          <p:cNvPr id="23" name="Tarjeta 38"/>
          <p:cNvSpPr/>
          <p:nvPr/>
        </p:nvSpPr>
        <p:spPr>
          <a:xfrm>
            <a:off x="4368698" y="4069080"/>
            <a:ext cx="345429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4" name="Texto 39"/>
          <p:cNvSpPr txBox="1"/>
          <p:nvPr/>
        </p:nvSpPr>
        <p:spPr>
          <a:xfrm>
            <a:off x="4643018" y="4325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o 40"/>
          <p:cNvSpPr txBox="1"/>
          <p:nvPr/>
        </p:nvSpPr>
        <p:spPr>
          <a:xfrm>
            <a:off x="4643018" y="489204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Medición</a:t>
            </a:r>
            <a:endParaRPr lang="en-US" sz="1500" dirty="0"/>
          </a:p>
        </p:txBody>
      </p:sp>
      <p:sp>
        <p:nvSpPr>
          <p:cNvPr id="26" name="Texto 41"/>
          <p:cNvSpPr txBox="1"/>
          <p:nvPr/>
        </p:nvSpPr>
        <p:spPr>
          <a:xfrm>
            <a:off x="4643018" y="523036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Cifras, KPI y seguimiento</a:t>
            </a:r>
            <a:endParaRPr lang="en-US" sz="1200" dirty="0"/>
          </a:p>
        </p:txBody>
      </p:sp>
      <p:sp>
        <p:nvSpPr>
          <p:cNvPr id="27" name="Tarjeta 42"/>
          <p:cNvSpPr/>
          <p:nvPr/>
        </p:nvSpPr>
        <p:spPr>
          <a:xfrm>
            <a:off x="8097317" y="4069080"/>
            <a:ext cx="345429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8" name="Texto 43"/>
          <p:cNvSpPr txBox="1"/>
          <p:nvPr/>
        </p:nvSpPr>
        <p:spPr>
          <a:xfrm>
            <a:off x="8371637" y="4325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2600" dirty="0"/>
          </a:p>
        </p:txBody>
      </p:sp>
      <p:sp>
        <p:nvSpPr>
          <p:cNvPr id="29" name="Texto 44"/>
          <p:cNvSpPr txBox="1"/>
          <p:nvPr/>
        </p:nvSpPr>
        <p:spPr>
          <a:xfrm>
            <a:off x="8371637" y="489204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Próximos pasos</a:t>
            </a:r>
            <a:endParaRPr lang="en-US" sz="1500" dirty="0"/>
          </a:p>
        </p:txBody>
      </p:sp>
      <p:sp>
        <p:nvSpPr>
          <p:cNvPr id="30" name="Texto 45"/>
          <p:cNvSpPr txBox="1"/>
          <p:nvPr/>
        </p:nvSpPr>
        <p:spPr>
          <a:xfrm>
            <a:off x="8371637" y="523036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Qué decidimos hoy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uebas-brandbook-/fbbf11e7-4add-5196-9360-974883348c29/scratchpad/ppt2/img/llegada.jpg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sotipo 46" descr="/tmp/claude-0/-home-user-pruebas-brandbook-/fbbf11e7-4add-5196-9360-974883348c29/scratchpad/ppt2/img/iso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411480"/>
            <a:ext cx="457200" cy="383557"/>
          </a:xfrm>
          <a:prstGeom prst="rect">
            <a:avLst/>
          </a:prstGeom>
        </p:spPr>
      </p:pic>
      <p:sp>
        <p:nvSpPr>
          <p:cNvPr id="4" name="Tarjeta 47"/>
          <p:cNvSpPr/>
          <p:nvPr/>
        </p:nvSpPr>
        <p:spPr>
          <a:xfrm>
            <a:off x="6903720" y="3246120"/>
            <a:ext cx="4709160" cy="278892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5" name="Texto 48"/>
          <p:cNvSpPr txBox="1"/>
          <p:nvPr/>
        </p:nvSpPr>
        <p:spPr>
          <a:xfrm>
            <a:off x="726948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BLOQUE 01 DE 06</a:t>
            </a:r>
            <a:endParaRPr lang="en-US" sz="1000" dirty="0"/>
          </a:p>
        </p:txBody>
      </p:sp>
      <p:sp>
        <p:nvSpPr>
          <p:cNvPr id="6" name="Texto 49"/>
          <p:cNvSpPr txBox="1"/>
          <p:nvPr/>
        </p:nvSpPr>
        <p:spPr>
          <a:xfrm>
            <a:off x="7269480" y="38404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Punto de</a:t>
            </a:r>
            <a:endParaRPr lang="en-US" sz="3600" dirty="0"/>
          </a:p>
        </p:txBody>
      </p:sp>
      <p:sp>
        <p:nvSpPr>
          <p:cNvPr id="7" name="Subrayado Ways 50"/>
          <p:cNvSpPr/>
          <p:nvPr/>
        </p:nvSpPr>
        <p:spPr>
          <a:xfrm rot="-90000">
            <a:off x="7269480" y="4434840"/>
            <a:ext cx="1954530" cy="585216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partida</a:t>
            </a:r>
            <a:endParaRPr lang="en-US" sz="3600" dirty="0"/>
          </a:p>
        </p:txBody>
      </p:sp>
      <p:sp>
        <p:nvSpPr>
          <p:cNvPr id="8" name="Texto 51"/>
          <p:cNvSpPr txBox="1"/>
          <p:nvPr/>
        </p:nvSpPr>
        <p:spPr>
          <a:xfrm>
            <a:off x="7269480" y="5120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Dónde estamos, qué funciona y qué hay que cambiar.</a:t>
            </a:r>
            <a:endParaRPr lang="en-US" sz="1200" dirty="0"/>
          </a:p>
        </p:txBody>
      </p:sp>
      <p:sp>
        <p:nvSpPr>
          <p:cNvPr id="9" name="Progreso 52"/>
          <p:cNvSpPr/>
          <p:nvPr/>
        </p:nvSpPr>
        <p:spPr>
          <a:xfrm>
            <a:off x="7269480" y="5577840"/>
            <a:ext cx="274320" cy="45720"/>
          </a:xfrm>
          <a:prstGeom prst="rect">
            <a:avLst/>
          </a:prstGeom>
          <a:solidFill>
            <a:srgbClr val="7AA606"/>
          </a:solidFill>
          <a:ln/>
        </p:spPr>
      </p:sp>
      <p:sp>
        <p:nvSpPr>
          <p:cNvPr id="10" name="Progreso 53"/>
          <p:cNvSpPr/>
          <p:nvPr/>
        </p:nvSpPr>
        <p:spPr>
          <a:xfrm>
            <a:off x="7616952" y="5577840"/>
            <a:ext cx="274320" cy="45720"/>
          </a:xfrm>
          <a:prstGeom prst="rect">
            <a:avLst/>
          </a:prstGeom>
          <a:solidFill>
            <a:srgbClr val="E8E8E6"/>
          </a:solidFill>
          <a:ln/>
        </p:spPr>
      </p:sp>
      <p:sp>
        <p:nvSpPr>
          <p:cNvPr id="11" name="Progreso 54"/>
          <p:cNvSpPr/>
          <p:nvPr/>
        </p:nvSpPr>
        <p:spPr>
          <a:xfrm>
            <a:off x="7964424" y="5577840"/>
            <a:ext cx="274320" cy="45720"/>
          </a:xfrm>
          <a:prstGeom prst="rect">
            <a:avLst/>
          </a:prstGeom>
          <a:solidFill>
            <a:srgbClr val="E8E8E6"/>
          </a:solidFill>
          <a:ln/>
        </p:spPr>
      </p:sp>
      <p:sp>
        <p:nvSpPr>
          <p:cNvPr id="12" name="Progreso 55"/>
          <p:cNvSpPr/>
          <p:nvPr/>
        </p:nvSpPr>
        <p:spPr>
          <a:xfrm>
            <a:off x="8311896" y="5577840"/>
            <a:ext cx="274320" cy="45720"/>
          </a:xfrm>
          <a:prstGeom prst="rect">
            <a:avLst/>
          </a:prstGeom>
          <a:solidFill>
            <a:srgbClr val="E8E8E6"/>
          </a:solidFill>
          <a:ln/>
        </p:spPr>
      </p:sp>
      <p:sp>
        <p:nvSpPr>
          <p:cNvPr id="13" name="Progreso 56"/>
          <p:cNvSpPr/>
          <p:nvPr/>
        </p:nvSpPr>
        <p:spPr>
          <a:xfrm>
            <a:off x="8659368" y="5577840"/>
            <a:ext cx="274320" cy="45720"/>
          </a:xfrm>
          <a:prstGeom prst="rect">
            <a:avLst/>
          </a:prstGeom>
          <a:solidFill>
            <a:srgbClr val="E8E8E6"/>
          </a:solidFill>
          <a:ln/>
        </p:spPr>
      </p:sp>
      <p:sp>
        <p:nvSpPr>
          <p:cNvPr id="14" name="Progreso 57"/>
          <p:cNvSpPr/>
          <p:nvPr/>
        </p:nvSpPr>
        <p:spPr>
          <a:xfrm>
            <a:off x="9006840" y="5577840"/>
            <a:ext cx="274320" cy="45720"/>
          </a:xfrm>
          <a:prstGeom prst="rect">
            <a:avLst/>
          </a:prstGeom>
          <a:solidFill>
            <a:srgbClr val="E8E8E6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cha marca de agua 58" descr="/tmp/claude-0/-home-user-pruebas-brandbook-/fbbf11e7-4add-5196-9360-974883348c29/scratchpad/ppt2/img/concha-agua-blan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234440"/>
            <a:ext cx="4937760" cy="4142416"/>
          </a:xfrm>
          <a:prstGeom prst="rect">
            <a:avLst/>
          </a:prstGeom>
        </p:spPr>
      </p:pic>
      <p:pic>
        <p:nvPicPr>
          <p:cNvPr id="3" name="Isotipo 59" descr="/tmp/claude-0/-home-user-pruebas-brandbook-/fbbf11e7-4add-5196-9360-974883348c29/scratchpad/ppt2/img/iso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5855" y="411480"/>
            <a:ext cx="365760" cy="306846"/>
          </a:xfrm>
          <a:prstGeom prst="rect">
            <a:avLst/>
          </a:prstGeom>
        </p:spPr>
      </p:pic>
      <p:sp>
        <p:nvSpPr>
          <p:cNvPr id="4" name="Texto 60"/>
          <p:cNvSpPr txBox="1"/>
          <p:nvPr/>
        </p:nvSpPr>
        <p:spPr>
          <a:xfrm>
            <a:off x="640080" y="123444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exto 61"/>
          <p:cNvSpPr txBox="1"/>
          <p:nvPr/>
        </p:nvSpPr>
        <p:spPr>
          <a:xfrm>
            <a:off x="640080" y="2971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bg1"/>
                </a:solidFill>
              </a:rPr>
              <a:t>BLOQUE 02 DE 06</a:t>
            </a:r>
            <a:endParaRPr lang="en-US" sz="1100" dirty="0"/>
          </a:p>
        </p:txBody>
      </p:sp>
      <p:sp>
        <p:nvSpPr>
          <p:cNvPr id="6" name="Texto 62"/>
          <p:cNvSpPr txBox="1"/>
          <p:nvPr/>
        </p:nvSpPr>
        <p:spPr>
          <a:xfrm>
            <a:off x="640080" y="324612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Qué queremos</a:t>
            </a:r>
            <a:endParaRPr lang="en-US" sz="4200" dirty="0"/>
          </a:p>
        </p:txBody>
      </p:sp>
      <p:sp>
        <p:nvSpPr>
          <p:cNvPr id="7" name="Subrayado Ways 63"/>
          <p:cNvSpPr/>
          <p:nvPr/>
        </p:nvSpPr>
        <p:spPr>
          <a:xfrm rot="-90000">
            <a:off x="640080" y="3950208"/>
            <a:ext cx="3051581" cy="682752"/>
          </a:xfrm>
          <a:prstGeom prst="rect">
            <a:avLst/>
          </a:prstGeom>
          <a:solidFill>
            <a:srgbClr val="5067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conseguir</a:t>
            </a:r>
            <a:endParaRPr lang="en-US" sz="4200" dirty="0"/>
          </a:p>
        </p:txBody>
      </p:sp>
      <p:sp>
        <p:nvSpPr>
          <p:cNvPr id="8" name="Texto 64"/>
          <p:cNvSpPr txBox="1"/>
          <p:nvPr/>
        </p:nvSpPr>
        <p:spPr>
          <a:xfrm>
            <a:off x="64008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Objetivos, públicos y mensajes de la campaña.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OBJETIVOS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Qué queremos</a:t>
            </a:r>
            <a:endParaRPr lang="en-US" sz="2800" dirty="0"/>
          </a:p>
        </p:txBody>
      </p:sp>
      <p:sp>
        <p:nvSpPr>
          <p:cNvPr id="4" name="Subrayado Ways 65"/>
          <p:cNvSpPr/>
          <p:nvPr/>
        </p:nvSpPr>
        <p:spPr>
          <a:xfrm rot="-90000">
            <a:off x="3505098" y="731520"/>
            <a:ext cx="2034388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conseguir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Tres objetivos, una campaña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Una frase que resume el objetivo general. Lorem ipsum dolor sit amet, consectetur adipiscing elit.</a:t>
            </a:r>
            <a:endParaRPr lang="en-US" sz="1300" dirty="0"/>
          </a:p>
        </p:txBody>
      </p:sp>
      <p:sp>
        <p:nvSpPr>
          <p:cNvPr id="7" name="Tarjeta 66"/>
          <p:cNvSpPr/>
          <p:nvPr/>
        </p:nvSpPr>
        <p:spPr>
          <a:xfrm>
            <a:off x="640080" y="205740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8" name="Texto 67"/>
          <p:cNvSpPr txBox="1"/>
          <p:nvPr/>
        </p:nvSpPr>
        <p:spPr>
          <a:xfrm>
            <a:off x="932688" y="2331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o 68"/>
          <p:cNvSpPr txBox="1"/>
          <p:nvPr/>
        </p:nvSpPr>
        <p:spPr>
          <a:xfrm>
            <a:off x="932688" y="292608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Posicionar la marca</a:t>
            </a:r>
            <a:endParaRPr lang="en-US" sz="1500" dirty="0"/>
          </a:p>
        </p:txBody>
      </p:sp>
      <p:sp>
        <p:nvSpPr>
          <p:cNvPr id="10" name="Texto 69"/>
          <p:cNvSpPr txBox="1"/>
          <p:nvPr/>
        </p:nvSpPr>
        <p:spPr>
          <a:xfrm>
            <a:off x="932688" y="3383280"/>
            <a:ext cx="28690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200" dirty="0"/>
          </a:p>
        </p:txBody>
      </p:sp>
      <p:sp>
        <p:nvSpPr>
          <p:cNvPr id="11" name="Tarjeta 70"/>
          <p:cNvSpPr/>
          <p:nvPr/>
        </p:nvSpPr>
        <p:spPr>
          <a:xfrm>
            <a:off x="4368698" y="205740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2" name="Texto 71"/>
          <p:cNvSpPr txBox="1"/>
          <p:nvPr/>
        </p:nvSpPr>
        <p:spPr>
          <a:xfrm>
            <a:off x="4661306" y="2331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o 72"/>
          <p:cNvSpPr txBox="1"/>
          <p:nvPr/>
        </p:nvSpPr>
        <p:spPr>
          <a:xfrm>
            <a:off x="4661306" y="292608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Más contactos y reservas</a:t>
            </a:r>
            <a:endParaRPr lang="en-US" sz="1500" dirty="0"/>
          </a:p>
        </p:txBody>
      </p:sp>
      <p:sp>
        <p:nvSpPr>
          <p:cNvPr id="14" name="Texto 73"/>
          <p:cNvSpPr txBox="1"/>
          <p:nvPr/>
        </p:nvSpPr>
        <p:spPr>
          <a:xfrm>
            <a:off x="4661306" y="3383280"/>
            <a:ext cx="28690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200" dirty="0"/>
          </a:p>
        </p:txBody>
      </p:sp>
      <p:sp>
        <p:nvSpPr>
          <p:cNvPr id="15" name="Tarjeta 74"/>
          <p:cNvSpPr/>
          <p:nvPr/>
        </p:nvSpPr>
        <p:spPr>
          <a:xfrm>
            <a:off x="8097317" y="205740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6" name="Texto 75"/>
          <p:cNvSpPr txBox="1"/>
          <p:nvPr/>
        </p:nvSpPr>
        <p:spPr>
          <a:xfrm>
            <a:off x="8389925" y="2331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o 76"/>
          <p:cNvSpPr txBox="1"/>
          <p:nvPr/>
        </p:nvSpPr>
        <p:spPr>
          <a:xfrm>
            <a:off x="8389925" y="292608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Repetición y recomendación</a:t>
            </a:r>
            <a:endParaRPr lang="en-US" sz="1500" dirty="0"/>
          </a:p>
        </p:txBody>
      </p:sp>
      <p:sp>
        <p:nvSpPr>
          <p:cNvPr id="18" name="Texto 77"/>
          <p:cNvSpPr txBox="1"/>
          <p:nvPr/>
        </p:nvSpPr>
        <p:spPr>
          <a:xfrm>
            <a:off x="8389925" y="3383280"/>
            <a:ext cx="286908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MÉTODO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Cómo hemos llegado a esta propuesta</a:t>
            </a:r>
            <a:endParaRPr lang="en-US" sz="28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Tres miradas, una sola propuesta</a:t>
            </a:r>
            <a:endParaRPr lang="en-US" sz="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Tres análisis que se cruzan en una sola conclusión.</a:t>
            </a:r>
            <a:endParaRPr lang="en-US" sz="1300" dirty="0"/>
          </a:p>
        </p:txBody>
      </p:sp>
      <p:sp>
        <p:nvSpPr>
          <p:cNvPr id="6" name="Tarjeta 78"/>
          <p:cNvSpPr/>
          <p:nvPr/>
        </p:nvSpPr>
        <p:spPr>
          <a:xfrm>
            <a:off x="640080" y="1920240"/>
            <a:ext cx="345429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7" name="Texto 79"/>
          <p:cNvSpPr txBox="1"/>
          <p:nvPr/>
        </p:nvSpPr>
        <p:spPr>
          <a:xfrm>
            <a:off x="914400" y="2148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Etiqueta 80"/>
          <p:cNvSpPr/>
          <p:nvPr/>
        </p:nvSpPr>
        <p:spPr>
          <a:xfrm>
            <a:off x="3023730" y="2194560"/>
            <a:ext cx="796328" cy="237744"/>
          </a:xfrm>
          <a:prstGeom prst="roundRect">
            <a:avLst>
              <a:gd name="adj" fmla="val 42308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Mercado</a:t>
            </a:r>
            <a:endParaRPr lang="en-US" sz="900" dirty="0"/>
          </a:p>
        </p:txBody>
      </p:sp>
      <p:sp>
        <p:nvSpPr>
          <p:cNvPr id="9" name="Texto 81"/>
          <p:cNvSpPr txBox="1"/>
          <p:nvPr/>
        </p:nvSpPr>
        <p:spPr>
          <a:xfrm>
            <a:off x="914400" y="269748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Benchmark de competencia</a:t>
            </a:r>
            <a:endParaRPr lang="en-US" sz="1500" dirty="0"/>
          </a:p>
        </p:txBody>
      </p:sp>
      <p:sp>
        <p:nvSpPr>
          <p:cNvPr id="10" name="Texto 82"/>
          <p:cNvSpPr txBox="1"/>
          <p:nvPr/>
        </p:nvSpPr>
        <p:spPr>
          <a:xfrm>
            <a:off x="914400" y="306324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Qué ofrece ya el mercado y dónde se parecen todos.</a:t>
            </a:r>
            <a:endParaRPr lang="en-US" sz="1150" dirty="0"/>
          </a:p>
        </p:txBody>
      </p:sp>
      <p:sp>
        <p:nvSpPr>
          <p:cNvPr id="11" name="Texto 83"/>
          <p:cNvSpPr txBox="1"/>
          <p:nvPr/>
        </p:nvSpPr>
        <p:spPr>
          <a:xfrm>
            <a:off x="914400" y="3639312"/>
            <a:ext cx="2905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Lo que ya existe</a:t>
            </a:r>
            <a:endParaRPr lang="en-US" sz="1100" dirty="0"/>
          </a:p>
        </p:txBody>
      </p:sp>
      <p:sp>
        <p:nvSpPr>
          <p:cNvPr id="12" name="Línea 84"/>
          <p:cNvSpPr/>
          <p:nvPr/>
        </p:nvSpPr>
        <p:spPr>
          <a:xfrm>
            <a:off x="2367229" y="4069080"/>
            <a:ext cx="0" cy="320040"/>
          </a:xfrm>
          <a:prstGeom prst="line">
            <a:avLst/>
          </a:prstGeom>
          <a:noFill/>
          <a:ln w="19050">
            <a:solidFill>
              <a:srgbClr val="7AA606"/>
            </a:solidFill>
            <a:prstDash val="solid"/>
          </a:ln>
        </p:spPr>
      </p:sp>
      <p:sp>
        <p:nvSpPr>
          <p:cNvPr id="13" name="Tarjeta 85"/>
          <p:cNvSpPr/>
          <p:nvPr/>
        </p:nvSpPr>
        <p:spPr>
          <a:xfrm>
            <a:off x="4368698" y="1920240"/>
            <a:ext cx="345429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4" name="Texto 86"/>
          <p:cNvSpPr txBox="1"/>
          <p:nvPr/>
        </p:nvSpPr>
        <p:spPr>
          <a:xfrm>
            <a:off x="4643018" y="2148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Etiqueta 87"/>
          <p:cNvSpPr/>
          <p:nvPr/>
        </p:nvSpPr>
        <p:spPr>
          <a:xfrm>
            <a:off x="6385331" y="2194560"/>
            <a:ext cx="1163345" cy="237744"/>
          </a:xfrm>
          <a:prstGeom prst="roundRect">
            <a:avLst>
              <a:gd name="adj" fmla="val 42308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Santiago Ways</a:t>
            </a:r>
            <a:endParaRPr lang="en-US" sz="900" dirty="0"/>
          </a:p>
        </p:txBody>
      </p:sp>
      <p:sp>
        <p:nvSpPr>
          <p:cNvPr id="16" name="Texto 88"/>
          <p:cNvSpPr txBox="1"/>
          <p:nvPr/>
        </p:nvSpPr>
        <p:spPr>
          <a:xfrm>
            <a:off x="4643018" y="269748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Análisis interno</a:t>
            </a:r>
            <a:endParaRPr lang="en-US" sz="1500" dirty="0"/>
          </a:p>
        </p:txBody>
      </p:sp>
      <p:sp>
        <p:nvSpPr>
          <p:cNvPr id="17" name="Texto 89"/>
          <p:cNvSpPr txBox="1"/>
          <p:nvPr/>
        </p:nvSpPr>
        <p:spPr>
          <a:xfrm>
            <a:off x="4643018" y="306324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Qué hacemos bien hoy y qué podemos hacer mejor que nadie.</a:t>
            </a:r>
            <a:endParaRPr lang="en-US" sz="1150" dirty="0"/>
          </a:p>
        </p:txBody>
      </p:sp>
      <p:sp>
        <p:nvSpPr>
          <p:cNvPr id="18" name="Texto 90"/>
          <p:cNvSpPr txBox="1"/>
          <p:nvPr/>
        </p:nvSpPr>
        <p:spPr>
          <a:xfrm>
            <a:off x="4643018" y="3639312"/>
            <a:ext cx="2905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Lo que hacemos bien</a:t>
            </a:r>
            <a:endParaRPr lang="en-US" sz="1100" dirty="0"/>
          </a:p>
        </p:txBody>
      </p:sp>
      <p:sp>
        <p:nvSpPr>
          <p:cNvPr id="19" name="Línea 91"/>
          <p:cNvSpPr/>
          <p:nvPr/>
        </p:nvSpPr>
        <p:spPr>
          <a:xfrm>
            <a:off x="6095848" y="4069080"/>
            <a:ext cx="0" cy="320040"/>
          </a:xfrm>
          <a:prstGeom prst="line">
            <a:avLst/>
          </a:prstGeom>
          <a:noFill/>
          <a:ln w="19050">
            <a:solidFill>
              <a:srgbClr val="7AA606"/>
            </a:solidFill>
            <a:prstDash val="solid"/>
          </a:ln>
        </p:spPr>
      </p:sp>
      <p:sp>
        <p:nvSpPr>
          <p:cNvPr id="20" name="Tarjeta 92"/>
          <p:cNvSpPr/>
          <p:nvPr/>
        </p:nvSpPr>
        <p:spPr>
          <a:xfrm>
            <a:off x="8097317" y="1920240"/>
            <a:ext cx="345429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1" name="Texto 93"/>
          <p:cNvSpPr txBox="1"/>
          <p:nvPr/>
        </p:nvSpPr>
        <p:spPr>
          <a:xfrm>
            <a:off x="8371637" y="2148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Etiqueta 94"/>
          <p:cNvSpPr/>
          <p:nvPr/>
        </p:nvSpPr>
        <p:spPr>
          <a:xfrm>
            <a:off x="10580408" y="2194560"/>
            <a:ext cx="696887" cy="237744"/>
          </a:xfrm>
          <a:prstGeom prst="roundRect">
            <a:avLst>
              <a:gd name="adj" fmla="val 42308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Cliente</a:t>
            </a:r>
            <a:endParaRPr lang="en-US" sz="900" dirty="0"/>
          </a:p>
        </p:txBody>
      </p:sp>
      <p:sp>
        <p:nvSpPr>
          <p:cNvPr id="23" name="Texto 95"/>
          <p:cNvSpPr txBox="1"/>
          <p:nvPr/>
        </p:nvSpPr>
        <p:spPr>
          <a:xfrm>
            <a:off x="8371637" y="2697480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Clusterización del target</a:t>
            </a:r>
            <a:endParaRPr lang="en-US" sz="1500" dirty="0"/>
          </a:p>
        </p:txBody>
      </p:sp>
      <p:sp>
        <p:nvSpPr>
          <p:cNvPr id="24" name="Texto 96"/>
          <p:cNvSpPr txBox="1"/>
          <p:nvPr/>
        </p:nvSpPr>
        <p:spPr>
          <a:xfrm>
            <a:off x="8371637" y="306324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Quién es nuestro cliente potencial y qué necesita de verdad.</a:t>
            </a:r>
            <a:endParaRPr lang="en-US" sz="1150" dirty="0"/>
          </a:p>
        </p:txBody>
      </p:sp>
      <p:sp>
        <p:nvSpPr>
          <p:cNvPr id="25" name="Texto 97"/>
          <p:cNvSpPr txBox="1"/>
          <p:nvPr/>
        </p:nvSpPr>
        <p:spPr>
          <a:xfrm>
            <a:off x="8371637" y="3639312"/>
            <a:ext cx="2905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Lo que quiere y necesita</a:t>
            </a:r>
            <a:endParaRPr lang="en-US" sz="1100" dirty="0"/>
          </a:p>
        </p:txBody>
      </p:sp>
      <p:sp>
        <p:nvSpPr>
          <p:cNvPr id="26" name="Línea 98"/>
          <p:cNvSpPr/>
          <p:nvPr/>
        </p:nvSpPr>
        <p:spPr>
          <a:xfrm>
            <a:off x="9824466" y="4069080"/>
            <a:ext cx="0" cy="320040"/>
          </a:xfrm>
          <a:prstGeom prst="line">
            <a:avLst/>
          </a:prstGeom>
          <a:noFill/>
          <a:ln w="19050">
            <a:solidFill>
              <a:srgbClr val="7AA606"/>
            </a:solidFill>
            <a:prstDash val="solid"/>
          </a:ln>
        </p:spPr>
      </p:sp>
      <p:sp>
        <p:nvSpPr>
          <p:cNvPr id="27" name="Línea 99"/>
          <p:cNvSpPr/>
          <p:nvPr/>
        </p:nvSpPr>
        <p:spPr>
          <a:xfrm>
            <a:off x="2367229" y="4389120"/>
            <a:ext cx="7457237" cy="0"/>
          </a:xfrm>
          <a:prstGeom prst="line">
            <a:avLst/>
          </a:prstGeom>
          <a:noFill/>
          <a:ln w="19050">
            <a:solidFill>
              <a:srgbClr val="7AA606"/>
            </a:solidFill>
            <a:prstDash val="solid"/>
          </a:ln>
        </p:spPr>
      </p:sp>
      <p:sp>
        <p:nvSpPr>
          <p:cNvPr id="28" name="Línea 100"/>
          <p:cNvSpPr/>
          <p:nvPr/>
        </p:nvSpPr>
        <p:spPr>
          <a:xfrm>
            <a:off x="6095848" y="4389120"/>
            <a:ext cx="0" cy="228600"/>
          </a:xfrm>
          <a:prstGeom prst="line">
            <a:avLst/>
          </a:prstGeom>
          <a:noFill/>
          <a:ln w="19050">
            <a:solidFill>
              <a:srgbClr val="7AA606"/>
            </a:solidFill>
            <a:prstDash val="solid"/>
          </a:ln>
        </p:spPr>
      </p:sp>
      <p:sp>
        <p:nvSpPr>
          <p:cNvPr id="29" name="Degradado 101"/>
          <p:cNvSpPr/>
          <p:nvPr/>
        </p:nvSpPr>
        <p:spPr>
          <a:xfrm>
            <a:off x="3017520" y="4617720"/>
            <a:ext cx="6156655" cy="109728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0" name="Texto 102"/>
          <p:cNvSpPr txBox="1"/>
          <p:nvPr/>
        </p:nvSpPr>
        <p:spPr>
          <a:xfrm>
            <a:off x="3017520" y="4773168"/>
            <a:ext cx="6156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Propuesta de valor</a:t>
            </a:r>
            <a:endParaRPr lang="en-US" sz="2000" dirty="0"/>
          </a:p>
        </p:txBody>
      </p:sp>
      <p:sp>
        <p:nvSpPr>
          <p:cNvPr id="31" name="Texto 103"/>
          <p:cNvSpPr txBox="1"/>
          <p:nvPr/>
        </p:nvSpPr>
        <p:spPr>
          <a:xfrm>
            <a:off x="3291840" y="516636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Nace del cruce entre lo que el mercado no cubre, lo que hacemos bien y lo que el cliente necesita.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PUNTO DE PARTIDA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2027 es</a:t>
            </a:r>
            <a:endParaRPr lang="en-US" sz="2800" dirty="0"/>
          </a:p>
        </p:txBody>
      </p:sp>
      <p:sp>
        <p:nvSpPr>
          <p:cNvPr id="4" name="Subrayado Ways 104"/>
          <p:cNvSpPr/>
          <p:nvPr/>
        </p:nvSpPr>
        <p:spPr>
          <a:xfrm rot="-90000">
            <a:off x="2134260" y="731520"/>
            <a:ext cx="2110130" cy="455168"/>
          </a:xfrm>
          <a:prstGeom prst="rect">
            <a:avLst/>
          </a:prstGeom>
          <a:solidFill>
            <a:srgbClr val="5067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Año Santo</a:t>
            </a:r>
            <a:endParaRPr lang="en-US" sz="2800" dirty="0"/>
          </a:p>
        </p:txBody>
      </p:sp>
      <p:sp>
        <p:nvSpPr>
          <p:cNvPr id="5" name="Texto 105"/>
          <p:cNvSpPr txBox="1"/>
          <p:nvPr/>
        </p:nvSpPr>
        <p:spPr>
          <a:xfrm>
            <a:off x="4347870" y="74980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cambia el Camino</a:t>
            </a: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Cinco motivos para empezar ya</a:t>
            </a:r>
            <a:endParaRPr lang="en-US" sz="9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Una frase que explica por qué este momento es distinto. Lorem ipsum dolor sit amet, consectetur adipiscing elit.</a:t>
            </a:r>
            <a:endParaRPr lang="en-US" sz="1300" dirty="0"/>
          </a:p>
        </p:txBody>
      </p:sp>
      <p:sp>
        <p:nvSpPr>
          <p:cNvPr id="8" name="Tarjeta 106"/>
          <p:cNvSpPr/>
          <p:nvPr/>
        </p:nvSpPr>
        <p:spPr>
          <a:xfrm>
            <a:off x="640080" y="2194560"/>
            <a:ext cx="2021373" cy="2377440"/>
          </a:xfrm>
          <a:prstGeom prst="roundRect">
            <a:avLst>
              <a:gd name="adj" fmla="val 5428"/>
            </a:avLst>
          </a:prstGeom>
          <a:solidFill>
            <a:srgbClr val="FFFFFF"/>
          </a:solidFill>
          <a:ln/>
        </p:spPr>
      </p:sp>
      <p:pic>
        <p:nvPicPr>
          <p:cNvPr id="9" name="Icono 107" descr="/tmp/claude-0/-home-user-pruebas-brandbook-/fbbf11e7-4add-5196-9360-974883348c29/scratchpad/ppt2/icons/TbUsers-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450592"/>
            <a:ext cx="384048" cy="384048"/>
          </a:xfrm>
          <a:prstGeom prst="rect">
            <a:avLst/>
          </a:prstGeom>
        </p:spPr>
      </p:pic>
      <p:sp>
        <p:nvSpPr>
          <p:cNvPr id="10" name="Texto 108"/>
          <p:cNvSpPr txBox="1"/>
          <p:nvPr/>
        </p:nvSpPr>
        <p:spPr>
          <a:xfrm>
            <a:off x="868680" y="3017520"/>
            <a:ext cx="16098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Más peregrinos</a:t>
            </a:r>
            <a:endParaRPr lang="en-US" sz="1400" dirty="0"/>
          </a:p>
        </p:txBody>
      </p:sp>
      <p:sp>
        <p:nvSpPr>
          <p:cNvPr id="11" name="Texto 109"/>
          <p:cNvSpPr txBox="1"/>
          <p:nvPr/>
        </p:nvSpPr>
        <p:spPr>
          <a:xfrm>
            <a:off x="868680" y="3566160"/>
            <a:ext cx="160989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El Año Santo trae un récord de peregrinos a todas las rutas.</a:t>
            </a:r>
            <a:endParaRPr lang="en-US" sz="1100" dirty="0"/>
          </a:p>
        </p:txBody>
      </p:sp>
      <p:sp>
        <p:nvSpPr>
          <p:cNvPr id="12" name="Tarjeta 110"/>
          <p:cNvSpPr/>
          <p:nvPr/>
        </p:nvSpPr>
        <p:spPr>
          <a:xfrm>
            <a:off x="2862621" y="2194560"/>
            <a:ext cx="2021373" cy="2377440"/>
          </a:xfrm>
          <a:prstGeom prst="roundRect">
            <a:avLst>
              <a:gd name="adj" fmla="val 5428"/>
            </a:avLst>
          </a:prstGeom>
          <a:solidFill>
            <a:srgbClr val="FFFFFF"/>
          </a:solidFill>
          <a:ln/>
        </p:spPr>
      </p:sp>
      <p:pic>
        <p:nvPicPr>
          <p:cNvPr id="13" name="Icono 111" descr="/tmp/claude-0/-home-user-pruebas-brandbook-/fbbf11e7-4add-5196-9360-974883348c29/scratchpad/ppt2/icons/TbBed-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221" y="2450592"/>
            <a:ext cx="384048" cy="384048"/>
          </a:xfrm>
          <a:prstGeom prst="rect">
            <a:avLst/>
          </a:prstGeom>
        </p:spPr>
      </p:pic>
      <p:sp>
        <p:nvSpPr>
          <p:cNvPr id="14" name="Texto 112"/>
          <p:cNvSpPr txBox="1"/>
          <p:nvPr/>
        </p:nvSpPr>
        <p:spPr>
          <a:xfrm>
            <a:off x="3091221" y="3017520"/>
            <a:ext cx="16098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Hoteles saturados</a:t>
            </a:r>
            <a:endParaRPr lang="en-US" sz="1400" dirty="0"/>
          </a:p>
        </p:txBody>
      </p:sp>
      <p:sp>
        <p:nvSpPr>
          <p:cNvPr id="15" name="Texto 113"/>
          <p:cNvSpPr txBox="1"/>
          <p:nvPr/>
        </p:nvSpPr>
        <p:spPr>
          <a:xfrm>
            <a:off x="3091221" y="3566160"/>
            <a:ext cx="160989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Encontrar alojamiento por libre se vuelve difícil.</a:t>
            </a:r>
            <a:endParaRPr lang="en-US" sz="1100" dirty="0"/>
          </a:p>
        </p:txBody>
      </p:sp>
      <p:sp>
        <p:nvSpPr>
          <p:cNvPr id="16" name="Tarjeta 114"/>
          <p:cNvSpPr/>
          <p:nvPr/>
        </p:nvSpPr>
        <p:spPr>
          <a:xfrm>
            <a:off x="5085161" y="2194560"/>
            <a:ext cx="2021373" cy="2377440"/>
          </a:xfrm>
          <a:prstGeom prst="roundRect">
            <a:avLst>
              <a:gd name="adj" fmla="val 5428"/>
            </a:avLst>
          </a:prstGeom>
          <a:solidFill>
            <a:srgbClr val="FFFFFF"/>
          </a:solidFill>
          <a:ln/>
        </p:spPr>
      </p:sp>
      <p:pic>
        <p:nvPicPr>
          <p:cNvPr id="17" name="Icono 115" descr="/tmp/claude-0/-home-user-pruebas-brandbook-/fbbf11e7-4add-5196-9360-974883348c29/scratchpad/ppt2/icons/TbShieldCheck-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761" y="2450592"/>
            <a:ext cx="384048" cy="384048"/>
          </a:xfrm>
          <a:prstGeom prst="rect">
            <a:avLst/>
          </a:prstGeom>
        </p:spPr>
      </p:pic>
      <p:sp>
        <p:nvSpPr>
          <p:cNvPr id="18" name="Texto 116"/>
          <p:cNvSpPr txBox="1"/>
          <p:nvPr/>
        </p:nvSpPr>
        <p:spPr>
          <a:xfrm>
            <a:off x="5313761" y="3017520"/>
            <a:ext cx="16098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Opción sensata</a:t>
            </a:r>
            <a:endParaRPr lang="en-US" sz="1400" dirty="0"/>
          </a:p>
        </p:txBody>
      </p:sp>
      <p:sp>
        <p:nvSpPr>
          <p:cNvPr id="19" name="Texto 117"/>
          <p:cNvSpPr txBox="1"/>
          <p:nvPr/>
        </p:nvSpPr>
        <p:spPr>
          <a:xfrm>
            <a:off x="5313761" y="3566160"/>
            <a:ext cx="160989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Con hotel y servicio asegurados, el viaje organizado gana.</a:t>
            </a:r>
            <a:endParaRPr lang="en-US" sz="1100" dirty="0"/>
          </a:p>
        </p:txBody>
      </p:sp>
      <p:sp>
        <p:nvSpPr>
          <p:cNvPr id="20" name="Tarjeta 118"/>
          <p:cNvSpPr/>
          <p:nvPr/>
        </p:nvSpPr>
        <p:spPr>
          <a:xfrm>
            <a:off x="7307702" y="2194560"/>
            <a:ext cx="2021373" cy="2377440"/>
          </a:xfrm>
          <a:prstGeom prst="roundRect">
            <a:avLst>
              <a:gd name="adj" fmla="val 5428"/>
            </a:avLst>
          </a:prstGeom>
          <a:solidFill>
            <a:srgbClr val="FFFFFF"/>
          </a:solidFill>
          <a:ln/>
        </p:spPr>
      </p:sp>
      <p:pic>
        <p:nvPicPr>
          <p:cNvPr id="21" name="Icono 119" descr="/tmp/claude-0/-home-user-pruebas-brandbook-/fbbf11e7-4add-5196-9360-974883348c29/scratchpad/ppt2/icons/TbCalendar-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6302" y="2450592"/>
            <a:ext cx="384048" cy="384048"/>
          </a:xfrm>
          <a:prstGeom prst="rect">
            <a:avLst/>
          </a:prstGeom>
        </p:spPr>
      </p:pic>
      <p:sp>
        <p:nvSpPr>
          <p:cNvPr id="22" name="Texto 120"/>
          <p:cNvSpPr txBox="1"/>
          <p:nvPr/>
        </p:nvSpPr>
        <p:spPr>
          <a:xfrm>
            <a:off x="7536302" y="3017520"/>
            <a:ext cx="16098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Fechas clave</a:t>
            </a:r>
            <a:endParaRPr lang="en-US" sz="1400" dirty="0"/>
          </a:p>
        </p:txBody>
      </p:sp>
      <p:sp>
        <p:nvSpPr>
          <p:cNvPr id="23" name="Texto 121"/>
          <p:cNvSpPr txBox="1"/>
          <p:nvPr/>
        </p:nvSpPr>
        <p:spPr>
          <a:xfrm>
            <a:off x="7536302" y="3566160"/>
            <a:ext cx="160989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Mayo y septiembre se llenan antes que nunca.</a:t>
            </a:r>
            <a:endParaRPr lang="en-US" sz="1100" dirty="0"/>
          </a:p>
        </p:txBody>
      </p:sp>
      <p:sp>
        <p:nvSpPr>
          <p:cNvPr id="24" name="Tarjeta 122"/>
          <p:cNvSpPr/>
          <p:nvPr/>
        </p:nvSpPr>
        <p:spPr>
          <a:xfrm>
            <a:off x="9530243" y="2194560"/>
            <a:ext cx="2021373" cy="2377440"/>
          </a:xfrm>
          <a:prstGeom prst="roundRect">
            <a:avLst>
              <a:gd name="adj" fmla="val 5428"/>
            </a:avLst>
          </a:prstGeom>
          <a:solidFill>
            <a:srgbClr val="FFFFFF"/>
          </a:solidFill>
          <a:ln/>
        </p:spPr>
      </p:sp>
      <p:pic>
        <p:nvPicPr>
          <p:cNvPr id="25" name="Icono 123" descr="/tmp/claude-0/-home-user-pruebas-brandbook-/fbbf11e7-4add-5196-9360-974883348c29/scratchpad/ppt2/icons/TbClock-v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8843" y="2450592"/>
            <a:ext cx="384048" cy="384048"/>
          </a:xfrm>
          <a:prstGeom prst="rect">
            <a:avLst/>
          </a:prstGeom>
        </p:spPr>
      </p:pic>
      <p:sp>
        <p:nvSpPr>
          <p:cNvPr id="26" name="Texto 124"/>
          <p:cNvSpPr txBox="1"/>
          <p:nvPr/>
        </p:nvSpPr>
        <p:spPr>
          <a:xfrm>
            <a:off x="9758843" y="3017520"/>
            <a:ext cx="16098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Una ventana única</a:t>
            </a:r>
            <a:endParaRPr lang="en-US" sz="1400" dirty="0"/>
          </a:p>
        </p:txBody>
      </p:sp>
      <p:sp>
        <p:nvSpPr>
          <p:cNvPr id="27" name="Texto 125"/>
          <p:cNvSpPr txBox="1"/>
          <p:nvPr/>
        </p:nvSpPr>
        <p:spPr>
          <a:xfrm>
            <a:off x="9758843" y="3566160"/>
            <a:ext cx="160989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El siguiente Año Santo no llega hasta 2032.</a:t>
            </a:r>
            <a:endParaRPr lang="en-US" sz="1100" dirty="0"/>
          </a:p>
        </p:txBody>
      </p:sp>
      <p:sp>
        <p:nvSpPr>
          <p:cNvPr id="28" name="Texto 126"/>
          <p:cNvSpPr txBox="1"/>
          <p:nvPr/>
        </p:nvSpPr>
        <p:spPr>
          <a:xfrm>
            <a:off x="64008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Dato o conclusión que acompaña a las tarjetas. Lorem ipsum dolor sit amet, consectetur adipiscing elit.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MENSAJE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Cómo se lo contamos a</a:t>
            </a:r>
            <a:endParaRPr lang="en-US" sz="2800" dirty="0"/>
          </a:p>
        </p:txBody>
      </p:sp>
      <p:sp>
        <p:nvSpPr>
          <p:cNvPr id="4" name="Subrayado Ways 127"/>
          <p:cNvSpPr/>
          <p:nvPr/>
        </p:nvSpPr>
        <p:spPr>
          <a:xfrm rot="-90000">
            <a:off x="5103876" y="731520"/>
            <a:ext cx="2576678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cada público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Cambian la idea central, la prueba que la respalda y lo que le pedimos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Una misma campaña, cuatro maneras de contarla.</a:t>
            </a:r>
            <a:endParaRPr lang="en-US" sz="1300" dirty="0"/>
          </a:p>
        </p:txBody>
      </p:sp>
      <p:sp>
        <p:nvSpPr>
          <p:cNvPr id="7" name="Tarjeta 128"/>
          <p:cNvSpPr/>
          <p:nvPr/>
        </p:nvSpPr>
        <p:spPr>
          <a:xfrm>
            <a:off x="640080" y="1920240"/>
            <a:ext cx="2556434" cy="3931920"/>
          </a:xfrm>
          <a:prstGeom prst="roundRect">
            <a:avLst>
              <a:gd name="adj" fmla="val 42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8" name="Degradado cabecera 129"/>
          <p:cNvSpPr/>
          <p:nvPr/>
        </p:nvSpPr>
        <p:spPr>
          <a:xfrm>
            <a:off x="640080" y="1920240"/>
            <a:ext cx="2556434" cy="6858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9" name="Degradado cabecera 130"/>
          <p:cNvSpPr/>
          <p:nvPr/>
        </p:nvSpPr>
        <p:spPr>
          <a:xfrm>
            <a:off x="640080" y="2423160"/>
            <a:ext cx="2556434" cy="182880"/>
          </a:xfrm>
          <a:prstGeom prst="rect">
            <a:avLst/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10" name="Texto 131"/>
          <p:cNvSpPr txBox="1"/>
          <p:nvPr/>
        </p:nvSpPr>
        <p:spPr>
          <a:xfrm>
            <a:off x="841248" y="2048256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Explorador económico</a:t>
            </a:r>
            <a:endParaRPr lang="en-US" sz="1300" dirty="0"/>
          </a:p>
        </p:txBody>
      </p:sp>
      <p:sp>
        <p:nvSpPr>
          <p:cNvPr id="11" name="Texto 132"/>
          <p:cNvSpPr txBox="1"/>
          <p:nvPr/>
        </p:nvSpPr>
        <p:spPr>
          <a:xfrm>
            <a:off x="841248" y="2322576"/>
            <a:ext cx="21540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ES, PT, IT</a:t>
            </a:r>
            <a:endParaRPr lang="en-US" sz="900" dirty="0"/>
          </a:p>
        </p:txBody>
      </p:sp>
      <p:sp>
        <p:nvSpPr>
          <p:cNvPr id="12" name="Texto 133"/>
          <p:cNvSpPr txBox="1"/>
          <p:nvPr/>
        </p:nvSpPr>
        <p:spPr>
          <a:xfrm>
            <a:off x="841248" y="2816352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Lo decimos</a:t>
            </a:r>
            <a:endParaRPr lang="en-US" sz="1050" dirty="0"/>
          </a:p>
        </p:txBody>
      </p:sp>
      <p:sp>
        <p:nvSpPr>
          <p:cNvPr id="13" name="Texto 134"/>
          <p:cNvSpPr txBox="1"/>
          <p:nvPr/>
        </p:nvSpPr>
        <p:spPr>
          <a:xfrm>
            <a:off x="841248" y="3054096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Una frase con el mensaje principal para este público.</a:t>
            </a:r>
            <a:endParaRPr lang="en-US" sz="1100" dirty="0"/>
          </a:p>
        </p:txBody>
      </p:sp>
      <p:sp>
        <p:nvSpPr>
          <p:cNvPr id="14" name="Texto 135"/>
          <p:cNvSpPr txBox="1"/>
          <p:nvPr/>
        </p:nvSpPr>
        <p:spPr>
          <a:xfrm>
            <a:off x="841248" y="3794760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Lo demostramos con</a:t>
            </a:r>
            <a:endParaRPr lang="en-US" sz="1050" dirty="0"/>
          </a:p>
        </p:txBody>
      </p:sp>
      <p:sp>
        <p:nvSpPr>
          <p:cNvPr id="15" name="Texto 136"/>
          <p:cNvSpPr txBox="1"/>
          <p:nvPr/>
        </p:nvSpPr>
        <p:spPr>
          <a:xfrm>
            <a:off x="841248" y="4032504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Datos, testimonios o garantías que lo prueban.</a:t>
            </a:r>
            <a:endParaRPr lang="en-US" sz="1100" dirty="0"/>
          </a:p>
        </p:txBody>
      </p:sp>
      <p:sp>
        <p:nvSpPr>
          <p:cNvPr id="16" name="Texto 137"/>
          <p:cNvSpPr txBox="1"/>
          <p:nvPr/>
        </p:nvSpPr>
        <p:spPr>
          <a:xfrm>
            <a:off x="841248" y="4773168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Le pedimos</a:t>
            </a:r>
            <a:endParaRPr lang="en-US" sz="1050" dirty="0"/>
          </a:p>
        </p:txBody>
      </p:sp>
      <p:sp>
        <p:nvSpPr>
          <p:cNvPr id="17" name="Texto 138"/>
          <p:cNvSpPr txBox="1"/>
          <p:nvPr/>
        </p:nvSpPr>
        <p:spPr>
          <a:xfrm>
            <a:off x="841248" y="5010912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La acción concreta que esperamos.</a:t>
            </a:r>
            <a:endParaRPr lang="en-US" sz="1100" dirty="0"/>
          </a:p>
        </p:txBody>
      </p:sp>
      <p:sp>
        <p:nvSpPr>
          <p:cNvPr id="18" name="Tarjeta 139"/>
          <p:cNvSpPr/>
          <p:nvPr/>
        </p:nvSpPr>
        <p:spPr>
          <a:xfrm>
            <a:off x="3425114" y="1920240"/>
            <a:ext cx="2556434" cy="3931920"/>
          </a:xfrm>
          <a:prstGeom prst="roundRect">
            <a:avLst>
              <a:gd name="adj" fmla="val 42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9" name="Degradado cabecera 140"/>
          <p:cNvSpPr/>
          <p:nvPr/>
        </p:nvSpPr>
        <p:spPr>
          <a:xfrm>
            <a:off x="3425114" y="1920240"/>
            <a:ext cx="2556434" cy="6858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20" name="Degradado cabecera 141"/>
          <p:cNvSpPr/>
          <p:nvPr/>
        </p:nvSpPr>
        <p:spPr>
          <a:xfrm>
            <a:off x="3425114" y="2423160"/>
            <a:ext cx="2556434" cy="182880"/>
          </a:xfrm>
          <a:prstGeom prst="rect">
            <a:avLst/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21" name="Texto 142"/>
          <p:cNvSpPr txBox="1"/>
          <p:nvPr/>
        </p:nvSpPr>
        <p:spPr>
          <a:xfrm>
            <a:off x="3626282" y="2048256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Aspiracional de ultramar</a:t>
            </a:r>
            <a:endParaRPr lang="en-US" sz="1300" dirty="0"/>
          </a:p>
        </p:txBody>
      </p:sp>
      <p:sp>
        <p:nvSpPr>
          <p:cNvPr id="22" name="Texto 143"/>
          <p:cNvSpPr txBox="1"/>
          <p:nvPr/>
        </p:nvSpPr>
        <p:spPr>
          <a:xfrm>
            <a:off x="3626282" y="2322576"/>
            <a:ext cx="21540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LATAM</a:t>
            </a:r>
            <a:endParaRPr lang="en-US" sz="900" dirty="0"/>
          </a:p>
        </p:txBody>
      </p:sp>
      <p:sp>
        <p:nvSpPr>
          <p:cNvPr id="23" name="Texto 144"/>
          <p:cNvSpPr txBox="1"/>
          <p:nvPr/>
        </p:nvSpPr>
        <p:spPr>
          <a:xfrm>
            <a:off x="3626282" y="2816352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Lo decimos</a:t>
            </a:r>
            <a:endParaRPr lang="en-US" sz="1050" dirty="0"/>
          </a:p>
        </p:txBody>
      </p:sp>
      <p:sp>
        <p:nvSpPr>
          <p:cNvPr id="24" name="Texto 145"/>
          <p:cNvSpPr txBox="1"/>
          <p:nvPr/>
        </p:nvSpPr>
        <p:spPr>
          <a:xfrm>
            <a:off x="3626282" y="3054096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Una frase con el mensaje principal para este público.</a:t>
            </a:r>
            <a:endParaRPr lang="en-US" sz="1100" dirty="0"/>
          </a:p>
        </p:txBody>
      </p:sp>
      <p:sp>
        <p:nvSpPr>
          <p:cNvPr id="25" name="Texto 146"/>
          <p:cNvSpPr txBox="1"/>
          <p:nvPr/>
        </p:nvSpPr>
        <p:spPr>
          <a:xfrm>
            <a:off x="3626282" y="3794760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Lo demostramos con</a:t>
            </a:r>
            <a:endParaRPr lang="en-US" sz="1050" dirty="0"/>
          </a:p>
        </p:txBody>
      </p:sp>
      <p:sp>
        <p:nvSpPr>
          <p:cNvPr id="26" name="Texto 147"/>
          <p:cNvSpPr txBox="1"/>
          <p:nvPr/>
        </p:nvSpPr>
        <p:spPr>
          <a:xfrm>
            <a:off x="3626282" y="4032504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Datos, testimonios o garantías que lo prueban.</a:t>
            </a:r>
            <a:endParaRPr lang="en-US" sz="1100" dirty="0"/>
          </a:p>
        </p:txBody>
      </p:sp>
      <p:sp>
        <p:nvSpPr>
          <p:cNvPr id="27" name="Texto 148"/>
          <p:cNvSpPr txBox="1"/>
          <p:nvPr/>
        </p:nvSpPr>
        <p:spPr>
          <a:xfrm>
            <a:off x="3626282" y="4773168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Le pedimos</a:t>
            </a:r>
            <a:endParaRPr lang="en-US" sz="1050" dirty="0"/>
          </a:p>
        </p:txBody>
      </p:sp>
      <p:sp>
        <p:nvSpPr>
          <p:cNvPr id="28" name="Texto 149"/>
          <p:cNvSpPr txBox="1"/>
          <p:nvPr/>
        </p:nvSpPr>
        <p:spPr>
          <a:xfrm>
            <a:off x="3626282" y="5010912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La acción concreta que esperamos.</a:t>
            </a:r>
            <a:endParaRPr lang="en-US" sz="1100" dirty="0"/>
          </a:p>
        </p:txBody>
      </p:sp>
      <p:sp>
        <p:nvSpPr>
          <p:cNvPr id="29" name="Tarjeta 150"/>
          <p:cNvSpPr/>
          <p:nvPr/>
        </p:nvSpPr>
        <p:spPr>
          <a:xfrm>
            <a:off x="6210148" y="1920240"/>
            <a:ext cx="2556434" cy="3931920"/>
          </a:xfrm>
          <a:prstGeom prst="roundRect">
            <a:avLst>
              <a:gd name="adj" fmla="val 42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0" name="Degradado cabecera 151"/>
          <p:cNvSpPr/>
          <p:nvPr/>
        </p:nvSpPr>
        <p:spPr>
          <a:xfrm>
            <a:off x="6210148" y="1920240"/>
            <a:ext cx="2556434" cy="6858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31" name="Degradado cabecera 152"/>
          <p:cNvSpPr/>
          <p:nvPr/>
        </p:nvSpPr>
        <p:spPr>
          <a:xfrm>
            <a:off x="6210148" y="2423160"/>
            <a:ext cx="2556434" cy="182880"/>
          </a:xfrm>
          <a:prstGeom prst="rect">
            <a:avLst/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32" name="Texto 153"/>
          <p:cNvSpPr txBox="1"/>
          <p:nvPr/>
        </p:nvSpPr>
        <p:spPr>
          <a:xfrm>
            <a:off x="6411316" y="2048256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Premium global</a:t>
            </a:r>
            <a:endParaRPr lang="en-US" sz="1300" dirty="0"/>
          </a:p>
        </p:txBody>
      </p:sp>
      <p:sp>
        <p:nvSpPr>
          <p:cNvPr id="33" name="Texto 154"/>
          <p:cNvSpPr txBox="1"/>
          <p:nvPr/>
        </p:nvSpPr>
        <p:spPr>
          <a:xfrm>
            <a:off x="6411316" y="2322576"/>
            <a:ext cx="21540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US, AU, CA</a:t>
            </a:r>
            <a:endParaRPr lang="en-US" sz="900" dirty="0"/>
          </a:p>
        </p:txBody>
      </p:sp>
      <p:sp>
        <p:nvSpPr>
          <p:cNvPr id="34" name="Texto 155"/>
          <p:cNvSpPr txBox="1"/>
          <p:nvPr/>
        </p:nvSpPr>
        <p:spPr>
          <a:xfrm>
            <a:off x="6411316" y="2816352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Lo decimos</a:t>
            </a:r>
            <a:endParaRPr lang="en-US" sz="1050" dirty="0"/>
          </a:p>
        </p:txBody>
      </p:sp>
      <p:sp>
        <p:nvSpPr>
          <p:cNvPr id="35" name="Texto 156"/>
          <p:cNvSpPr txBox="1"/>
          <p:nvPr/>
        </p:nvSpPr>
        <p:spPr>
          <a:xfrm>
            <a:off x="6411316" y="3054096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Una frase con el mensaje principal para este público.</a:t>
            </a:r>
            <a:endParaRPr lang="en-US" sz="1100" dirty="0"/>
          </a:p>
        </p:txBody>
      </p:sp>
      <p:sp>
        <p:nvSpPr>
          <p:cNvPr id="36" name="Texto 157"/>
          <p:cNvSpPr txBox="1"/>
          <p:nvPr/>
        </p:nvSpPr>
        <p:spPr>
          <a:xfrm>
            <a:off x="6411316" y="3794760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Lo demostramos con</a:t>
            </a:r>
            <a:endParaRPr lang="en-US" sz="1050" dirty="0"/>
          </a:p>
        </p:txBody>
      </p:sp>
      <p:sp>
        <p:nvSpPr>
          <p:cNvPr id="37" name="Texto 158"/>
          <p:cNvSpPr txBox="1"/>
          <p:nvPr/>
        </p:nvSpPr>
        <p:spPr>
          <a:xfrm>
            <a:off x="6411316" y="4032504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Datos, testimonios o garantías que lo prueban.</a:t>
            </a:r>
            <a:endParaRPr lang="en-US" sz="1100" dirty="0"/>
          </a:p>
        </p:txBody>
      </p:sp>
      <p:sp>
        <p:nvSpPr>
          <p:cNvPr id="38" name="Texto 159"/>
          <p:cNvSpPr txBox="1"/>
          <p:nvPr/>
        </p:nvSpPr>
        <p:spPr>
          <a:xfrm>
            <a:off x="6411316" y="4773168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Le pedimos</a:t>
            </a:r>
            <a:endParaRPr lang="en-US" sz="1050" dirty="0"/>
          </a:p>
        </p:txBody>
      </p:sp>
      <p:sp>
        <p:nvSpPr>
          <p:cNvPr id="39" name="Texto 160"/>
          <p:cNvSpPr txBox="1"/>
          <p:nvPr/>
        </p:nvSpPr>
        <p:spPr>
          <a:xfrm>
            <a:off x="6411316" y="5010912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La acción concreta que esperamos.</a:t>
            </a:r>
            <a:endParaRPr lang="en-US" sz="1100" dirty="0"/>
          </a:p>
        </p:txBody>
      </p:sp>
      <p:sp>
        <p:nvSpPr>
          <p:cNvPr id="40" name="Tarjeta 161"/>
          <p:cNvSpPr/>
          <p:nvPr/>
        </p:nvSpPr>
        <p:spPr>
          <a:xfrm>
            <a:off x="8995181" y="1920240"/>
            <a:ext cx="2556434" cy="3931920"/>
          </a:xfrm>
          <a:prstGeom prst="roundRect">
            <a:avLst>
              <a:gd name="adj" fmla="val 42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41" name="Degradado cabecera 162"/>
          <p:cNvSpPr/>
          <p:nvPr/>
        </p:nvSpPr>
        <p:spPr>
          <a:xfrm>
            <a:off x="8995181" y="1920240"/>
            <a:ext cx="2556434" cy="6858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42" name="Degradado cabecera 163"/>
          <p:cNvSpPr/>
          <p:nvPr/>
        </p:nvSpPr>
        <p:spPr>
          <a:xfrm>
            <a:off x="8995181" y="2423160"/>
            <a:ext cx="2556434" cy="182880"/>
          </a:xfrm>
          <a:prstGeom prst="rect">
            <a:avLst/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43" name="Texto 164"/>
          <p:cNvSpPr txBox="1"/>
          <p:nvPr/>
        </p:nvSpPr>
        <p:spPr>
          <a:xfrm>
            <a:off x="9196349" y="2048256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European trekker</a:t>
            </a:r>
            <a:endParaRPr lang="en-US" sz="1300" dirty="0"/>
          </a:p>
        </p:txBody>
      </p:sp>
      <p:sp>
        <p:nvSpPr>
          <p:cNvPr id="44" name="Texto 165"/>
          <p:cNvSpPr txBox="1"/>
          <p:nvPr/>
        </p:nvSpPr>
        <p:spPr>
          <a:xfrm>
            <a:off x="9196349" y="2322576"/>
            <a:ext cx="21540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bg1"/>
                </a:solidFill>
              </a:rPr>
              <a:t>DE, UK, IE</a:t>
            </a:r>
            <a:endParaRPr lang="en-US" sz="900" dirty="0"/>
          </a:p>
        </p:txBody>
      </p:sp>
      <p:sp>
        <p:nvSpPr>
          <p:cNvPr id="45" name="Texto 166"/>
          <p:cNvSpPr txBox="1"/>
          <p:nvPr/>
        </p:nvSpPr>
        <p:spPr>
          <a:xfrm>
            <a:off x="9196349" y="2816352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Lo decimos</a:t>
            </a:r>
            <a:endParaRPr lang="en-US" sz="1050" dirty="0"/>
          </a:p>
        </p:txBody>
      </p:sp>
      <p:sp>
        <p:nvSpPr>
          <p:cNvPr id="46" name="Texto 167"/>
          <p:cNvSpPr txBox="1"/>
          <p:nvPr/>
        </p:nvSpPr>
        <p:spPr>
          <a:xfrm>
            <a:off x="9196349" y="3054096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Una frase con el mensaje principal para este público.</a:t>
            </a:r>
            <a:endParaRPr lang="en-US" sz="1100" dirty="0"/>
          </a:p>
        </p:txBody>
      </p:sp>
      <p:sp>
        <p:nvSpPr>
          <p:cNvPr id="47" name="Texto 168"/>
          <p:cNvSpPr txBox="1"/>
          <p:nvPr/>
        </p:nvSpPr>
        <p:spPr>
          <a:xfrm>
            <a:off x="9196349" y="3794760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Lo demostramos con</a:t>
            </a:r>
            <a:endParaRPr lang="en-US" sz="1050" dirty="0"/>
          </a:p>
        </p:txBody>
      </p:sp>
      <p:sp>
        <p:nvSpPr>
          <p:cNvPr id="48" name="Texto 169"/>
          <p:cNvSpPr txBox="1"/>
          <p:nvPr/>
        </p:nvSpPr>
        <p:spPr>
          <a:xfrm>
            <a:off x="9196349" y="4032504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Datos, testimonios o garantías que lo prueban.</a:t>
            </a:r>
            <a:endParaRPr lang="en-US" sz="1100" dirty="0"/>
          </a:p>
        </p:txBody>
      </p:sp>
      <p:sp>
        <p:nvSpPr>
          <p:cNvPr id="49" name="Texto 170"/>
          <p:cNvSpPr txBox="1"/>
          <p:nvPr/>
        </p:nvSpPr>
        <p:spPr>
          <a:xfrm>
            <a:off x="9196349" y="4773168"/>
            <a:ext cx="2154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Le pedimos</a:t>
            </a:r>
            <a:endParaRPr lang="en-US" sz="1050" dirty="0"/>
          </a:p>
        </p:txBody>
      </p:sp>
      <p:sp>
        <p:nvSpPr>
          <p:cNvPr id="50" name="Texto 171"/>
          <p:cNvSpPr txBox="1"/>
          <p:nvPr/>
        </p:nvSpPr>
        <p:spPr>
          <a:xfrm>
            <a:off x="9196349" y="5010912"/>
            <a:ext cx="2154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La acción concreta que esperamos.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MENSAJE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Tres reglas para todos los</a:t>
            </a:r>
            <a:endParaRPr lang="en-US" sz="2800" dirty="0"/>
          </a:p>
        </p:txBody>
      </p:sp>
      <p:sp>
        <p:nvSpPr>
          <p:cNvPr id="4" name="Subrayado Ways 172"/>
          <p:cNvSpPr/>
          <p:nvPr/>
        </p:nvSpPr>
        <p:spPr>
          <a:xfrm rot="-90000">
            <a:off x="5539842" y="731520"/>
            <a:ext cx="1953666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mensajes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Aplican a todos los mercados y a todos los canales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Lo que no cambia, hablemos con quien hablemos.</a:t>
            </a:r>
            <a:endParaRPr lang="en-US" sz="1300" dirty="0"/>
          </a:p>
        </p:txBody>
      </p:sp>
      <p:sp>
        <p:nvSpPr>
          <p:cNvPr id="7" name="Texto 173"/>
          <p:cNvSpPr txBox="1"/>
          <p:nvPr/>
        </p:nvSpPr>
        <p:spPr>
          <a:xfrm>
            <a:off x="640080" y="233172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4800" dirty="0"/>
          </a:p>
        </p:txBody>
      </p:sp>
      <p:sp>
        <p:nvSpPr>
          <p:cNvPr id="8" name="Filete 174"/>
          <p:cNvSpPr/>
          <p:nvPr/>
        </p:nvSpPr>
        <p:spPr>
          <a:xfrm>
            <a:off x="640080" y="3200400"/>
            <a:ext cx="457200" cy="45720"/>
          </a:xfrm>
          <a:prstGeom prst="rect">
            <a:avLst/>
          </a:prstGeom>
          <a:solidFill>
            <a:srgbClr val="7AA606"/>
          </a:solidFill>
          <a:ln/>
        </p:spPr>
      </p:sp>
      <p:sp>
        <p:nvSpPr>
          <p:cNvPr id="9" name="Texto 175"/>
          <p:cNvSpPr txBox="1"/>
          <p:nvPr/>
        </p:nvSpPr>
        <p:spPr>
          <a:xfrm>
            <a:off x="640080" y="3429000"/>
            <a:ext cx="3332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Primero disponibilidad, después precio</a:t>
            </a:r>
            <a:endParaRPr lang="en-US" sz="1700" dirty="0"/>
          </a:p>
        </p:txBody>
      </p:sp>
      <p:sp>
        <p:nvSpPr>
          <p:cNvPr id="10" name="Texto 176"/>
          <p:cNvSpPr txBox="1"/>
          <p:nvPr/>
        </p:nvSpPr>
        <p:spPr>
          <a:xfrm>
            <a:off x="640080" y="41605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La urgencia se construye sobre la disponibilidad. Integer posuere erat a ante venenatis dapibus, posuere velit aliquet.</a:t>
            </a:r>
            <a:endParaRPr lang="en-US" sz="1200" dirty="0"/>
          </a:p>
        </p:txBody>
      </p:sp>
      <p:sp>
        <p:nvSpPr>
          <p:cNvPr id="11" name="Texto 177"/>
          <p:cNvSpPr txBox="1"/>
          <p:nvPr/>
        </p:nvSpPr>
        <p:spPr>
          <a:xfrm>
            <a:off x="4429658" y="233172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4800" dirty="0"/>
          </a:p>
        </p:txBody>
      </p:sp>
      <p:sp>
        <p:nvSpPr>
          <p:cNvPr id="12" name="Filete 178"/>
          <p:cNvSpPr/>
          <p:nvPr/>
        </p:nvSpPr>
        <p:spPr>
          <a:xfrm>
            <a:off x="4429658" y="3200400"/>
            <a:ext cx="457200" cy="45720"/>
          </a:xfrm>
          <a:prstGeom prst="rect">
            <a:avLst/>
          </a:prstGeom>
          <a:solidFill>
            <a:srgbClr val="7AA606"/>
          </a:solidFill>
          <a:ln/>
        </p:spPr>
      </p:sp>
      <p:sp>
        <p:nvSpPr>
          <p:cNvPr id="13" name="Texto 179"/>
          <p:cNvSpPr txBox="1"/>
          <p:nvPr/>
        </p:nvSpPr>
        <p:spPr>
          <a:xfrm>
            <a:off x="4429658" y="3429000"/>
            <a:ext cx="3332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Prueba antes que claim</a:t>
            </a:r>
            <a:endParaRPr lang="en-US" sz="1700" dirty="0"/>
          </a:p>
        </p:txBody>
      </p:sp>
      <p:sp>
        <p:nvSpPr>
          <p:cNvPr id="14" name="Texto 180"/>
          <p:cNvSpPr txBox="1"/>
          <p:nvPr/>
        </p:nvSpPr>
        <p:spPr>
          <a:xfrm>
            <a:off x="4429658" y="41605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Cada mensaje lleva un dato o un testimonio que lo respalde. Integer posuere erat a ante venenatis dapibus, posuere velit aliquet.</a:t>
            </a:r>
            <a:endParaRPr lang="en-US" sz="1200" dirty="0"/>
          </a:p>
        </p:txBody>
      </p:sp>
      <p:sp>
        <p:nvSpPr>
          <p:cNvPr id="15" name="Texto 181"/>
          <p:cNvSpPr txBox="1"/>
          <p:nvPr/>
        </p:nvSpPr>
        <p:spPr>
          <a:xfrm>
            <a:off x="8219237" y="233172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4800" dirty="0"/>
          </a:p>
        </p:txBody>
      </p:sp>
      <p:sp>
        <p:nvSpPr>
          <p:cNvPr id="16" name="Filete 182"/>
          <p:cNvSpPr/>
          <p:nvPr/>
        </p:nvSpPr>
        <p:spPr>
          <a:xfrm>
            <a:off x="8219237" y="3200400"/>
            <a:ext cx="457200" cy="45720"/>
          </a:xfrm>
          <a:prstGeom prst="rect">
            <a:avLst/>
          </a:prstGeom>
          <a:solidFill>
            <a:srgbClr val="7AA606"/>
          </a:solidFill>
          <a:ln/>
        </p:spPr>
      </p:sp>
      <p:sp>
        <p:nvSpPr>
          <p:cNvPr id="17" name="Texto 183"/>
          <p:cNvSpPr txBox="1"/>
          <p:nvPr/>
        </p:nvSpPr>
        <p:spPr>
          <a:xfrm>
            <a:off x="8219237" y="3429000"/>
            <a:ext cx="3332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 nombre lo decide el dato</a:t>
            </a:r>
            <a:endParaRPr lang="en-US" sz="1700" dirty="0"/>
          </a:p>
        </p:txBody>
      </p:sp>
      <p:sp>
        <p:nvSpPr>
          <p:cNvPr id="18" name="Texto 184"/>
          <p:cNvSpPr txBox="1"/>
          <p:nvPr/>
        </p:nvSpPr>
        <p:spPr>
          <a:xfrm>
            <a:off x="8219237" y="4160520"/>
            <a:ext cx="31494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Usamos el término que más se busca en cada país. Integer posuere erat a ante venenatis dapibus, posuere velit aliquet.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PLAN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El plan en</a:t>
            </a:r>
            <a:endParaRPr lang="en-US" sz="2800" dirty="0"/>
          </a:p>
        </p:txBody>
      </p:sp>
      <p:sp>
        <p:nvSpPr>
          <p:cNvPr id="4" name="Subrayado Ways 185"/>
          <p:cNvSpPr/>
          <p:nvPr/>
        </p:nvSpPr>
        <p:spPr>
          <a:xfrm rot="-90000">
            <a:off x="2578405" y="731520"/>
            <a:ext cx="2258416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cinco fases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Cada fase del embudo tiene un objetivo propio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Cada fase tiene su objetivo y sus acciones.</a:t>
            </a:r>
            <a:endParaRPr lang="en-US" sz="1300" dirty="0"/>
          </a:p>
        </p:txBody>
      </p:sp>
      <p:sp>
        <p:nvSpPr>
          <p:cNvPr id="7" name="Degradado 186"/>
          <p:cNvSpPr/>
          <p:nvPr/>
        </p:nvSpPr>
        <p:spPr>
          <a:xfrm>
            <a:off x="640080" y="1965960"/>
            <a:ext cx="10058400" cy="603504"/>
          </a:xfrm>
          <a:prstGeom prst="roundRect">
            <a:avLst>
              <a:gd name="adj" fmla="val 15152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8" name="Texto 187"/>
          <p:cNvSpPr txBox="1"/>
          <p:nvPr/>
        </p:nvSpPr>
        <p:spPr>
          <a:xfrm>
            <a:off x="914400" y="2148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01 · Posicionamiento</a:t>
            </a:r>
            <a:endParaRPr lang="en-US" sz="1200" dirty="0"/>
          </a:p>
        </p:txBody>
      </p:sp>
      <p:sp>
        <p:nvSpPr>
          <p:cNvPr id="9" name="Texto 188"/>
          <p:cNvSpPr txBox="1"/>
          <p:nvPr/>
        </p:nvSpPr>
        <p:spPr>
          <a:xfrm>
            <a:off x="3154680" y="214884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Que cada mercado sepa por qué 2027 es especial</a:t>
            </a:r>
            <a:endParaRPr lang="en-US" sz="1200" dirty="0"/>
          </a:p>
        </p:txBody>
      </p:sp>
      <p:sp>
        <p:nvSpPr>
          <p:cNvPr id="10" name="Degradado 189"/>
          <p:cNvSpPr/>
          <p:nvPr/>
        </p:nvSpPr>
        <p:spPr>
          <a:xfrm>
            <a:off x="1165860" y="2724912"/>
            <a:ext cx="9006840" cy="603504"/>
          </a:xfrm>
          <a:prstGeom prst="roundRect">
            <a:avLst>
              <a:gd name="adj" fmla="val 15152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11" name="Texto 190"/>
          <p:cNvSpPr txBox="1"/>
          <p:nvPr/>
        </p:nvSpPr>
        <p:spPr>
          <a:xfrm>
            <a:off x="1440180" y="2907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02 · Captación</a:t>
            </a:r>
            <a:endParaRPr lang="en-US" sz="1200" dirty="0"/>
          </a:p>
        </p:txBody>
      </p:sp>
      <p:sp>
        <p:nvSpPr>
          <p:cNvPr id="12" name="Texto 191"/>
          <p:cNvSpPr txBox="1"/>
          <p:nvPr/>
        </p:nvSpPr>
        <p:spPr>
          <a:xfrm>
            <a:off x="3680460" y="290779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Convertir esa intención en contactos</a:t>
            </a:r>
            <a:endParaRPr lang="en-US" sz="1200" dirty="0"/>
          </a:p>
        </p:txBody>
      </p:sp>
      <p:sp>
        <p:nvSpPr>
          <p:cNvPr id="13" name="Degradado 192"/>
          <p:cNvSpPr/>
          <p:nvPr/>
        </p:nvSpPr>
        <p:spPr>
          <a:xfrm>
            <a:off x="1691640" y="3483864"/>
            <a:ext cx="7955280" cy="603504"/>
          </a:xfrm>
          <a:prstGeom prst="roundRect">
            <a:avLst>
              <a:gd name="adj" fmla="val 15152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14" name="Texto 193"/>
          <p:cNvSpPr txBox="1"/>
          <p:nvPr/>
        </p:nvSpPr>
        <p:spPr>
          <a:xfrm>
            <a:off x="1965960" y="3666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03 · Conversión</a:t>
            </a:r>
            <a:endParaRPr lang="en-US" sz="1200" dirty="0"/>
          </a:p>
        </p:txBody>
      </p:sp>
      <p:sp>
        <p:nvSpPr>
          <p:cNvPr id="15" name="Texto 194"/>
          <p:cNvSpPr txBox="1"/>
          <p:nvPr/>
        </p:nvSpPr>
        <p:spPr>
          <a:xfrm>
            <a:off x="4206240" y="366674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Ayudar a decidir y reservar</a:t>
            </a:r>
            <a:endParaRPr lang="en-US" sz="1200" dirty="0"/>
          </a:p>
        </p:txBody>
      </p:sp>
      <p:sp>
        <p:nvSpPr>
          <p:cNvPr id="16" name="Degradado 195"/>
          <p:cNvSpPr/>
          <p:nvPr/>
        </p:nvSpPr>
        <p:spPr>
          <a:xfrm>
            <a:off x="2217420" y="4242816"/>
            <a:ext cx="6903720" cy="603504"/>
          </a:xfrm>
          <a:prstGeom prst="roundRect">
            <a:avLst>
              <a:gd name="adj" fmla="val 15152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17" name="Texto 196"/>
          <p:cNvSpPr txBox="1"/>
          <p:nvPr/>
        </p:nvSpPr>
        <p:spPr>
          <a:xfrm>
            <a:off x="249174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04 · CRM</a:t>
            </a:r>
            <a:endParaRPr lang="en-US" sz="1200" dirty="0"/>
          </a:p>
        </p:txBody>
      </p:sp>
      <p:sp>
        <p:nvSpPr>
          <p:cNvPr id="18" name="Texto 197"/>
          <p:cNvSpPr txBox="1"/>
          <p:nvPr/>
        </p:nvSpPr>
        <p:spPr>
          <a:xfrm>
            <a:off x="4732020" y="44256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Reactivar a clientes y contactos anteriores</a:t>
            </a:r>
            <a:endParaRPr lang="en-US" sz="1200" dirty="0"/>
          </a:p>
        </p:txBody>
      </p:sp>
      <p:sp>
        <p:nvSpPr>
          <p:cNvPr id="19" name="Tarjeta 198"/>
          <p:cNvSpPr/>
          <p:nvPr/>
        </p:nvSpPr>
        <p:spPr>
          <a:xfrm>
            <a:off x="2743200" y="5001768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2E2E2D"/>
          </a:solidFill>
          <a:ln/>
        </p:spPr>
      </p:sp>
      <p:sp>
        <p:nvSpPr>
          <p:cNvPr id="20" name="Texto 199"/>
          <p:cNvSpPr txBox="1"/>
          <p:nvPr/>
        </p:nvSpPr>
        <p:spPr>
          <a:xfrm>
            <a:off x="3017520" y="5184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05 · Fidelización</a:t>
            </a:r>
            <a:endParaRPr lang="en-US" sz="1200" dirty="0"/>
          </a:p>
        </p:txBody>
      </p:sp>
      <p:sp>
        <p:nvSpPr>
          <p:cNvPr id="21" name="Texto 200"/>
          <p:cNvSpPr txBox="1"/>
          <p:nvPr/>
        </p:nvSpPr>
        <p:spPr>
          <a:xfrm>
            <a:off x="5257800" y="5184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Que el viaje salga bien y se recomiende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PROPÓSITO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Misión y visión</a:t>
            </a:r>
            <a:endParaRPr lang="en-US" sz="28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La misión dice qué hacemos hoy; la visión, hacia dónde crecemos</a:t>
            </a:r>
            <a:endParaRPr lang="en-US" sz="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Dos mensajes que conviene leer juntos.</a:t>
            </a:r>
            <a:endParaRPr lang="en-US" sz="1300" dirty="0"/>
          </a:p>
        </p:txBody>
      </p:sp>
      <p:sp>
        <p:nvSpPr>
          <p:cNvPr id="6" name="Tarjeta 201"/>
          <p:cNvSpPr/>
          <p:nvPr/>
        </p:nvSpPr>
        <p:spPr>
          <a:xfrm>
            <a:off x="640080" y="1874520"/>
            <a:ext cx="531860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7" name="Etiqueta 202"/>
          <p:cNvSpPr/>
          <p:nvPr/>
        </p:nvSpPr>
        <p:spPr>
          <a:xfrm>
            <a:off x="1005840" y="2240280"/>
            <a:ext cx="691103" cy="219456"/>
          </a:xfrm>
          <a:prstGeom prst="roundRect">
            <a:avLst>
              <a:gd name="adj" fmla="val 20833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</a:rPr>
              <a:t>MISIÓN</a:t>
            </a:r>
            <a:endParaRPr lang="en-US" sz="850" dirty="0"/>
          </a:p>
        </p:txBody>
      </p:sp>
      <p:sp>
        <p:nvSpPr>
          <p:cNvPr id="8" name="Texto 203"/>
          <p:cNvSpPr txBox="1"/>
          <p:nvPr/>
        </p:nvSpPr>
        <p:spPr>
          <a:xfrm>
            <a:off x="1005840" y="265176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Por qué existimos</a:t>
            </a:r>
            <a:endParaRPr lang="en-US" sz="1200" dirty="0"/>
          </a:p>
        </p:txBody>
      </p:sp>
      <p:sp>
        <p:nvSpPr>
          <p:cNvPr id="9" name="Texto 204"/>
          <p:cNvSpPr txBox="1"/>
          <p:nvPr/>
        </p:nvSpPr>
        <p:spPr>
          <a:xfrm>
            <a:off x="1005840" y="3063240"/>
            <a:ext cx="45870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Ayudar a personas de todo el mundo a descubrir y vivir la riqueza del Camino de Santiago, con confort, autonomía y cuidado personal.</a:t>
            </a:r>
            <a:endParaRPr lang="en-US" sz="1900" dirty="0"/>
          </a:p>
        </p:txBody>
      </p:sp>
      <p:sp>
        <p:nvSpPr>
          <p:cNvPr id="10" name="Degradado 205"/>
          <p:cNvSpPr/>
          <p:nvPr/>
        </p:nvSpPr>
        <p:spPr>
          <a:xfrm>
            <a:off x="6233008" y="1874520"/>
            <a:ext cx="5318608" cy="329184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1" name="Etiqueta 206"/>
          <p:cNvSpPr/>
          <p:nvPr/>
        </p:nvSpPr>
        <p:spPr>
          <a:xfrm>
            <a:off x="6598768" y="2240280"/>
            <a:ext cx="6640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06718"/>
                </a:solidFill>
              </a:rPr>
              <a:t>VISIÓN</a:t>
            </a:r>
            <a:endParaRPr lang="en-US" sz="850" dirty="0"/>
          </a:p>
        </p:txBody>
      </p:sp>
      <p:sp>
        <p:nvSpPr>
          <p:cNvPr id="12" name="Texto 207"/>
          <p:cNvSpPr txBox="1"/>
          <p:nvPr/>
        </p:nvSpPr>
        <p:spPr>
          <a:xfrm>
            <a:off x="6598768" y="2651760"/>
            <a:ext cx="458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Adónde vamos</a:t>
            </a:r>
            <a:endParaRPr lang="en-US" sz="1200" dirty="0"/>
          </a:p>
        </p:txBody>
      </p:sp>
      <p:sp>
        <p:nvSpPr>
          <p:cNvPr id="13" name="Texto 208"/>
          <p:cNvSpPr txBox="1"/>
          <p:nvPr/>
        </p:nvSpPr>
        <p:spPr>
          <a:xfrm>
            <a:off x="6598768" y="3063240"/>
            <a:ext cx="45870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chemeClr val="bg1"/>
                </a:solidFill>
              </a:rPr>
              <a:t>Ser la marca de referencia internacional del Camino de Santiago organizado, inspirando a descubrir todas sus posibilidades.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PUNTO DE PARTIDA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De dónde partimos y qué cambia</a:t>
            </a:r>
            <a:endParaRPr lang="en-US" sz="28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Conservamos lo que funciona, corregimos lo que confunde y construimos lo que falta</a:t>
            </a:r>
            <a:endParaRPr lang="en-US" sz="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Tres columnas para ordenar un cambio.</a:t>
            </a:r>
            <a:endParaRPr lang="en-US" sz="1300" dirty="0"/>
          </a:p>
        </p:txBody>
      </p:sp>
      <p:sp>
        <p:nvSpPr>
          <p:cNvPr id="6" name="Tarjeta 209"/>
          <p:cNvSpPr/>
          <p:nvPr/>
        </p:nvSpPr>
        <p:spPr>
          <a:xfrm>
            <a:off x="640080" y="1874520"/>
            <a:ext cx="3484778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7" name="Degradado cabecera 210"/>
          <p:cNvSpPr/>
          <p:nvPr/>
        </p:nvSpPr>
        <p:spPr>
          <a:xfrm>
            <a:off x="640080" y="1874520"/>
            <a:ext cx="3484778" cy="777240"/>
          </a:xfrm>
          <a:prstGeom prst="roundRect">
            <a:avLst>
              <a:gd name="adj" fmla="val 14118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8" name="Degradado cabecera 211"/>
          <p:cNvSpPr/>
          <p:nvPr/>
        </p:nvSpPr>
        <p:spPr>
          <a:xfrm>
            <a:off x="640080" y="2423160"/>
            <a:ext cx="3484778" cy="228600"/>
          </a:xfrm>
          <a:prstGeom prst="rect">
            <a:avLst/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9" name="Texto 212"/>
          <p:cNvSpPr txBox="1"/>
          <p:nvPr/>
        </p:nvSpPr>
        <p:spPr>
          <a:xfrm>
            <a:off x="868680" y="1993392"/>
            <a:ext cx="30275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01  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Conservamos</a:t>
            </a:r>
            <a:endParaRPr lang="en-US" sz="1200" dirty="0"/>
          </a:p>
        </p:txBody>
      </p:sp>
      <p:sp>
        <p:nvSpPr>
          <p:cNvPr id="10" name="Texto 213"/>
          <p:cNvSpPr txBox="1"/>
          <p:nvPr/>
        </p:nvSpPr>
        <p:spPr>
          <a:xfrm>
            <a:off x="1152144" y="2350008"/>
            <a:ext cx="2753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Lo que ya funciona</a:t>
            </a:r>
            <a:endParaRPr lang="en-US" sz="1000" dirty="0"/>
          </a:p>
        </p:txBody>
      </p:sp>
      <p:sp>
        <p:nvSpPr>
          <p:cNvPr id="11" name="Check 214"/>
          <p:cNvSpPr/>
          <p:nvPr/>
        </p:nvSpPr>
        <p:spPr>
          <a:xfrm>
            <a:off x="868680" y="2944368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12" name="Icono 215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879" y="2978567"/>
            <a:ext cx="132771" cy="132771"/>
          </a:xfrm>
          <a:prstGeom prst="rect">
            <a:avLst/>
          </a:prstGeom>
        </p:spPr>
      </p:pic>
      <p:sp>
        <p:nvSpPr>
          <p:cNvPr id="13" name="Texto 216"/>
          <p:cNvSpPr txBox="1"/>
          <p:nvPr/>
        </p:nvSpPr>
        <p:spPr>
          <a:xfrm>
            <a:off x="1188720" y="2926080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El verde Ways, ya reconocido.</a:t>
            </a:r>
            <a:endParaRPr lang="en-US" sz="1200" dirty="0"/>
          </a:p>
        </p:txBody>
      </p:sp>
      <p:sp>
        <p:nvSpPr>
          <p:cNvPr id="14" name="Check 217"/>
          <p:cNvSpPr/>
          <p:nvPr/>
        </p:nvSpPr>
        <p:spPr>
          <a:xfrm>
            <a:off x="868680" y="3511296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15" name="Icono 218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79" y="3545495"/>
            <a:ext cx="132771" cy="132771"/>
          </a:xfrm>
          <a:prstGeom prst="rect">
            <a:avLst/>
          </a:prstGeom>
        </p:spPr>
      </p:pic>
      <p:sp>
        <p:nvSpPr>
          <p:cNvPr id="16" name="Texto 219"/>
          <p:cNvSpPr txBox="1"/>
          <p:nvPr/>
        </p:nvSpPr>
        <p:spPr>
          <a:xfrm>
            <a:off x="1188720" y="3493008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El isotipo de la concha.</a:t>
            </a:r>
            <a:endParaRPr lang="en-US" sz="1200" dirty="0"/>
          </a:p>
        </p:txBody>
      </p:sp>
      <p:sp>
        <p:nvSpPr>
          <p:cNvPr id="17" name="Check 220"/>
          <p:cNvSpPr/>
          <p:nvPr/>
        </p:nvSpPr>
        <p:spPr>
          <a:xfrm>
            <a:off x="868680" y="4078224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18" name="Icono 221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79" y="4112423"/>
            <a:ext cx="132771" cy="132771"/>
          </a:xfrm>
          <a:prstGeom prst="rect">
            <a:avLst/>
          </a:prstGeom>
        </p:spPr>
      </p:pic>
      <p:sp>
        <p:nvSpPr>
          <p:cNvPr id="19" name="Texto 222"/>
          <p:cNvSpPr txBox="1"/>
          <p:nvPr/>
        </p:nvSpPr>
        <p:spPr>
          <a:xfrm>
            <a:off x="1188720" y="4059936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El logo actual.</a:t>
            </a:r>
            <a:endParaRPr lang="en-US" sz="1200" dirty="0"/>
          </a:p>
        </p:txBody>
      </p:sp>
      <p:sp>
        <p:nvSpPr>
          <p:cNvPr id="20" name="Check 223"/>
          <p:cNvSpPr/>
          <p:nvPr/>
        </p:nvSpPr>
        <p:spPr>
          <a:xfrm>
            <a:off x="868680" y="4645152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21" name="Icono 224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879" y="4679351"/>
            <a:ext cx="132771" cy="132771"/>
          </a:xfrm>
          <a:prstGeom prst="rect">
            <a:avLst/>
          </a:prstGeom>
        </p:spPr>
      </p:pic>
      <p:sp>
        <p:nvSpPr>
          <p:cNvPr id="22" name="Texto 225"/>
          <p:cNvSpPr txBox="1"/>
          <p:nvPr/>
        </p:nvSpPr>
        <p:spPr>
          <a:xfrm>
            <a:off x="1188720" y="4626864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La jerarquía de dos verdes.</a:t>
            </a:r>
            <a:endParaRPr lang="en-US" sz="1200" dirty="0"/>
          </a:p>
        </p:txBody>
      </p:sp>
      <p:sp>
        <p:nvSpPr>
          <p:cNvPr id="23" name="Tarjeta 226"/>
          <p:cNvSpPr/>
          <p:nvPr/>
        </p:nvSpPr>
        <p:spPr>
          <a:xfrm>
            <a:off x="4353458" y="1874520"/>
            <a:ext cx="3484778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4" name="Cabecera 227"/>
          <p:cNvSpPr/>
          <p:nvPr/>
        </p:nvSpPr>
        <p:spPr>
          <a:xfrm>
            <a:off x="4353458" y="1874520"/>
            <a:ext cx="3484778" cy="777240"/>
          </a:xfrm>
          <a:prstGeom prst="roundRect">
            <a:avLst>
              <a:gd name="adj" fmla="val 14118"/>
            </a:avLst>
          </a:prstGeom>
          <a:solidFill>
            <a:srgbClr val="506718"/>
          </a:solidFill>
          <a:ln/>
        </p:spPr>
      </p:sp>
      <p:sp>
        <p:nvSpPr>
          <p:cNvPr id="25" name="Cabecera 228"/>
          <p:cNvSpPr/>
          <p:nvPr/>
        </p:nvSpPr>
        <p:spPr>
          <a:xfrm>
            <a:off x="4353458" y="2423160"/>
            <a:ext cx="3484778" cy="228600"/>
          </a:xfrm>
          <a:prstGeom prst="rect">
            <a:avLst/>
          </a:prstGeom>
          <a:solidFill>
            <a:srgbClr val="506718"/>
          </a:solidFill>
          <a:ln/>
        </p:spPr>
      </p:sp>
      <p:sp>
        <p:nvSpPr>
          <p:cNvPr id="26" name="Texto 229"/>
          <p:cNvSpPr txBox="1"/>
          <p:nvPr/>
        </p:nvSpPr>
        <p:spPr>
          <a:xfrm>
            <a:off x="4582058" y="1993392"/>
            <a:ext cx="30275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02  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Corregimos</a:t>
            </a:r>
            <a:endParaRPr lang="en-US" sz="1200" dirty="0"/>
          </a:p>
        </p:txBody>
      </p:sp>
      <p:sp>
        <p:nvSpPr>
          <p:cNvPr id="27" name="Texto 230"/>
          <p:cNvSpPr txBox="1"/>
          <p:nvPr/>
        </p:nvSpPr>
        <p:spPr>
          <a:xfrm>
            <a:off x="4865522" y="2350008"/>
            <a:ext cx="2753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Lo que hoy falla</a:t>
            </a:r>
            <a:endParaRPr lang="en-US" sz="1000" dirty="0"/>
          </a:p>
        </p:txBody>
      </p:sp>
      <p:pic>
        <p:nvPicPr>
          <p:cNvPr id="28" name="Icono 231" descr="/tmp/claude-0/-home-user-pruebas-brandbook-/fbbf11e7-4add-5196-9360-974883348c29/scratchpad/ppt2/icons/TbArrowRight-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4626" y="2916936"/>
            <a:ext cx="246888" cy="246888"/>
          </a:xfrm>
          <a:prstGeom prst="rect">
            <a:avLst/>
          </a:prstGeom>
        </p:spPr>
      </p:pic>
      <p:sp>
        <p:nvSpPr>
          <p:cNvPr id="29" name="Texto 232"/>
          <p:cNvSpPr txBox="1"/>
          <p:nvPr/>
        </p:nvSpPr>
        <p:spPr>
          <a:xfrm>
            <a:off x="4902098" y="2926080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Ratio 50/30/10 entre colores.</a:t>
            </a:r>
            <a:endParaRPr lang="en-US" sz="1200" dirty="0"/>
          </a:p>
        </p:txBody>
      </p:sp>
      <p:pic>
        <p:nvPicPr>
          <p:cNvPr id="30" name="Icono 233" descr="/tmp/claude-0/-home-user-pruebas-brandbook-/fbbf11e7-4add-5196-9360-974883348c29/scratchpad/ppt2/icons/TbArrowRight-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4626" y="3483864"/>
            <a:ext cx="246888" cy="246888"/>
          </a:xfrm>
          <a:prstGeom prst="rect">
            <a:avLst/>
          </a:prstGeom>
        </p:spPr>
      </p:pic>
      <p:sp>
        <p:nvSpPr>
          <p:cNvPr id="31" name="Texto 234"/>
          <p:cNvSpPr txBox="1"/>
          <p:nvPr/>
        </p:nvSpPr>
        <p:spPr>
          <a:xfrm>
            <a:off x="4902098" y="3493008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Montserrat en todas las piezas.</a:t>
            </a:r>
            <a:endParaRPr lang="en-US" sz="1200" dirty="0"/>
          </a:p>
        </p:txBody>
      </p:sp>
      <p:pic>
        <p:nvPicPr>
          <p:cNvPr id="32" name="Icono 235" descr="/tmp/claude-0/-home-user-pruebas-brandbook-/fbbf11e7-4add-5196-9360-974883348c29/scratchpad/ppt2/icons/TbArrowRight-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4626" y="4050792"/>
            <a:ext cx="246888" cy="246888"/>
          </a:xfrm>
          <a:prstGeom prst="rect">
            <a:avLst/>
          </a:prstGeom>
        </p:spPr>
      </p:pic>
      <p:sp>
        <p:nvSpPr>
          <p:cNvPr id="33" name="Texto 236"/>
          <p:cNvSpPr txBox="1"/>
          <p:nvPr/>
        </p:nvSpPr>
        <p:spPr>
          <a:xfrm>
            <a:off x="4902098" y="4059936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Paleta cerrada y códigos únicos.</a:t>
            </a:r>
            <a:endParaRPr lang="en-US" sz="1200" dirty="0"/>
          </a:p>
        </p:txBody>
      </p:sp>
      <p:sp>
        <p:nvSpPr>
          <p:cNvPr id="34" name="Tarjeta 237"/>
          <p:cNvSpPr/>
          <p:nvPr/>
        </p:nvSpPr>
        <p:spPr>
          <a:xfrm>
            <a:off x="8066837" y="1874520"/>
            <a:ext cx="3484778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5" name="Cabecera 238"/>
          <p:cNvSpPr/>
          <p:nvPr/>
        </p:nvSpPr>
        <p:spPr>
          <a:xfrm>
            <a:off x="8066837" y="1874520"/>
            <a:ext cx="3484778" cy="777240"/>
          </a:xfrm>
          <a:prstGeom prst="roundRect">
            <a:avLst>
              <a:gd name="adj" fmla="val 14118"/>
            </a:avLst>
          </a:prstGeom>
          <a:solidFill>
            <a:srgbClr val="2E2E2D"/>
          </a:solidFill>
          <a:ln/>
        </p:spPr>
      </p:sp>
      <p:sp>
        <p:nvSpPr>
          <p:cNvPr id="36" name="Cabecera 239"/>
          <p:cNvSpPr/>
          <p:nvPr/>
        </p:nvSpPr>
        <p:spPr>
          <a:xfrm>
            <a:off x="8066837" y="2423160"/>
            <a:ext cx="3484778" cy="228600"/>
          </a:xfrm>
          <a:prstGeom prst="rect">
            <a:avLst/>
          </a:prstGeom>
          <a:solidFill>
            <a:srgbClr val="2E2E2D"/>
          </a:solidFill>
          <a:ln/>
        </p:spPr>
      </p:sp>
      <p:sp>
        <p:nvSpPr>
          <p:cNvPr id="37" name="Texto 240"/>
          <p:cNvSpPr txBox="1"/>
          <p:nvPr/>
        </p:nvSpPr>
        <p:spPr>
          <a:xfrm>
            <a:off x="8295437" y="1993392"/>
            <a:ext cx="30275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03  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Construimos</a:t>
            </a:r>
            <a:endParaRPr lang="en-US" sz="1200" dirty="0"/>
          </a:p>
        </p:txBody>
      </p:sp>
      <p:sp>
        <p:nvSpPr>
          <p:cNvPr id="38" name="Texto 241"/>
          <p:cNvSpPr txBox="1"/>
          <p:nvPr/>
        </p:nvSpPr>
        <p:spPr>
          <a:xfrm>
            <a:off x="8578901" y="2350008"/>
            <a:ext cx="2753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Lo que falta</a:t>
            </a:r>
            <a:endParaRPr lang="en-US" sz="1000" dirty="0"/>
          </a:p>
        </p:txBody>
      </p:sp>
      <p:pic>
        <p:nvPicPr>
          <p:cNvPr id="39" name="Icono 242" descr="/tmp/claude-0/-home-user-pruebas-brandbook-/fbbf11e7-4add-5196-9360-974883348c29/scratchpad/ppt2/icons/TbArrowRight-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8005" y="2916936"/>
            <a:ext cx="246888" cy="246888"/>
          </a:xfrm>
          <a:prstGeom prst="rect">
            <a:avLst/>
          </a:prstGeom>
        </p:spPr>
      </p:pic>
      <p:sp>
        <p:nvSpPr>
          <p:cNvPr id="40" name="Texto 243"/>
          <p:cNvSpPr txBox="1"/>
          <p:nvPr/>
        </p:nvSpPr>
        <p:spPr>
          <a:xfrm>
            <a:off x="8615477" y="2926080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Reglas comunes para todas las piezas.</a:t>
            </a:r>
            <a:endParaRPr lang="en-US" sz="1200" dirty="0"/>
          </a:p>
        </p:txBody>
      </p:sp>
      <p:pic>
        <p:nvPicPr>
          <p:cNvPr id="41" name="Icono 244" descr="/tmp/claude-0/-home-user-pruebas-brandbook-/fbbf11e7-4add-5196-9360-974883348c29/scratchpad/ppt2/icons/TbArrowRight-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8005" y="3483864"/>
            <a:ext cx="246888" cy="246888"/>
          </a:xfrm>
          <a:prstGeom prst="rect">
            <a:avLst/>
          </a:prstGeom>
        </p:spPr>
      </p:pic>
      <p:sp>
        <p:nvSpPr>
          <p:cNvPr id="42" name="Texto 245"/>
          <p:cNvSpPr txBox="1"/>
          <p:nvPr/>
        </p:nvSpPr>
        <p:spPr>
          <a:xfrm>
            <a:off x="8615477" y="3493008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Un bloque propio para la imagen.</a:t>
            </a:r>
            <a:endParaRPr lang="en-US" sz="1200" dirty="0"/>
          </a:p>
        </p:txBody>
      </p:sp>
      <p:pic>
        <p:nvPicPr>
          <p:cNvPr id="43" name="Icono 246" descr="/tmp/claude-0/-home-user-pruebas-brandbook-/fbbf11e7-4add-5196-9360-974883348c29/scratchpad/ppt2/icons/TbArrowRight-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68005" y="4050792"/>
            <a:ext cx="246888" cy="246888"/>
          </a:xfrm>
          <a:prstGeom prst="rect">
            <a:avLst/>
          </a:prstGeom>
        </p:spPr>
      </p:pic>
      <p:sp>
        <p:nvSpPr>
          <p:cNvPr id="44" name="Texto 247"/>
          <p:cNvSpPr txBox="1"/>
          <p:nvPr/>
        </p:nvSpPr>
        <p:spPr>
          <a:xfrm>
            <a:off x="8615477" y="4059936"/>
            <a:ext cx="2707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Plantillas por canal.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VALORES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Siete valores, una forma de hacer el Camino</a:t>
            </a:r>
            <a:endParaRPr lang="en-US" sz="28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Cada valor, traducido a lo que implica para Santiago Ways</a:t>
            </a:r>
            <a:endParaRPr lang="en-US" sz="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Siete tarjetas y una foto: una rejilla para listas de 6 a 8 elementos.</a:t>
            </a:r>
            <a:endParaRPr lang="en-US" sz="1300" dirty="0"/>
          </a:p>
        </p:txBody>
      </p:sp>
      <p:sp>
        <p:nvSpPr>
          <p:cNvPr id="6" name="Tarjeta 248"/>
          <p:cNvSpPr/>
          <p:nvPr/>
        </p:nvSpPr>
        <p:spPr>
          <a:xfrm>
            <a:off x="640080" y="1874520"/>
            <a:ext cx="257700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7" name="Texto 249"/>
          <p:cNvSpPr txBox="1"/>
          <p:nvPr/>
        </p:nvSpPr>
        <p:spPr>
          <a:xfrm>
            <a:off x="868680" y="2075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o 250"/>
          <p:cNvSpPr txBox="1"/>
          <p:nvPr/>
        </p:nvSpPr>
        <p:spPr>
          <a:xfrm>
            <a:off x="868680" y="2496312"/>
            <a:ext cx="211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Dedicación al Camino</a:t>
            </a:r>
            <a:endParaRPr lang="en-US" sz="1300" dirty="0"/>
          </a:p>
        </p:txBody>
      </p:sp>
      <p:sp>
        <p:nvSpPr>
          <p:cNvPr id="9" name="Texto 251"/>
          <p:cNvSpPr txBox="1"/>
          <p:nvPr/>
        </p:nvSpPr>
        <p:spPr>
          <a:xfrm>
            <a:off x="868680" y="3063240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Una línea que explica el valor.</a:t>
            </a:r>
            <a:endParaRPr lang="en-US" sz="1050" dirty="0"/>
          </a:p>
        </p:txBody>
      </p:sp>
      <p:sp>
        <p:nvSpPr>
          <p:cNvPr id="10" name="Tarjeta 252"/>
          <p:cNvSpPr/>
          <p:nvPr/>
        </p:nvSpPr>
        <p:spPr>
          <a:xfrm>
            <a:off x="3418256" y="1874520"/>
            <a:ext cx="257700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1" name="Texto 253"/>
          <p:cNvSpPr txBox="1"/>
          <p:nvPr/>
        </p:nvSpPr>
        <p:spPr>
          <a:xfrm>
            <a:off x="3646856" y="2075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o 254"/>
          <p:cNvSpPr txBox="1"/>
          <p:nvPr/>
        </p:nvSpPr>
        <p:spPr>
          <a:xfrm>
            <a:off x="3646856" y="2496312"/>
            <a:ext cx="211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Cuidado de las personas</a:t>
            </a:r>
            <a:endParaRPr lang="en-US" sz="1300" dirty="0"/>
          </a:p>
        </p:txBody>
      </p:sp>
      <p:sp>
        <p:nvSpPr>
          <p:cNvPr id="13" name="Texto 255"/>
          <p:cNvSpPr txBox="1"/>
          <p:nvPr/>
        </p:nvSpPr>
        <p:spPr>
          <a:xfrm>
            <a:off x="3646856" y="3063240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Una línea que explica el valor.</a:t>
            </a:r>
            <a:endParaRPr lang="en-US" sz="1050" dirty="0"/>
          </a:p>
        </p:txBody>
      </p:sp>
      <p:sp>
        <p:nvSpPr>
          <p:cNvPr id="14" name="Tarjeta 256"/>
          <p:cNvSpPr/>
          <p:nvPr/>
        </p:nvSpPr>
        <p:spPr>
          <a:xfrm>
            <a:off x="6196432" y="1874520"/>
            <a:ext cx="257700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5" name="Texto 257"/>
          <p:cNvSpPr txBox="1"/>
          <p:nvPr/>
        </p:nvSpPr>
        <p:spPr>
          <a:xfrm>
            <a:off x="6425032" y="2075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o 258"/>
          <p:cNvSpPr txBox="1"/>
          <p:nvPr/>
        </p:nvSpPr>
        <p:spPr>
          <a:xfrm>
            <a:off x="6425032" y="2496312"/>
            <a:ext cx="211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Raíces locales, mirada internacional</a:t>
            </a:r>
            <a:endParaRPr lang="en-US" sz="1300" dirty="0"/>
          </a:p>
        </p:txBody>
      </p:sp>
      <p:sp>
        <p:nvSpPr>
          <p:cNvPr id="17" name="Texto 259"/>
          <p:cNvSpPr txBox="1"/>
          <p:nvPr/>
        </p:nvSpPr>
        <p:spPr>
          <a:xfrm>
            <a:off x="6425032" y="3063240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Una línea que explica el valor.</a:t>
            </a:r>
            <a:endParaRPr lang="en-US" sz="1050" dirty="0"/>
          </a:p>
        </p:txBody>
      </p:sp>
      <p:sp>
        <p:nvSpPr>
          <p:cNvPr id="18" name="Tarjeta 260"/>
          <p:cNvSpPr/>
          <p:nvPr/>
        </p:nvSpPr>
        <p:spPr>
          <a:xfrm>
            <a:off x="8974607" y="1874520"/>
            <a:ext cx="257700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9" name="Texto 261"/>
          <p:cNvSpPr txBox="1"/>
          <p:nvPr/>
        </p:nvSpPr>
        <p:spPr>
          <a:xfrm>
            <a:off x="9203207" y="2075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o 262"/>
          <p:cNvSpPr txBox="1"/>
          <p:nvPr/>
        </p:nvSpPr>
        <p:spPr>
          <a:xfrm>
            <a:off x="9203207" y="2496312"/>
            <a:ext cx="211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Bienestar en movimiento</a:t>
            </a:r>
            <a:endParaRPr lang="en-US" sz="1300" dirty="0"/>
          </a:p>
        </p:txBody>
      </p:sp>
      <p:sp>
        <p:nvSpPr>
          <p:cNvPr id="21" name="Texto 263"/>
          <p:cNvSpPr txBox="1"/>
          <p:nvPr/>
        </p:nvSpPr>
        <p:spPr>
          <a:xfrm>
            <a:off x="9203207" y="3063240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Una línea que explica el valor.</a:t>
            </a:r>
            <a:endParaRPr lang="en-US" sz="1050" dirty="0"/>
          </a:p>
        </p:txBody>
      </p:sp>
      <p:sp>
        <p:nvSpPr>
          <p:cNvPr id="22" name="Tarjeta 264"/>
          <p:cNvSpPr/>
          <p:nvPr/>
        </p:nvSpPr>
        <p:spPr>
          <a:xfrm>
            <a:off x="640080" y="3904488"/>
            <a:ext cx="257700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3" name="Texto 265"/>
          <p:cNvSpPr txBox="1"/>
          <p:nvPr/>
        </p:nvSpPr>
        <p:spPr>
          <a:xfrm>
            <a:off x="868680" y="410565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2000" dirty="0"/>
          </a:p>
        </p:txBody>
      </p:sp>
      <p:sp>
        <p:nvSpPr>
          <p:cNvPr id="24" name="Texto 266"/>
          <p:cNvSpPr txBox="1"/>
          <p:nvPr/>
        </p:nvSpPr>
        <p:spPr>
          <a:xfrm>
            <a:off x="868680" y="4526280"/>
            <a:ext cx="211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Respeto por el territorio</a:t>
            </a:r>
            <a:endParaRPr lang="en-US" sz="1300" dirty="0"/>
          </a:p>
        </p:txBody>
      </p:sp>
      <p:sp>
        <p:nvSpPr>
          <p:cNvPr id="25" name="Texto 267"/>
          <p:cNvSpPr txBox="1"/>
          <p:nvPr/>
        </p:nvSpPr>
        <p:spPr>
          <a:xfrm>
            <a:off x="868680" y="5093208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Una línea que explica el valor.</a:t>
            </a:r>
            <a:endParaRPr lang="en-US" sz="1050" dirty="0"/>
          </a:p>
        </p:txBody>
      </p:sp>
      <p:sp>
        <p:nvSpPr>
          <p:cNvPr id="26" name="Tarjeta 268"/>
          <p:cNvSpPr/>
          <p:nvPr/>
        </p:nvSpPr>
        <p:spPr>
          <a:xfrm>
            <a:off x="3418256" y="3904488"/>
            <a:ext cx="257700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7" name="Texto 269"/>
          <p:cNvSpPr txBox="1"/>
          <p:nvPr/>
        </p:nvSpPr>
        <p:spPr>
          <a:xfrm>
            <a:off x="3646856" y="410565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2000" dirty="0"/>
          </a:p>
        </p:txBody>
      </p:sp>
      <p:sp>
        <p:nvSpPr>
          <p:cNvPr id="28" name="Texto 270"/>
          <p:cNvSpPr txBox="1"/>
          <p:nvPr/>
        </p:nvSpPr>
        <p:spPr>
          <a:xfrm>
            <a:off x="3646856" y="4526280"/>
            <a:ext cx="211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Fiabilidad y coherencia</a:t>
            </a:r>
            <a:endParaRPr lang="en-US" sz="1300" dirty="0"/>
          </a:p>
        </p:txBody>
      </p:sp>
      <p:sp>
        <p:nvSpPr>
          <p:cNvPr id="29" name="Texto 271"/>
          <p:cNvSpPr txBox="1"/>
          <p:nvPr/>
        </p:nvSpPr>
        <p:spPr>
          <a:xfrm>
            <a:off x="3646856" y="5093208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Una línea que explica el valor.</a:t>
            </a:r>
            <a:endParaRPr lang="en-US" sz="1050" dirty="0"/>
          </a:p>
        </p:txBody>
      </p:sp>
      <p:sp>
        <p:nvSpPr>
          <p:cNvPr id="30" name="Tarjeta 272"/>
          <p:cNvSpPr/>
          <p:nvPr/>
        </p:nvSpPr>
        <p:spPr>
          <a:xfrm>
            <a:off x="6196432" y="3904488"/>
            <a:ext cx="257700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1" name="Texto 273"/>
          <p:cNvSpPr txBox="1"/>
          <p:nvPr/>
        </p:nvSpPr>
        <p:spPr>
          <a:xfrm>
            <a:off x="6425032" y="410565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2000" dirty="0"/>
          </a:p>
        </p:txBody>
      </p:sp>
      <p:sp>
        <p:nvSpPr>
          <p:cNvPr id="32" name="Texto 274"/>
          <p:cNvSpPr txBox="1"/>
          <p:nvPr/>
        </p:nvSpPr>
        <p:spPr>
          <a:xfrm>
            <a:off x="6425032" y="4526280"/>
            <a:ext cx="2119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Curiosidad y mejora continua</a:t>
            </a:r>
            <a:endParaRPr lang="en-US" sz="1300" dirty="0"/>
          </a:p>
        </p:txBody>
      </p:sp>
      <p:sp>
        <p:nvSpPr>
          <p:cNvPr id="33" name="Texto 275"/>
          <p:cNvSpPr txBox="1"/>
          <p:nvPr/>
        </p:nvSpPr>
        <p:spPr>
          <a:xfrm>
            <a:off x="6425032" y="5093208"/>
            <a:ext cx="211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Una línea que explica el valor.</a:t>
            </a:r>
            <a:endParaRPr lang="en-US" sz="1050" dirty="0"/>
          </a:p>
        </p:txBody>
      </p:sp>
      <p:pic>
        <p:nvPicPr>
          <p:cNvPr id="34" name="FotoR 276" descr="/tmp/claude-0/-home-user-pruebas-brandbook-/fbbf11e7-4add-5196-9360-974883348c29/scratchpad/ppt2/img/mirador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4607" y="3904488"/>
            <a:ext cx="2577008" cy="1828800"/>
          </a:xfrm>
          <a:prstGeom prst="roundRect">
            <a:avLst>
              <a:gd name="adj" fmla="val 5000"/>
            </a:avLst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FASE 01 DE 05</a:t>
            </a:r>
            <a:endParaRPr lang="en-US" sz="1000" dirty="0"/>
          </a:p>
        </p:txBody>
      </p:sp>
      <p:sp>
        <p:nvSpPr>
          <p:cNvPr id="3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Las acciones de cada fase, con qué hacemos y para qué</a:t>
            </a:r>
            <a:endParaRPr lang="en-US" sz="900" dirty="0"/>
          </a:p>
        </p:txBody>
      </p:sp>
      <p:sp>
        <p:nvSpPr>
          <p:cNvPr id="4" name="Subrayado Ways 277"/>
          <p:cNvSpPr/>
          <p:nvPr/>
        </p:nvSpPr>
        <p:spPr>
          <a:xfrm rot="-90000">
            <a:off x="640080" y="731520"/>
            <a:ext cx="3331616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Posicionamiento</a:t>
            </a:r>
            <a:endParaRPr lang="en-US" sz="2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Objetivo: que cada mercado entienda por qué 2027 es un año especial para hacer el Camino y lo asocie con Santiago Ways.</a:t>
            </a:r>
            <a:endParaRPr lang="en-US" sz="1300" dirty="0"/>
          </a:p>
        </p:txBody>
      </p:sp>
      <p:sp>
        <p:nvSpPr>
          <p:cNvPr id="6" name="Etiqueta 278"/>
          <p:cNvSpPr/>
          <p:nvPr/>
        </p:nvSpPr>
        <p:spPr>
          <a:xfrm>
            <a:off x="9357055" y="457200"/>
            <a:ext cx="1383093" cy="219456"/>
          </a:xfrm>
          <a:prstGeom prst="roundRect">
            <a:avLst>
              <a:gd name="adj" fmla="val 20833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</a:rPr>
              <a:t>POSICIONAMIENTO</a:t>
            </a:r>
            <a:endParaRPr lang="en-US" sz="800" dirty="0"/>
          </a:p>
        </p:txBody>
      </p:sp>
      <p:sp>
        <p:nvSpPr>
          <p:cNvPr id="7" name="Texto 279"/>
          <p:cNvSpPr txBox="1"/>
          <p:nvPr/>
        </p:nvSpPr>
        <p:spPr>
          <a:xfrm>
            <a:off x="640080" y="19202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01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 por mercado</a:t>
            </a:r>
            <a:endParaRPr lang="en-US" sz="1200" dirty="0"/>
          </a:p>
        </p:txBody>
      </p:sp>
      <p:sp>
        <p:nvSpPr>
          <p:cNvPr id="8" name="Texto 280"/>
          <p:cNvSpPr txBox="1"/>
          <p:nvPr/>
        </p:nvSpPr>
        <p:spPr>
          <a:xfrm>
            <a:off x="640080" y="226771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Qué hacemos.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Para qué.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Que la marca aparezca donde el cliente busca.</a:t>
            </a:r>
            <a:endParaRPr lang="en-US" sz="1100" dirty="0"/>
          </a:p>
        </p:txBody>
      </p:sp>
      <p:sp>
        <p:nvSpPr>
          <p:cNvPr id="9" name="Texto 281"/>
          <p:cNvSpPr txBox="1"/>
          <p:nvPr/>
        </p:nvSpPr>
        <p:spPr>
          <a:xfrm>
            <a:off x="640080" y="32461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02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Autoridad externa</a:t>
            </a:r>
            <a:endParaRPr lang="en-US" sz="1200" dirty="0"/>
          </a:p>
        </p:txBody>
      </p:sp>
      <p:sp>
        <p:nvSpPr>
          <p:cNvPr id="10" name="Texto 282"/>
          <p:cNvSpPr txBox="1"/>
          <p:nvPr/>
        </p:nvSpPr>
        <p:spPr>
          <a:xfrm>
            <a:off x="640080" y="359359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Qué hacemos.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Para qué.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Que la marca aparezca donde el cliente busca.</a:t>
            </a:r>
            <a:endParaRPr lang="en-US" sz="1100" dirty="0"/>
          </a:p>
        </p:txBody>
      </p:sp>
      <p:sp>
        <p:nvSpPr>
          <p:cNvPr id="11" name="Texto 283"/>
          <p:cNvSpPr txBox="1"/>
          <p:nvPr/>
        </p:nvSpPr>
        <p:spPr>
          <a:xfrm>
            <a:off x="640080" y="4572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03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Redes y contenido</a:t>
            </a:r>
            <a:endParaRPr lang="en-US" sz="1200" dirty="0"/>
          </a:p>
        </p:txBody>
      </p:sp>
      <p:sp>
        <p:nvSpPr>
          <p:cNvPr id="12" name="Texto 284"/>
          <p:cNvSpPr txBox="1"/>
          <p:nvPr/>
        </p:nvSpPr>
        <p:spPr>
          <a:xfrm>
            <a:off x="640080" y="491947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Qué hacemos.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chemeClr val="accent2"/>
                </a:solidFill>
              </a:rPr>
              <a:t>Para qué.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Que la marca aparezca donde el cliente busca.</a:t>
            </a:r>
            <a:endParaRPr lang="en-US" sz="1100" dirty="0"/>
          </a:p>
        </p:txBody>
      </p:sp>
      <p:pic>
        <p:nvPicPr>
          <p:cNvPr id="13" name="FotoR 285" descr="/tmp/claude-0/-home-user-pruebas-brandbook-/fbbf11e7-4add-5196-9360-974883348c29/scratchpad/ppt2/img/tejados-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920240"/>
            <a:ext cx="4236415" cy="3063240"/>
          </a:xfrm>
          <a:prstGeom prst="roundRect">
            <a:avLst>
              <a:gd name="adj" fmla="val 5000"/>
            </a:avLst>
          </a:prstGeom>
        </p:spPr>
      </p:pic>
      <p:sp>
        <p:nvSpPr>
          <p:cNvPr id="14" name="Texto 286"/>
          <p:cNvSpPr txBox="1"/>
          <p:nvPr/>
        </p:nvSpPr>
        <p:spPr>
          <a:xfrm>
            <a:off x="7315200" y="50749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Pie de imagen: qué muestra la captura o la foto.</a:t>
            </a:r>
            <a:endParaRPr lang="en-US" sz="950" dirty="0"/>
          </a:p>
        </p:txBody>
      </p:sp>
      <p:sp>
        <p:nvSpPr>
          <p:cNvPr id="15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PROCESO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Cómo funciona,</a:t>
            </a:r>
            <a:endParaRPr lang="en-US" sz="2800" dirty="0"/>
          </a:p>
        </p:txBody>
      </p:sp>
      <p:sp>
        <p:nvSpPr>
          <p:cNvPr id="4" name="Subrayado Ways 287"/>
          <p:cNvSpPr/>
          <p:nvPr/>
        </p:nvSpPr>
        <p:spPr>
          <a:xfrm rot="-90000">
            <a:off x="3694633" y="731520"/>
            <a:ext cx="2374697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paso a paso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Del primer contacto al regreso a casa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Cuatro pasos con icono, título y texto. Se pueden añadir o quitar pasos.</a:t>
            </a:r>
            <a:endParaRPr lang="en-US" sz="1300" dirty="0"/>
          </a:p>
        </p:txBody>
      </p:sp>
      <p:sp>
        <p:nvSpPr>
          <p:cNvPr id="7" name="Tarjeta 288"/>
          <p:cNvSpPr/>
          <p:nvPr/>
        </p:nvSpPr>
        <p:spPr>
          <a:xfrm>
            <a:off x="640080" y="2148840"/>
            <a:ext cx="2350694" cy="3108960"/>
          </a:xfrm>
          <a:prstGeom prst="roundRect">
            <a:avLst>
              <a:gd name="adj" fmla="val 46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8" name="Círculo 289"/>
          <p:cNvSpPr/>
          <p:nvPr/>
        </p:nvSpPr>
        <p:spPr>
          <a:xfrm>
            <a:off x="914400" y="2468880"/>
            <a:ext cx="685800" cy="685800"/>
          </a:xfrm>
          <a:prstGeom prst="ellipse">
            <a:avLst/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9" name="Icono 290" descr="/tmp/claude-0/-home-user-pruebas-brandbook-/fbbf11e7-4add-5196-9360-974883348c29/scratchpad/ppt2/icons/TbRoute-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606040"/>
            <a:ext cx="411480" cy="411480"/>
          </a:xfrm>
          <a:prstGeom prst="rect">
            <a:avLst/>
          </a:prstGeom>
        </p:spPr>
      </p:pic>
      <p:sp>
        <p:nvSpPr>
          <p:cNvPr id="10" name="Texto 291"/>
          <p:cNvSpPr txBox="1"/>
          <p:nvPr/>
        </p:nvSpPr>
        <p:spPr>
          <a:xfrm>
            <a:off x="914400" y="3383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chemeClr val="accent2"/>
                </a:solidFill>
              </a:rPr>
              <a:t>PASO 1</a:t>
            </a:r>
            <a:endParaRPr lang="en-US" sz="950" dirty="0"/>
          </a:p>
        </p:txBody>
      </p:sp>
      <p:sp>
        <p:nvSpPr>
          <p:cNvPr id="11" name="Texto 292"/>
          <p:cNvSpPr txBox="1"/>
          <p:nvPr/>
        </p:nvSpPr>
        <p:spPr>
          <a:xfrm>
            <a:off x="914400" y="3639312"/>
            <a:ext cx="18020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Elige tu ruta</a:t>
            </a:r>
            <a:endParaRPr lang="en-US" sz="1500" dirty="0"/>
          </a:p>
        </p:txBody>
      </p:sp>
      <p:sp>
        <p:nvSpPr>
          <p:cNvPr id="12" name="Texto 293"/>
          <p:cNvSpPr txBox="1"/>
          <p:nvPr/>
        </p:nvSpPr>
        <p:spPr>
          <a:xfrm>
            <a:off x="914400" y="4023360"/>
            <a:ext cx="18477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Te ayudamos a encontrar la ruta y las fechas que mejor encajan contigo.</a:t>
            </a:r>
            <a:endParaRPr lang="en-US" sz="1150" dirty="0"/>
          </a:p>
        </p:txBody>
      </p:sp>
      <p:pic>
        <p:nvPicPr>
          <p:cNvPr id="13" name="Icono 294" descr="/tmp/claude-0/-home-user-pruebas-brandbook-/fbbf11e7-4add-5196-9360-974883348c29/scratchpad/ppt2/icons/TbArrowRight-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214" y="3566160"/>
            <a:ext cx="320040" cy="320040"/>
          </a:xfrm>
          <a:prstGeom prst="rect">
            <a:avLst/>
          </a:prstGeom>
        </p:spPr>
      </p:pic>
      <p:sp>
        <p:nvSpPr>
          <p:cNvPr id="14" name="Tarjeta 295"/>
          <p:cNvSpPr/>
          <p:nvPr/>
        </p:nvSpPr>
        <p:spPr>
          <a:xfrm>
            <a:off x="3493694" y="2148840"/>
            <a:ext cx="2350694" cy="3108960"/>
          </a:xfrm>
          <a:prstGeom prst="roundRect">
            <a:avLst>
              <a:gd name="adj" fmla="val 46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5" name="Círculo 296"/>
          <p:cNvSpPr/>
          <p:nvPr/>
        </p:nvSpPr>
        <p:spPr>
          <a:xfrm>
            <a:off x="3768014" y="2468880"/>
            <a:ext cx="685800" cy="685800"/>
          </a:xfrm>
          <a:prstGeom prst="ellipse">
            <a:avLst/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16" name="Icono 297" descr="/tmp/claude-0/-home-user-pruebas-brandbook-/fbbf11e7-4add-5196-9360-974883348c29/scratchpad/ppt2/icons/TbTicket-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174" y="2606040"/>
            <a:ext cx="411480" cy="411480"/>
          </a:xfrm>
          <a:prstGeom prst="rect">
            <a:avLst/>
          </a:prstGeom>
        </p:spPr>
      </p:pic>
      <p:sp>
        <p:nvSpPr>
          <p:cNvPr id="17" name="Texto 298"/>
          <p:cNvSpPr txBox="1"/>
          <p:nvPr/>
        </p:nvSpPr>
        <p:spPr>
          <a:xfrm>
            <a:off x="3768014" y="3383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chemeClr val="accent2"/>
                </a:solidFill>
              </a:rPr>
              <a:t>PASO 2</a:t>
            </a:r>
            <a:endParaRPr lang="en-US" sz="950" dirty="0"/>
          </a:p>
        </p:txBody>
      </p:sp>
      <p:sp>
        <p:nvSpPr>
          <p:cNvPr id="18" name="Texto 299"/>
          <p:cNvSpPr txBox="1"/>
          <p:nvPr/>
        </p:nvSpPr>
        <p:spPr>
          <a:xfrm>
            <a:off x="3768014" y="3639312"/>
            <a:ext cx="18020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Reserva</a:t>
            </a:r>
            <a:endParaRPr lang="en-US" sz="1500" dirty="0"/>
          </a:p>
        </p:txBody>
      </p:sp>
      <p:sp>
        <p:nvSpPr>
          <p:cNvPr id="19" name="Texto 300"/>
          <p:cNvSpPr txBox="1"/>
          <p:nvPr/>
        </p:nvSpPr>
        <p:spPr>
          <a:xfrm>
            <a:off x="3768014" y="4023360"/>
            <a:ext cx="18477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Confirmamos alojamientos y servicios en menos de 48 horas.</a:t>
            </a:r>
            <a:endParaRPr lang="en-US" sz="1150" dirty="0"/>
          </a:p>
        </p:txBody>
      </p:sp>
      <p:pic>
        <p:nvPicPr>
          <p:cNvPr id="20" name="Icono 301" descr="/tmp/claude-0/-home-user-pruebas-brandbook-/fbbf11e7-4add-5196-9360-974883348c29/scratchpad/ppt2/icons/TbArrowRight-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3566160"/>
            <a:ext cx="320040" cy="320040"/>
          </a:xfrm>
          <a:prstGeom prst="rect">
            <a:avLst/>
          </a:prstGeom>
        </p:spPr>
      </p:pic>
      <p:sp>
        <p:nvSpPr>
          <p:cNvPr id="21" name="Tarjeta 302"/>
          <p:cNvSpPr/>
          <p:nvPr/>
        </p:nvSpPr>
        <p:spPr>
          <a:xfrm>
            <a:off x="6347308" y="2148840"/>
            <a:ext cx="2350694" cy="3108960"/>
          </a:xfrm>
          <a:prstGeom prst="roundRect">
            <a:avLst>
              <a:gd name="adj" fmla="val 46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2" name="Círculo 303"/>
          <p:cNvSpPr/>
          <p:nvPr/>
        </p:nvSpPr>
        <p:spPr>
          <a:xfrm>
            <a:off x="6621628" y="2468880"/>
            <a:ext cx="685800" cy="685800"/>
          </a:xfrm>
          <a:prstGeom prst="ellipse">
            <a:avLst/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23" name="Icono 304" descr="/tmp/claude-0/-home-user-pruebas-brandbook-/fbbf11e7-4add-5196-9360-974883348c29/scratchpad/ppt2/icons/TbBackpack-v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8788" y="2606040"/>
            <a:ext cx="411480" cy="411480"/>
          </a:xfrm>
          <a:prstGeom prst="rect">
            <a:avLst/>
          </a:prstGeom>
        </p:spPr>
      </p:pic>
      <p:sp>
        <p:nvSpPr>
          <p:cNvPr id="24" name="Texto 305"/>
          <p:cNvSpPr txBox="1"/>
          <p:nvPr/>
        </p:nvSpPr>
        <p:spPr>
          <a:xfrm>
            <a:off x="6621628" y="3383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chemeClr val="accent2"/>
                </a:solidFill>
              </a:rPr>
              <a:t>PASO 3</a:t>
            </a:r>
            <a:endParaRPr lang="en-US" sz="950" dirty="0"/>
          </a:p>
        </p:txBody>
      </p:sp>
      <p:sp>
        <p:nvSpPr>
          <p:cNvPr id="25" name="Texto 306"/>
          <p:cNvSpPr txBox="1"/>
          <p:nvPr/>
        </p:nvSpPr>
        <p:spPr>
          <a:xfrm>
            <a:off x="6621628" y="3639312"/>
            <a:ext cx="18020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Prepárate</a:t>
            </a:r>
            <a:endParaRPr lang="en-US" sz="1500" dirty="0"/>
          </a:p>
        </p:txBody>
      </p:sp>
      <p:sp>
        <p:nvSpPr>
          <p:cNvPr id="26" name="Texto 307"/>
          <p:cNvSpPr txBox="1"/>
          <p:nvPr/>
        </p:nvSpPr>
        <p:spPr>
          <a:xfrm>
            <a:off x="6621628" y="4023360"/>
            <a:ext cx="18477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Recibes la documentación, la credencial y consejos para el viaje.</a:t>
            </a:r>
            <a:endParaRPr lang="en-US" sz="1150" dirty="0"/>
          </a:p>
        </p:txBody>
      </p:sp>
      <p:pic>
        <p:nvPicPr>
          <p:cNvPr id="27" name="Icono 308" descr="/tmp/claude-0/-home-user-pruebas-brandbook-/fbbf11e7-4add-5196-9360-974883348c29/scratchpad/ppt2/icons/TbArrowRight-v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9441" y="3566160"/>
            <a:ext cx="320040" cy="320040"/>
          </a:xfrm>
          <a:prstGeom prst="rect">
            <a:avLst/>
          </a:prstGeom>
        </p:spPr>
      </p:pic>
      <p:sp>
        <p:nvSpPr>
          <p:cNvPr id="28" name="Tarjeta 309"/>
          <p:cNvSpPr/>
          <p:nvPr/>
        </p:nvSpPr>
        <p:spPr>
          <a:xfrm>
            <a:off x="9200921" y="2148840"/>
            <a:ext cx="2350694" cy="3108960"/>
          </a:xfrm>
          <a:prstGeom prst="roundRect">
            <a:avLst>
              <a:gd name="adj" fmla="val 46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9" name="Círculo 310"/>
          <p:cNvSpPr/>
          <p:nvPr/>
        </p:nvSpPr>
        <p:spPr>
          <a:xfrm>
            <a:off x="9475241" y="2468880"/>
            <a:ext cx="685800" cy="685800"/>
          </a:xfrm>
          <a:prstGeom prst="ellipse">
            <a:avLst/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30" name="Icono 311" descr="/tmp/claude-0/-home-user-pruebas-brandbook-/fbbf11e7-4add-5196-9360-974883348c29/scratchpad/ppt2/icons/TbTrekking-v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2401" y="2606040"/>
            <a:ext cx="411480" cy="411480"/>
          </a:xfrm>
          <a:prstGeom prst="rect">
            <a:avLst/>
          </a:prstGeom>
        </p:spPr>
      </p:pic>
      <p:sp>
        <p:nvSpPr>
          <p:cNvPr id="31" name="Texto 312"/>
          <p:cNvSpPr txBox="1"/>
          <p:nvPr/>
        </p:nvSpPr>
        <p:spPr>
          <a:xfrm>
            <a:off x="9475241" y="3383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chemeClr val="accent2"/>
                </a:solidFill>
              </a:rPr>
              <a:t>PASO 4</a:t>
            </a:r>
            <a:endParaRPr lang="en-US" sz="950" dirty="0"/>
          </a:p>
        </p:txBody>
      </p:sp>
      <p:sp>
        <p:nvSpPr>
          <p:cNvPr id="32" name="Texto 313"/>
          <p:cNvSpPr txBox="1"/>
          <p:nvPr/>
        </p:nvSpPr>
        <p:spPr>
          <a:xfrm>
            <a:off x="9475241" y="3639312"/>
            <a:ext cx="18020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Camina</a:t>
            </a:r>
            <a:endParaRPr lang="en-US" sz="1500" dirty="0"/>
          </a:p>
        </p:txBody>
      </p:sp>
      <p:sp>
        <p:nvSpPr>
          <p:cNvPr id="33" name="Texto 314"/>
          <p:cNvSpPr txBox="1"/>
          <p:nvPr/>
        </p:nvSpPr>
        <p:spPr>
          <a:xfrm>
            <a:off x="9475241" y="4023360"/>
            <a:ext cx="184777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accent3"/>
                </a:solidFill>
              </a:rPr>
              <a:t>Tu equipaje viaja solo y tienes asistencia durante todo el Camino.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CALENDARIO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Los hitos de</a:t>
            </a:r>
            <a:endParaRPr lang="en-US" sz="2800" dirty="0"/>
          </a:p>
        </p:txBody>
      </p:sp>
      <p:sp>
        <p:nvSpPr>
          <p:cNvPr id="4" name="Subrayado Ways 315"/>
          <p:cNvSpPr/>
          <p:nvPr/>
        </p:nvSpPr>
        <p:spPr>
          <a:xfrm rot="-90000">
            <a:off x="2990545" y="731520"/>
            <a:ext cx="1041197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2027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Fechas orientativas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Una línea de tiempo para fechas clave, lanzamientos o etapas.</a:t>
            </a:r>
            <a:endParaRPr lang="en-US" sz="1300" dirty="0"/>
          </a:p>
        </p:txBody>
      </p:sp>
      <p:sp>
        <p:nvSpPr>
          <p:cNvPr id="7" name="Línea de tiempo 316"/>
          <p:cNvSpPr/>
          <p:nvPr/>
        </p:nvSpPr>
        <p:spPr>
          <a:xfrm>
            <a:off x="914400" y="3703320"/>
            <a:ext cx="10362895" cy="54864"/>
          </a:xfrm>
          <a:prstGeom prst="rect">
            <a:avLst/>
          </a:prstGeom>
          <a:solidFill>
            <a:srgbClr val="E8E8E6"/>
          </a:solidFill>
          <a:ln/>
        </p:spPr>
      </p:sp>
      <p:sp>
        <p:nvSpPr>
          <p:cNvPr id="8" name="Avance 317"/>
          <p:cNvSpPr/>
          <p:nvPr/>
        </p:nvSpPr>
        <p:spPr>
          <a:xfrm>
            <a:off x="914400" y="3703320"/>
            <a:ext cx="4352416" cy="54864"/>
          </a:xfrm>
          <a:prstGeom prst="rect">
            <a:avLst/>
          </a:prstGeom>
          <a:solidFill>
            <a:srgbClr val="7AA606"/>
          </a:solidFill>
          <a:ln/>
        </p:spPr>
      </p:sp>
      <p:sp>
        <p:nvSpPr>
          <p:cNvPr id="9" name="Hito 318"/>
          <p:cNvSpPr/>
          <p:nvPr/>
        </p:nvSpPr>
        <p:spPr>
          <a:xfrm>
            <a:off x="786384" y="3602736"/>
            <a:ext cx="256032" cy="256032"/>
          </a:xfrm>
          <a:prstGeom prst="ellipse">
            <a:avLst/>
          </a:prstGeom>
          <a:solidFill>
            <a:srgbClr val="7AA606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10" name="Tarjeta 319"/>
          <p:cNvSpPr/>
          <p:nvPr/>
        </p:nvSpPr>
        <p:spPr>
          <a:xfrm>
            <a:off x="640080" y="2011680"/>
            <a:ext cx="21031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1" name="Texto 320"/>
          <p:cNvSpPr txBox="1"/>
          <p:nvPr/>
        </p:nvSpPr>
        <p:spPr>
          <a:xfrm>
            <a:off x="822960" y="21762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NOV 2026</a:t>
            </a:r>
            <a:endParaRPr lang="en-US" sz="950" dirty="0"/>
          </a:p>
        </p:txBody>
      </p:sp>
      <p:sp>
        <p:nvSpPr>
          <p:cNvPr id="12" name="Texto 321"/>
          <p:cNvSpPr txBox="1"/>
          <p:nvPr/>
        </p:nvSpPr>
        <p:spPr>
          <a:xfrm>
            <a:off x="822960" y="2404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Lanzamiento</a:t>
            </a:r>
            <a:endParaRPr lang="en-US" sz="1300" dirty="0"/>
          </a:p>
        </p:txBody>
      </p:sp>
      <p:sp>
        <p:nvSpPr>
          <p:cNvPr id="13" name="Texto 322"/>
          <p:cNvSpPr txBox="1"/>
          <p:nvPr/>
        </p:nvSpPr>
        <p:spPr>
          <a:xfrm>
            <a:off x="822960" y="270662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Abrimos reservas para el Año Santo.</a:t>
            </a:r>
            <a:endParaRPr lang="en-US" sz="1050" dirty="0"/>
          </a:p>
        </p:txBody>
      </p:sp>
      <p:sp>
        <p:nvSpPr>
          <p:cNvPr id="14" name="Hito 323"/>
          <p:cNvSpPr/>
          <p:nvPr/>
        </p:nvSpPr>
        <p:spPr>
          <a:xfrm>
            <a:off x="3377108" y="3602736"/>
            <a:ext cx="256032" cy="256032"/>
          </a:xfrm>
          <a:prstGeom prst="ellipse">
            <a:avLst/>
          </a:prstGeom>
          <a:solidFill>
            <a:srgbClr val="7AA606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15" name="Tarjeta 324"/>
          <p:cNvSpPr/>
          <p:nvPr/>
        </p:nvSpPr>
        <p:spPr>
          <a:xfrm>
            <a:off x="2453564" y="4114800"/>
            <a:ext cx="21031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6" name="Texto 325"/>
          <p:cNvSpPr txBox="1"/>
          <p:nvPr/>
        </p:nvSpPr>
        <p:spPr>
          <a:xfrm>
            <a:off x="2636444" y="4279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ENE 2027</a:t>
            </a:r>
            <a:endParaRPr lang="en-US" sz="950" dirty="0"/>
          </a:p>
        </p:txBody>
      </p:sp>
      <p:sp>
        <p:nvSpPr>
          <p:cNvPr id="17" name="Texto 326"/>
          <p:cNvSpPr txBox="1"/>
          <p:nvPr/>
        </p:nvSpPr>
        <p:spPr>
          <a:xfrm>
            <a:off x="2636444" y="45079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Ultramar</a:t>
            </a:r>
            <a:endParaRPr lang="en-US" sz="1300" dirty="0"/>
          </a:p>
        </p:txBody>
      </p:sp>
      <p:sp>
        <p:nvSpPr>
          <p:cNvPr id="18" name="Texto 327"/>
          <p:cNvSpPr txBox="1"/>
          <p:nvPr/>
        </p:nvSpPr>
        <p:spPr>
          <a:xfrm>
            <a:off x="2636444" y="480974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Arrancan los mercados lejanos.</a:t>
            </a:r>
            <a:endParaRPr lang="en-US" sz="1050" dirty="0"/>
          </a:p>
        </p:txBody>
      </p:sp>
      <p:sp>
        <p:nvSpPr>
          <p:cNvPr id="19" name="Hito 328"/>
          <p:cNvSpPr/>
          <p:nvPr/>
        </p:nvSpPr>
        <p:spPr>
          <a:xfrm>
            <a:off x="5967832" y="360273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20" name="Tarjeta 329"/>
          <p:cNvSpPr/>
          <p:nvPr/>
        </p:nvSpPr>
        <p:spPr>
          <a:xfrm>
            <a:off x="5044288" y="2011680"/>
            <a:ext cx="21031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1" name="Texto 330"/>
          <p:cNvSpPr txBox="1"/>
          <p:nvPr/>
        </p:nvSpPr>
        <p:spPr>
          <a:xfrm>
            <a:off x="5227168" y="21762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MAR 2027</a:t>
            </a:r>
            <a:endParaRPr lang="en-US" sz="950" dirty="0"/>
          </a:p>
        </p:txBody>
      </p:sp>
      <p:sp>
        <p:nvSpPr>
          <p:cNvPr id="22" name="Texto 331"/>
          <p:cNvSpPr txBox="1"/>
          <p:nvPr/>
        </p:nvSpPr>
        <p:spPr>
          <a:xfrm>
            <a:off x="5227168" y="2404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Temporada alta</a:t>
            </a:r>
            <a:endParaRPr lang="en-US" sz="1300" dirty="0"/>
          </a:p>
        </p:txBody>
      </p:sp>
      <p:sp>
        <p:nvSpPr>
          <p:cNvPr id="23" name="Texto 332"/>
          <p:cNvSpPr txBox="1"/>
          <p:nvPr/>
        </p:nvSpPr>
        <p:spPr>
          <a:xfrm>
            <a:off x="5227168" y="270662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Mayo y junio, casi completos.</a:t>
            </a:r>
            <a:endParaRPr lang="en-US" sz="1050" dirty="0"/>
          </a:p>
        </p:txBody>
      </p:sp>
      <p:sp>
        <p:nvSpPr>
          <p:cNvPr id="24" name="Hito 333"/>
          <p:cNvSpPr/>
          <p:nvPr/>
        </p:nvSpPr>
        <p:spPr>
          <a:xfrm>
            <a:off x="8558555" y="360273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25" name="Tarjeta 334"/>
          <p:cNvSpPr/>
          <p:nvPr/>
        </p:nvSpPr>
        <p:spPr>
          <a:xfrm>
            <a:off x="7635011" y="4114800"/>
            <a:ext cx="21031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6" name="Texto 335"/>
          <p:cNvSpPr txBox="1"/>
          <p:nvPr/>
        </p:nvSpPr>
        <p:spPr>
          <a:xfrm>
            <a:off x="7817891" y="42793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JUL 2027</a:t>
            </a:r>
            <a:endParaRPr lang="en-US" sz="950" dirty="0"/>
          </a:p>
        </p:txBody>
      </p:sp>
      <p:sp>
        <p:nvSpPr>
          <p:cNvPr id="27" name="Texto 336"/>
          <p:cNvSpPr txBox="1"/>
          <p:nvPr/>
        </p:nvSpPr>
        <p:spPr>
          <a:xfrm>
            <a:off x="7817891" y="45079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Día de Santiago</a:t>
            </a:r>
            <a:endParaRPr lang="en-US" sz="1300" dirty="0"/>
          </a:p>
        </p:txBody>
      </p:sp>
      <p:sp>
        <p:nvSpPr>
          <p:cNvPr id="28" name="Texto 337"/>
          <p:cNvSpPr txBox="1"/>
          <p:nvPr/>
        </p:nvSpPr>
        <p:spPr>
          <a:xfrm>
            <a:off x="7817891" y="480974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Acción especial el 25 de julio.</a:t>
            </a:r>
            <a:endParaRPr lang="en-US" sz="1050" dirty="0"/>
          </a:p>
        </p:txBody>
      </p:sp>
      <p:sp>
        <p:nvSpPr>
          <p:cNvPr id="29" name="Hito 338"/>
          <p:cNvSpPr/>
          <p:nvPr/>
        </p:nvSpPr>
        <p:spPr>
          <a:xfrm>
            <a:off x="11149279" y="360273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30" name="Tarjeta 339"/>
          <p:cNvSpPr/>
          <p:nvPr/>
        </p:nvSpPr>
        <p:spPr>
          <a:xfrm>
            <a:off x="9448495" y="2011680"/>
            <a:ext cx="21031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1" name="Texto 340"/>
          <p:cNvSpPr txBox="1"/>
          <p:nvPr/>
        </p:nvSpPr>
        <p:spPr>
          <a:xfrm>
            <a:off x="9631375" y="21762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DIC 2027</a:t>
            </a:r>
            <a:endParaRPr lang="en-US" sz="950" dirty="0"/>
          </a:p>
        </p:txBody>
      </p:sp>
      <p:sp>
        <p:nvSpPr>
          <p:cNvPr id="32" name="Texto 341"/>
          <p:cNvSpPr txBox="1"/>
          <p:nvPr/>
        </p:nvSpPr>
        <p:spPr>
          <a:xfrm>
            <a:off x="9631375" y="2404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Balance</a:t>
            </a:r>
            <a:endParaRPr lang="en-US" sz="1300" dirty="0"/>
          </a:p>
        </p:txBody>
      </p:sp>
      <p:sp>
        <p:nvSpPr>
          <p:cNvPr id="33" name="Texto 342"/>
          <p:cNvSpPr txBox="1"/>
          <p:nvPr/>
        </p:nvSpPr>
        <p:spPr>
          <a:xfrm>
            <a:off x="9631375" y="270662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Cierre del Año Santo y resultados.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PROPUESTA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Tres opciones,</a:t>
            </a:r>
            <a:endParaRPr lang="en-US" sz="2800" dirty="0"/>
          </a:p>
        </p:txBody>
      </p:sp>
      <p:sp>
        <p:nvSpPr>
          <p:cNvPr id="4" name="Subrayado Ways 343"/>
          <p:cNvSpPr/>
          <p:nvPr/>
        </p:nvSpPr>
        <p:spPr>
          <a:xfrm rot="-90000">
            <a:off x="3438601" y="731520"/>
            <a:ext cx="3600094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una recomendada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Precios de ejemplo, por persona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Para comparar planes, proveedores o escenarios.</a:t>
            </a:r>
            <a:endParaRPr lang="en-US" sz="1300" dirty="0"/>
          </a:p>
        </p:txBody>
      </p:sp>
      <p:sp>
        <p:nvSpPr>
          <p:cNvPr id="7" name="Tarjeta 344"/>
          <p:cNvSpPr/>
          <p:nvPr/>
        </p:nvSpPr>
        <p:spPr>
          <a:xfrm>
            <a:off x="640080" y="2011680"/>
            <a:ext cx="3423818" cy="365760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8" name="Texto 345"/>
          <p:cNvSpPr txBox="1"/>
          <p:nvPr/>
        </p:nvSpPr>
        <p:spPr>
          <a:xfrm>
            <a:off x="960120" y="237744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Esencial</a:t>
            </a:r>
            <a:endParaRPr lang="en-US" sz="1800" dirty="0"/>
          </a:p>
        </p:txBody>
      </p:sp>
      <p:sp>
        <p:nvSpPr>
          <p:cNvPr id="9" name="Texto 346"/>
          <p:cNvSpPr txBox="1"/>
          <p:nvPr/>
        </p:nvSpPr>
        <p:spPr>
          <a:xfrm>
            <a:off x="960120" y="276148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desde </a:t>
            </a:r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695 €</a:t>
            </a:r>
            <a:endParaRPr lang="en-US" sz="1200" dirty="0"/>
          </a:p>
        </p:txBody>
      </p:sp>
      <p:sp>
        <p:nvSpPr>
          <p:cNvPr id="10" name="Línea 347"/>
          <p:cNvSpPr/>
          <p:nvPr/>
        </p:nvSpPr>
        <p:spPr>
          <a:xfrm>
            <a:off x="960120" y="3474720"/>
            <a:ext cx="2783738" cy="0"/>
          </a:xfrm>
          <a:prstGeom prst="line">
            <a:avLst/>
          </a:prstGeom>
          <a:noFill/>
          <a:ln w="9525">
            <a:solidFill>
              <a:srgbClr val="E8E8E6"/>
            </a:solidFill>
            <a:prstDash val="solid"/>
          </a:ln>
        </p:spPr>
      </p:sp>
      <p:pic>
        <p:nvPicPr>
          <p:cNvPr id="11" name="Icono 348" descr="/tmp/claude-0/-home-user-pruebas-brandbook-/fbbf11e7-4add-5196-9360-974883348c29/scratchpad/ppt2/icons/TbCheck-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3648456"/>
            <a:ext cx="219456" cy="219456"/>
          </a:xfrm>
          <a:prstGeom prst="rect">
            <a:avLst/>
          </a:prstGeom>
        </p:spPr>
      </p:pic>
      <p:sp>
        <p:nvSpPr>
          <p:cNvPr id="12" name="Texto 349"/>
          <p:cNvSpPr txBox="1"/>
          <p:nvPr/>
        </p:nvSpPr>
        <p:spPr>
          <a:xfrm>
            <a:off x="1261872" y="3657600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Alojamiento en cada etapa</a:t>
            </a:r>
            <a:endParaRPr lang="en-US" sz="1200" dirty="0"/>
          </a:p>
        </p:txBody>
      </p:sp>
      <p:pic>
        <p:nvPicPr>
          <p:cNvPr id="13" name="Icono 350" descr="/tmp/claude-0/-home-user-pruebas-brandbook-/fbbf11e7-4add-5196-9360-974883348c29/scratchpad/ppt2/icons/TbCheck-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087368"/>
            <a:ext cx="219456" cy="219456"/>
          </a:xfrm>
          <a:prstGeom prst="rect">
            <a:avLst/>
          </a:prstGeom>
        </p:spPr>
      </p:pic>
      <p:sp>
        <p:nvSpPr>
          <p:cNvPr id="14" name="Texto 351"/>
          <p:cNvSpPr txBox="1"/>
          <p:nvPr/>
        </p:nvSpPr>
        <p:spPr>
          <a:xfrm>
            <a:off x="1261872" y="4096512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Traslado de equipaje</a:t>
            </a:r>
            <a:endParaRPr lang="en-US" sz="1200" dirty="0"/>
          </a:p>
        </p:txBody>
      </p:sp>
      <p:pic>
        <p:nvPicPr>
          <p:cNvPr id="15" name="Icono 352" descr="/tmp/claude-0/-home-user-pruebas-brandbook-/fbbf11e7-4add-5196-9360-974883348c29/scratchpad/ppt2/icons/TbCheck-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4526280"/>
            <a:ext cx="219456" cy="219456"/>
          </a:xfrm>
          <a:prstGeom prst="rect">
            <a:avLst/>
          </a:prstGeom>
        </p:spPr>
      </p:pic>
      <p:sp>
        <p:nvSpPr>
          <p:cNvPr id="16" name="Texto 353"/>
          <p:cNvSpPr txBox="1"/>
          <p:nvPr/>
        </p:nvSpPr>
        <p:spPr>
          <a:xfrm>
            <a:off x="1261872" y="4535424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Asistencia durante el viaje</a:t>
            </a:r>
            <a:endParaRPr lang="en-US" sz="1200" dirty="0"/>
          </a:p>
        </p:txBody>
      </p:sp>
      <p:sp>
        <p:nvSpPr>
          <p:cNvPr id="17" name="Degradado 354"/>
          <p:cNvSpPr/>
          <p:nvPr/>
        </p:nvSpPr>
        <p:spPr>
          <a:xfrm>
            <a:off x="4383938" y="1783080"/>
            <a:ext cx="3423818" cy="4114800"/>
          </a:xfrm>
          <a:prstGeom prst="roundRect">
            <a:avLst>
              <a:gd name="adj" fmla="val 3205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8" name="Etiqueta 355"/>
          <p:cNvSpPr/>
          <p:nvPr/>
        </p:nvSpPr>
        <p:spPr>
          <a:xfrm>
            <a:off x="4703978" y="2103120"/>
            <a:ext cx="1262737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06718"/>
                </a:solidFill>
              </a:rPr>
              <a:t>RECOMENDADO</a:t>
            </a:r>
            <a:endParaRPr lang="en-US" sz="850" dirty="0"/>
          </a:p>
        </p:txBody>
      </p:sp>
      <p:sp>
        <p:nvSpPr>
          <p:cNvPr id="19" name="Texto 356"/>
          <p:cNvSpPr txBox="1"/>
          <p:nvPr/>
        </p:nvSpPr>
        <p:spPr>
          <a:xfrm>
            <a:off x="4703978" y="2496312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Confort</a:t>
            </a:r>
            <a:endParaRPr lang="en-US" sz="1800" dirty="0"/>
          </a:p>
        </p:txBody>
      </p:sp>
      <p:sp>
        <p:nvSpPr>
          <p:cNvPr id="20" name="Texto 357"/>
          <p:cNvSpPr txBox="1"/>
          <p:nvPr/>
        </p:nvSpPr>
        <p:spPr>
          <a:xfrm>
            <a:off x="4703978" y="288036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desde </a:t>
            </a:r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845 €</a:t>
            </a:r>
            <a:endParaRPr lang="en-US" sz="1200" dirty="0"/>
          </a:p>
        </p:txBody>
      </p:sp>
      <p:sp>
        <p:nvSpPr>
          <p:cNvPr id="21" name="Línea 358"/>
          <p:cNvSpPr/>
          <p:nvPr/>
        </p:nvSpPr>
        <p:spPr>
          <a:xfrm>
            <a:off x="4703978" y="3593592"/>
            <a:ext cx="2783738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pic>
        <p:nvPicPr>
          <p:cNvPr id="22" name="Icono 359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5690" y="3767328"/>
            <a:ext cx="219456" cy="219456"/>
          </a:xfrm>
          <a:prstGeom prst="rect">
            <a:avLst/>
          </a:prstGeom>
        </p:spPr>
      </p:pic>
      <p:sp>
        <p:nvSpPr>
          <p:cNvPr id="23" name="Texto 360"/>
          <p:cNvSpPr txBox="1"/>
          <p:nvPr/>
        </p:nvSpPr>
        <p:spPr>
          <a:xfrm>
            <a:off x="5005730" y="3776472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Todo lo de Esencial</a:t>
            </a:r>
            <a:endParaRPr lang="en-US" sz="1200" dirty="0"/>
          </a:p>
        </p:txBody>
      </p:sp>
      <p:pic>
        <p:nvPicPr>
          <p:cNvPr id="24" name="Icono 361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690" y="4206240"/>
            <a:ext cx="219456" cy="219456"/>
          </a:xfrm>
          <a:prstGeom prst="rect">
            <a:avLst/>
          </a:prstGeom>
        </p:spPr>
      </p:pic>
      <p:sp>
        <p:nvSpPr>
          <p:cNvPr id="25" name="Texto 362"/>
          <p:cNvSpPr txBox="1"/>
          <p:nvPr/>
        </p:nvSpPr>
        <p:spPr>
          <a:xfrm>
            <a:off x="5005730" y="4215384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Desayunos incluidos</a:t>
            </a:r>
            <a:endParaRPr lang="en-US" sz="1200" dirty="0"/>
          </a:p>
        </p:txBody>
      </p:sp>
      <p:pic>
        <p:nvPicPr>
          <p:cNvPr id="26" name="Icono 363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5690" y="4645152"/>
            <a:ext cx="219456" cy="219456"/>
          </a:xfrm>
          <a:prstGeom prst="rect">
            <a:avLst/>
          </a:prstGeom>
        </p:spPr>
      </p:pic>
      <p:sp>
        <p:nvSpPr>
          <p:cNvPr id="27" name="Texto 364"/>
          <p:cNvSpPr txBox="1"/>
          <p:nvPr/>
        </p:nvSpPr>
        <p:spPr>
          <a:xfrm>
            <a:off x="5005730" y="4654296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Habitación con baño privado</a:t>
            </a:r>
            <a:endParaRPr lang="en-US" sz="1200" dirty="0"/>
          </a:p>
        </p:txBody>
      </p:sp>
      <p:pic>
        <p:nvPicPr>
          <p:cNvPr id="28" name="Icono 365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5690" y="5084064"/>
            <a:ext cx="219456" cy="219456"/>
          </a:xfrm>
          <a:prstGeom prst="rect">
            <a:avLst/>
          </a:prstGeom>
        </p:spPr>
      </p:pic>
      <p:sp>
        <p:nvSpPr>
          <p:cNvPr id="29" name="Texto 366"/>
          <p:cNvSpPr txBox="1"/>
          <p:nvPr/>
        </p:nvSpPr>
        <p:spPr>
          <a:xfrm>
            <a:off x="5005730" y="509320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Seguro de viaje</a:t>
            </a:r>
            <a:endParaRPr lang="en-US" sz="1200" dirty="0"/>
          </a:p>
        </p:txBody>
      </p:sp>
      <p:sp>
        <p:nvSpPr>
          <p:cNvPr id="30" name="Tarjeta 367"/>
          <p:cNvSpPr/>
          <p:nvPr/>
        </p:nvSpPr>
        <p:spPr>
          <a:xfrm>
            <a:off x="8127797" y="2011680"/>
            <a:ext cx="3423818" cy="3657600"/>
          </a:xfrm>
          <a:prstGeom prst="roundRect">
            <a:avLst>
              <a:gd name="adj" fmla="val 32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1" name="Texto 368"/>
          <p:cNvSpPr txBox="1"/>
          <p:nvPr/>
        </p:nvSpPr>
        <p:spPr>
          <a:xfrm>
            <a:off x="8447837" y="237744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Premium</a:t>
            </a:r>
            <a:endParaRPr lang="en-US" sz="1800" dirty="0"/>
          </a:p>
        </p:txBody>
      </p:sp>
      <p:sp>
        <p:nvSpPr>
          <p:cNvPr id="32" name="Texto 369"/>
          <p:cNvSpPr txBox="1"/>
          <p:nvPr/>
        </p:nvSpPr>
        <p:spPr>
          <a:xfrm>
            <a:off x="8447837" y="276148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desde </a:t>
            </a:r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1.190 €</a:t>
            </a:r>
            <a:endParaRPr lang="en-US" sz="1200" dirty="0"/>
          </a:p>
        </p:txBody>
      </p:sp>
      <p:sp>
        <p:nvSpPr>
          <p:cNvPr id="33" name="Línea 370"/>
          <p:cNvSpPr/>
          <p:nvPr/>
        </p:nvSpPr>
        <p:spPr>
          <a:xfrm>
            <a:off x="8447837" y="3474720"/>
            <a:ext cx="2783738" cy="0"/>
          </a:xfrm>
          <a:prstGeom prst="line">
            <a:avLst/>
          </a:prstGeom>
          <a:noFill/>
          <a:ln w="9525">
            <a:solidFill>
              <a:srgbClr val="E8E8E6"/>
            </a:solidFill>
            <a:prstDash val="solid"/>
          </a:ln>
        </p:spPr>
      </p:sp>
      <p:pic>
        <p:nvPicPr>
          <p:cNvPr id="34" name="Icono 371" descr="/tmp/claude-0/-home-user-pruebas-brandbook-/fbbf11e7-4add-5196-9360-974883348c29/scratchpad/ppt2/icons/TbCheck-v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549" y="3648456"/>
            <a:ext cx="219456" cy="219456"/>
          </a:xfrm>
          <a:prstGeom prst="rect">
            <a:avLst/>
          </a:prstGeom>
        </p:spPr>
      </p:pic>
      <p:sp>
        <p:nvSpPr>
          <p:cNvPr id="35" name="Texto 372"/>
          <p:cNvSpPr txBox="1"/>
          <p:nvPr/>
        </p:nvSpPr>
        <p:spPr>
          <a:xfrm>
            <a:off x="8749589" y="3657600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Todo lo de Confort</a:t>
            </a:r>
            <a:endParaRPr lang="en-US" sz="1200" dirty="0"/>
          </a:p>
        </p:txBody>
      </p:sp>
      <p:pic>
        <p:nvPicPr>
          <p:cNvPr id="36" name="Icono 373" descr="/tmp/claude-0/-home-user-pruebas-brandbook-/fbbf11e7-4add-5196-9360-974883348c29/scratchpad/ppt2/icons/TbCheck-v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29549" y="4087368"/>
            <a:ext cx="219456" cy="219456"/>
          </a:xfrm>
          <a:prstGeom prst="rect">
            <a:avLst/>
          </a:prstGeom>
        </p:spPr>
      </p:pic>
      <p:sp>
        <p:nvSpPr>
          <p:cNvPr id="37" name="Texto 374"/>
          <p:cNvSpPr txBox="1"/>
          <p:nvPr/>
        </p:nvSpPr>
        <p:spPr>
          <a:xfrm>
            <a:off x="8749589" y="4096512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Cenas en ruta</a:t>
            </a:r>
            <a:endParaRPr lang="en-US" sz="1200" dirty="0"/>
          </a:p>
        </p:txBody>
      </p:sp>
      <p:pic>
        <p:nvPicPr>
          <p:cNvPr id="38" name="Icono 375" descr="/tmp/claude-0/-home-user-pruebas-brandbook-/fbbf11e7-4add-5196-9360-974883348c29/scratchpad/ppt2/icons/TbCheck-v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9549" y="4526280"/>
            <a:ext cx="219456" cy="219456"/>
          </a:xfrm>
          <a:prstGeom prst="rect">
            <a:avLst/>
          </a:prstGeom>
        </p:spPr>
      </p:pic>
      <p:sp>
        <p:nvSpPr>
          <p:cNvPr id="39" name="Texto 376"/>
          <p:cNvSpPr txBox="1"/>
          <p:nvPr/>
        </p:nvSpPr>
        <p:spPr>
          <a:xfrm>
            <a:off x="8749589" y="4535424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Hoteles con encanto</a:t>
            </a:r>
            <a:endParaRPr lang="en-US" sz="1200" dirty="0"/>
          </a:p>
        </p:txBody>
      </p:sp>
      <p:pic>
        <p:nvPicPr>
          <p:cNvPr id="40" name="Icono 377" descr="/tmp/claude-0/-home-user-pruebas-brandbook-/fbbf11e7-4add-5196-9360-974883348c29/scratchpad/ppt2/icons/TbCheck-v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29549" y="4965192"/>
            <a:ext cx="219456" cy="219456"/>
          </a:xfrm>
          <a:prstGeom prst="rect">
            <a:avLst/>
          </a:prstGeom>
        </p:spPr>
      </p:pic>
      <p:sp>
        <p:nvSpPr>
          <p:cNvPr id="41" name="Texto 378"/>
          <p:cNvSpPr txBox="1"/>
          <p:nvPr/>
        </p:nvSpPr>
        <p:spPr>
          <a:xfrm>
            <a:off x="8749589" y="4974336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Guía acompañante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RUTA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Camino Francés</a:t>
            </a:r>
            <a:endParaRPr lang="en-US" sz="2800" dirty="0"/>
          </a:p>
        </p:txBody>
      </p:sp>
      <p:sp>
        <p:nvSpPr>
          <p:cNvPr id="4" name="Subrayado Ways 379"/>
          <p:cNvSpPr/>
          <p:nvPr/>
        </p:nvSpPr>
        <p:spPr>
          <a:xfrm rot="-90000">
            <a:off x="3749751" y="731520"/>
            <a:ext cx="2502002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desde Sarria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Distancias aproximadas; desniveles orientativos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Una ficha para presentar una ruta, un producto o un proyecto.</a:t>
            </a:r>
            <a:endParaRPr lang="en-US" sz="1300" dirty="0"/>
          </a:p>
        </p:txBody>
      </p:sp>
      <p:pic>
        <p:nvPicPr>
          <p:cNvPr id="7" name="FotoR 380" descr="/tmp/claude-0/-home-user-pruebas-brandbook-/fbbf11e7-4add-5196-9360-974883348c29/scratchpad/ppt2/img/puen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4206240" cy="3749040"/>
          </a:xfrm>
          <a:prstGeom prst="roundRect">
            <a:avLst>
              <a:gd name="adj" fmla="val 5000"/>
            </a:avLst>
          </a:prstGeom>
        </p:spPr>
      </p:pic>
      <p:sp>
        <p:nvSpPr>
          <p:cNvPr id="8" name="Etiqueta 381"/>
          <p:cNvSpPr/>
          <p:nvPr/>
        </p:nvSpPr>
        <p:spPr>
          <a:xfrm>
            <a:off x="868680" y="2103120"/>
            <a:ext cx="113687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06718"/>
                </a:solidFill>
              </a:rPr>
              <a:t>MÁS VENDIDA</a:t>
            </a:r>
            <a:endParaRPr lang="en-US" sz="850" dirty="0"/>
          </a:p>
        </p:txBody>
      </p:sp>
      <p:sp>
        <p:nvSpPr>
          <p:cNvPr id="9" name="Tarjeta 382"/>
          <p:cNvSpPr/>
          <p:nvPr/>
        </p:nvSpPr>
        <p:spPr>
          <a:xfrm>
            <a:off x="5166360" y="1874520"/>
            <a:ext cx="1472870" cy="1188720"/>
          </a:xfrm>
          <a:prstGeom prst="roundRect">
            <a:avLst>
              <a:gd name="adj" fmla="val 9231"/>
            </a:avLst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10" name="Icono 383" descr="/tmp/claude-0/-home-user-pruebas-brandbook-/fbbf11e7-4add-5196-9360-974883348c29/scratchpad/ppt2/icons/TbRoute-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057400"/>
            <a:ext cx="292608" cy="292608"/>
          </a:xfrm>
          <a:prstGeom prst="rect">
            <a:avLst/>
          </a:prstGeom>
        </p:spPr>
      </p:pic>
      <p:sp>
        <p:nvSpPr>
          <p:cNvPr id="11" name="Texto 384"/>
          <p:cNvSpPr txBox="1"/>
          <p:nvPr/>
        </p:nvSpPr>
        <p:spPr>
          <a:xfrm>
            <a:off x="5349240" y="2423160"/>
            <a:ext cx="11985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115 km</a:t>
            </a:r>
            <a:endParaRPr lang="en-US" sz="1700" dirty="0"/>
          </a:p>
        </p:txBody>
      </p:sp>
      <p:sp>
        <p:nvSpPr>
          <p:cNvPr id="12" name="Texto 385"/>
          <p:cNvSpPr txBox="1"/>
          <p:nvPr/>
        </p:nvSpPr>
        <p:spPr>
          <a:xfrm>
            <a:off x="5349240" y="2743200"/>
            <a:ext cx="119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Distancia</a:t>
            </a:r>
            <a:endParaRPr lang="en-US" sz="950" dirty="0"/>
          </a:p>
        </p:txBody>
      </p:sp>
      <p:sp>
        <p:nvSpPr>
          <p:cNvPr id="13" name="Tarjeta 386"/>
          <p:cNvSpPr/>
          <p:nvPr/>
        </p:nvSpPr>
        <p:spPr>
          <a:xfrm>
            <a:off x="6803822" y="1874520"/>
            <a:ext cx="1472870" cy="1188720"/>
          </a:xfrm>
          <a:prstGeom prst="roundRect">
            <a:avLst>
              <a:gd name="adj" fmla="val 9231"/>
            </a:avLst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14" name="Icono 387" descr="/tmp/claude-0/-home-user-pruebas-brandbook-/fbbf11e7-4add-5196-9360-974883348c29/scratchpad/ppt2/icons/TbCalendar-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702" y="2057400"/>
            <a:ext cx="292608" cy="292608"/>
          </a:xfrm>
          <a:prstGeom prst="rect">
            <a:avLst/>
          </a:prstGeom>
        </p:spPr>
      </p:pic>
      <p:sp>
        <p:nvSpPr>
          <p:cNvPr id="15" name="Texto 388"/>
          <p:cNvSpPr txBox="1"/>
          <p:nvPr/>
        </p:nvSpPr>
        <p:spPr>
          <a:xfrm>
            <a:off x="6986702" y="2423160"/>
            <a:ext cx="11985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días</a:t>
            </a:r>
            <a:endParaRPr lang="en-US" sz="1700" dirty="0"/>
          </a:p>
        </p:txBody>
      </p:sp>
      <p:sp>
        <p:nvSpPr>
          <p:cNvPr id="16" name="Texto 389"/>
          <p:cNvSpPr txBox="1"/>
          <p:nvPr/>
        </p:nvSpPr>
        <p:spPr>
          <a:xfrm>
            <a:off x="6986702" y="2743200"/>
            <a:ext cx="119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6 noches</a:t>
            </a:r>
            <a:endParaRPr lang="en-US" sz="950" dirty="0"/>
          </a:p>
        </p:txBody>
      </p:sp>
      <p:sp>
        <p:nvSpPr>
          <p:cNvPr id="17" name="Tarjeta 390"/>
          <p:cNvSpPr/>
          <p:nvPr/>
        </p:nvSpPr>
        <p:spPr>
          <a:xfrm>
            <a:off x="8441284" y="1874520"/>
            <a:ext cx="1472870" cy="1188720"/>
          </a:xfrm>
          <a:prstGeom prst="roundRect">
            <a:avLst>
              <a:gd name="adj" fmla="val 9231"/>
            </a:avLst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18" name="Icono 391" descr="/tmp/claude-0/-home-user-pruebas-brandbook-/fbbf11e7-4add-5196-9360-974883348c29/scratchpad/ppt2/icons/TbMountain-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4164" y="2057400"/>
            <a:ext cx="292608" cy="292608"/>
          </a:xfrm>
          <a:prstGeom prst="rect">
            <a:avLst/>
          </a:prstGeom>
        </p:spPr>
      </p:pic>
      <p:sp>
        <p:nvSpPr>
          <p:cNvPr id="19" name="Texto 392"/>
          <p:cNvSpPr txBox="1"/>
          <p:nvPr/>
        </p:nvSpPr>
        <p:spPr>
          <a:xfrm>
            <a:off x="8624164" y="2423160"/>
            <a:ext cx="11985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Media</a:t>
            </a:r>
            <a:endParaRPr lang="en-US" sz="1700" dirty="0"/>
          </a:p>
        </p:txBody>
      </p:sp>
      <p:sp>
        <p:nvSpPr>
          <p:cNvPr id="20" name="Texto 393"/>
          <p:cNvSpPr txBox="1"/>
          <p:nvPr/>
        </p:nvSpPr>
        <p:spPr>
          <a:xfrm>
            <a:off x="8624164" y="2743200"/>
            <a:ext cx="119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Dificultad</a:t>
            </a:r>
            <a:endParaRPr lang="en-US" sz="950" dirty="0"/>
          </a:p>
        </p:txBody>
      </p:sp>
      <p:sp>
        <p:nvSpPr>
          <p:cNvPr id="21" name="Tarjeta 394"/>
          <p:cNvSpPr/>
          <p:nvPr/>
        </p:nvSpPr>
        <p:spPr>
          <a:xfrm>
            <a:off x="10078745" y="1874520"/>
            <a:ext cx="1472870" cy="1188720"/>
          </a:xfrm>
          <a:prstGeom prst="roundRect">
            <a:avLst>
              <a:gd name="adj" fmla="val 9231"/>
            </a:avLst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22" name="Icono 395" descr="/tmp/claude-0/-home-user-pruebas-brandbook-/fbbf11e7-4add-5196-9360-974883348c29/scratchpad/ppt2/icons/TbCurrencyEuro-v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61625" y="2057400"/>
            <a:ext cx="292608" cy="292608"/>
          </a:xfrm>
          <a:prstGeom prst="rect">
            <a:avLst/>
          </a:prstGeom>
        </p:spPr>
      </p:pic>
      <p:sp>
        <p:nvSpPr>
          <p:cNvPr id="23" name="Texto 396"/>
          <p:cNvSpPr txBox="1"/>
          <p:nvPr/>
        </p:nvSpPr>
        <p:spPr>
          <a:xfrm>
            <a:off x="10261625" y="2423160"/>
            <a:ext cx="11985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695 €</a:t>
            </a:r>
            <a:endParaRPr lang="en-US" sz="1700" dirty="0"/>
          </a:p>
        </p:txBody>
      </p:sp>
      <p:sp>
        <p:nvSpPr>
          <p:cNvPr id="24" name="Texto 397"/>
          <p:cNvSpPr txBox="1"/>
          <p:nvPr/>
        </p:nvSpPr>
        <p:spPr>
          <a:xfrm>
            <a:off x="10261625" y="2743200"/>
            <a:ext cx="1198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Desde, por persona</a:t>
            </a:r>
            <a:endParaRPr lang="en-US" sz="950" dirty="0"/>
          </a:p>
        </p:txBody>
      </p:sp>
      <p:sp>
        <p:nvSpPr>
          <p:cNvPr id="25" name="Texto 398"/>
          <p:cNvSpPr txBox="1"/>
          <p:nvPr/>
        </p:nvSpPr>
        <p:spPr>
          <a:xfrm>
            <a:off x="516636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chemeClr val="accent2"/>
                </a:solidFill>
              </a:rPr>
              <a:t>ETAPAS</a:t>
            </a:r>
            <a:endParaRPr lang="en-US" sz="950" dirty="0"/>
          </a:p>
        </p:txBody>
      </p:sp>
      <p:sp>
        <p:nvSpPr>
          <p:cNvPr id="26" name="Línea 399"/>
          <p:cNvSpPr/>
          <p:nvPr/>
        </p:nvSpPr>
        <p:spPr>
          <a:xfrm>
            <a:off x="5266944" y="3749040"/>
            <a:ext cx="0" cy="1828800"/>
          </a:xfrm>
          <a:prstGeom prst="line">
            <a:avLst/>
          </a:prstGeom>
          <a:noFill/>
          <a:ln w="19050">
            <a:solidFill>
              <a:srgbClr val="7AA606"/>
            </a:solidFill>
            <a:prstDash val="solid"/>
          </a:ln>
        </p:spPr>
      </p:sp>
      <p:sp>
        <p:nvSpPr>
          <p:cNvPr id="27" name="Etapa 400"/>
          <p:cNvSpPr/>
          <p:nvPr/>
        </p:nvSpPr>
        <p:spPr>
          <a:xfrm>
            <a:off x="5166360" y="3675888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28" name="Texto 401"/>
          <p:cNvSpPr txBox="1"/>
          <p:nvPr/>
        </p:nvSpPr>
        <p:spPr>
          <a:xfrm>
            <a:off x="5532120" y="3657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Etapa 1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Sarria › Portomarín</a:t>
            </a:r>
            <a:endParaRPr lang="en-US" sz="1200" dirty="0"/>
          </a:p>
        </p:txBody>
      </p:sp>
      <p:sp>
        <p:nvSpPr>
          <p:cNvPr id="29" name="Texto 402"/>
          <p:cNvSpPr txBox="1"/>
          <p:nvPr/>
        </p:nvSpPr>
        <p:spPr>
          <a:xfrm>
            <a:off x="10454335" y="3657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22 km</a:t>
            </a:r>
            <a:endParaRPr lang="en-US" sz="1250" dirty="0"/>
          </a:p>
        </p:txBody>
      </p:sp>
      <p:sp>
        <p:nvSpPr>
          <p:cNvPr id="30" name="Línea 403"/>
          <p:cNvSpPr/>
          <p:nvPr/>
        </p:nvSpPr>
        <p:spPr>
          <a:xfrm>
            <a:off x="5532120" y="4041648"/>
            <a:ext cx="6019495" cy="0"/>
          </a:xfrm>
          <a:prstGeom prst="line">
            <a:avLst/>
          </a:prstGeom>
          <a:noFill/>
          <a:ln w="9525">
            <a:solidFill>
              <a:srgbClr val="E8E8E6"/>
            </a:solidFill>
            <a:prstDash val="solid"/>
          </a:ln>
        </p:spPr>
      </p:sp>
      <p:sp>
        <p:nvSpPr>
          <p:cNvPr id="31" name="Etapa 404"/>
          <p:cNvSpPr/>
          <p:nvPr/>
        </p:nvSpPr>
        <p:spPr>
          <a:xfrm>
            <a:off x="5166360" y="4133088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32" name="Texto 405"/>
          <p:cNvSpPr txBox="1"/>
          <p:nvPr/>
        </p:nvSpPr>
        <p:spPr>
          <a:xfrm>
            <a:off x="5532120" y="4114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Etapa 2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Portomarín › Palas de Rei</a:t>
            </a:r>
            <a:endParaRPr lang="en-US" sz="1200" dirty="0"/>
          </a:p>
        </p:txBody>
      </p:sp>
      <p:sp>
        <p:nvSpPr>
          <p:cNvPr id="33" name="Texto 406"/>
          <p:cNvSpPr txBox="1"/>
          <p:nvPr/>
        </p:nvSpPr>
        <p:spPr>
          <a:xfrm>
            <a:off x="10454335" y="4114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25 km</a:t>
            </a:r>
            <a:endParaRPr lang="en-US" sz="1250" dirty="0"/>
          </a:p>
        </p:txBody>
      </p:sp>
      <p:sp>
        <p:nvSpPr>
          <p:cNvPr id="34" name="Línea 407"/>
          <p:cNvSpPr/>
          <p:nvPr/>
        </p:nvSpPr>
        <p:spPr>
          <a:xfrm>
            <a:off x="5532120" y="4498848"/>
            <a:ext cx="6019495" cy="0"/>
          </a:xfrm>
          <a:prstGeom prst="line">
            <a:avLst/>
          </a:prstGeom>
          <a:noFill/>
          <a:ln w="9525">
            <a:solidFill>
              <a:srgbClr val="E8E8E6"/>
            </a:solidFill>
            <a:prstDash val="solid"/>
          </a:ln>
        </p:spPr>
      </p:sp>
      <p:sp>
        <p:nvSpPr>
          <p:cNvPr id="35" name="Etapa 408"/>
          <p:cNvSpPr/>
          <p:nvPr/>
        </p:nvSpPr>
        <p:spPr>
          <a:xfrm>
            <a:off x="5166360" y="4590288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36" name="Texto 409"/>
          <p:cNvSpPr txBox="1"/>
          <p:nvPr/>
        </p:nvSpPr>
        <p:spPr>
          <a:xfrm>
            <a:off x="5532120" y="4572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Etapa 3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Palas de Rei › Arzúa</a:t>
            </a:r>
            <a:endParaRPr lang="en-US" sz="1200" dirty="0"/>
          </a:p>
        </p:txBody>
      </p:sp>
      <p:sp>
        <p:nvSpPr>
          <p:cNvPr id="37" name="Texto 410"/>
          <p:cNvSpPr txBox="1"/>
          <p:nvPr/>
        </p:nvSpPr>
        <p:spPr>
          <a:xfrm>
            <a:off x="10454335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29 km</a:t>
            </a:r>
            <a:endParaRPr lang="en-US" sz="1250" dirty="0"/>
          </a:p>
        </p:txBody>
      </p:sp>
      <p:sp>
        <p:nvSpPr>
          <p:cNvPr id="38" name="Línea 411"/>
          <p:cNvSpPr/>
          <p:nvPr/>
        </p:nvSpPr>
        <p:spPr>
          <a:xfrm>
            <a:off x="5532120" y="4956048"/>
            <a:ext cx="6019495" cy="0"/>
          </a:xfrm>
          <a:prstGeom prst="line">
            <a:avLst/>
          </a:prstGeom>
          <a:noFill/>
          <a:ln w="9525">
            <a:solidFill>
              <a:srgbClr val="E8E8E6"/>
            </a:solidFill>
            <a:prstDash val="solid"/>
          </a:ln>
        </p:spPr>
      </p:sp>
      <p:sp>
        <p:nvSpPr>
          <p:cNvPr id="39" name="Etapa 412"/>
          <p:cNvSpPr/>
          <p:nvPr/>
        </p:nvSpPr>
        <p:spPr>
          <a:xfrm>
            <a:off x="5166360" y="5047488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40" name="Texto 413"/>
          <p:cNvSpPr txBox="1"/>
          <p:nvPr/>
        </p:nvSpPr>
        <p:spPr>
          <a:xfrm>
            <a:off x="5532120" y="5029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Etapa 4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Arzúa › O Pedrouzo</a:t>
            </a:r>
            <a:endParaRPr lang="en-US" sz="1200" dirty="0"/>
          </a:p>
        </p:txBody>
      </p:sp>
      <p:sp>
        <p:nvSpPr>
          <p:cNvPr id="41" name="Texto 414"/>
          <p:cNvSpPr txBox="1"/>
          <p:nvPr/>
        </p:nvSpPr>
        <p:spPr>
          <a:xfrm>
            <a:off x="10454335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19 km</a:t>
            </a:r>
            <a:endParaRPr lang="en-US" sz="1250" dirty="0"/>
          </a:p>
        </p:txBody>
      </p:sp>
      <p:sp>
        <p:nvSpPr>
          <p:cNvPr id="42" name="Línea 415"/>
          <p:cNvSpPr/>
          <p:nvPr/>
        </p:nvSpPr>
        <p:spPr>
          <a:xfrm>
            <a:off x="5532120" y="5413248"/>
            <a:ext cx="6019495" cy="0"/>
          </a:xfrm>
          <a:prstGeom prst="line">
            <a:avLst/>
          </a:prstGeom>
          <a:noFill/>
          <a:ln w="9525">
            <a:solidFill>
              <a:srgbClr val="E8E8E6"/>
            </a:solidFill>
            <a:prstDash val="solid"/>
          </a:ln>
        </p:spPr>
      </p:sp>
      <p:sp>
        <p:nvSpPr>
          <p:cNvPr id="43" name="Etapa 416"/>
          <p:cNvSpPr/>
          <p:nvPr/>
        </p:nvSpPr>
        <p:spPr>
          <a:xfrm>
            <a:off x="5166360" y="5504688"/>
            <a:ext cx="201168" cy="201168"/>
          </a:xfrm>
          <a:prstGeom prst="ellipse">
            <a:avLst/>
          </a:prstGeom>
          <a:solidFill>
            <a:srgbClr val="7AA606"/>
          </a:solidFill>
          <a:ln w="25400">
            <a:solidFill>
              <a:srgbClr val="7AA606"/>
            </a:solidFill>
            <a:prstDash val="solid"/>
          </a:ln>
        </p:spPr>
      </p:sp>
      <p:sp>
        <p:nvSpPr>
          <p:cNvPr id="44" name="Texto 417"/>
          <p:cNvSpPr txBox="1"/>
          <p:nvPr/>
        </p:nvSpPr>
        <p:spPr>
          <a:xfrm>
            <a:off x="553212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Etapa 5 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Pedrouzo › Santiago</a:t>
            </a:r>
            <a:endParaRPr lang="en-US" sz="1200" dirty="0"/>
          </a:p>
        </p:txBody>
      </p:sp>
      <p:sp>
        <p:nvSpPr>
          <p:cNvPr id="45" name="Texto 418"/>
          <p:cNvSpPr txBox="1"/>
          <p:nvPr/>
        </p:nvSpPr>
        <p:spPr>
          <a:xfrm>
            <a:off x="10454335" y="54864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20 km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IMAGEN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Momentos del</a:t>
            </a:r>
            <a:endParaRPr lang="en-US" sz="2800" dirty="0"/>
          </a:p>
        </p:txBody>
      </p:sp>
      <p:sp>
        <p:nvSpPr>
          <p:cNvPr id="4" name="Subrayado Ways 419"/>
          <p:cNvSpPr/>
          <p:nvPr/>
        </p:nvSpPr>
        <p:spPr>
          <a:xfrm rot="-90000">
            <a:off x="3417976" y="731520"/>
            <a:ext cx="1601267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Camino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Fotos con pie: lugar y momento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Tres fotos con esquinas redondeadas y pie. Clic derecho › Cambiar imagen.</a:t>
            </a:r>
            <a:endParaRPr lang="en-US" sz="1300" dirty="0"/>
          </a:p>
        </p:txBody>
      </p:sp>
      <p:pic>
        <p:nvPicPr>
          <p:cNvPr id="7" name="FotoR 420" descr="/tmp/claude-0/-home-user-pruebas-brandbook-/fbbf11e7-4add-5196-9360-974883348c29/scratchpad/ppt2/img/conch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3454298" cy="2514600"/>
          </a:xfrm>
          <a:prstGeom prst="roundRect">
            <a:avLst>
              <a:gd name="adj" fmla="val 5000"/>
            </a:avLst>
          </a:prstGeom>
        </p:spPr>
      </p:pic>
      <p:sp>
        <p:nvSpPr>
          <p:cNvPr id="8" name="Texto 421"/>
          <p:cNvSpPr txBox="1"/>
          <p:nvPr/>
        </p:nvSpPr>
        <p:spPr>
          <a:xfrm>
            <a:off x="640080" y="461772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 concha</a:t>
            </a:r>
            <a:endParaRPr lang="en-US" sz="1400" dirty="0"/>
          </a:p>
        </p:txBody>
      </p:sp>
      <p:sp>
        <p:nvSpPr>
          <p:cNvPr id="9" name="Texto 422"/>
          <p:cNvSpPr txBox="1"/>
          <p:nvPr/>
        </p:nvSpPr>
        <p:spPr>
          <a:xfrm>
            <a:off x="640080" y="4910328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El símbolo que acompaña a cada peregrino.</a:t>
            </a:r>
            <a:endParaRPr lang="en-US" sz="1100" dirty="0"/>
          </a:p>
        </p:txBody>
      </p:sp>
      <p:pic>
        <p:nvPicPr>
          <p:cNvPr id="10" name="FotoR 423" descr="/tmp/claude-0/-home-user-pruebas-brandbook-/fbbf11e7-4add-5196-9360-974883348c29/scratchpad/ppt2/img/moj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698" y="1920240"/>
            <a:ext cx="3454298" cy="2514600"/>
          </a:xfrm>
          <a:prstGeom prst="roundRect">
            <a:avLst>
              <a:gd name="adj" fmla="val 5000"/>
            </a:avLst>
          </a:prstGeom>
        </p:spPr>
      </p:pic>
      <p:sp>
        <p:nvSpPr>
          <p:cNvPr id="11" name="Texto 424"/>
          <p:cNvSpPr txBox="1"/>
          <p:nvPr/>
        </p:nvSpPr>
        <p:spPr>
          <a:xfrm>
            <a:off x="4368698" y="461772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El mojón</a:t>
            </a:r>
            <a:endParaRPr lang="en-US" sz="1400" dirty="0"/>
          </a:p>
        </p:txBody>
      </p:sp>
      <p:sp>
        <p:nvSpPr>
          <p:cNvPr id="12" name="Texto 425"/>
          <p:cNvSpPr txBox="1"/>
          <p:nvPr/>
        </p:nvSpPr>
        <p:spPr>
          <a:xfrm>
            <a:off x="4368698" y="4910328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Cada kilómetro, una señal hacia Santiago.</a:t>
            </a:r>
            <a:endParaRPr lang="en-US" sz="1100" dirty="0"/>
          </a:p>
        </p:txBody>
      </p:sp>
      <p:pic>
        <p:nvPicPr>
          <p:cNvPr id="13" name="FotoR 426" descr="/tmp/claude-0/-home-user-pruebas-brandbook-/fbbf11e7-4add-5196-9360-974883348c29/scratchpad/ppt2/img/llegada-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1920240"/>
            <a:ext cx="3454298" cy="2514600"/>
          </a:xfrm>
          <a:prstGeom prst="roundRect">
            <a:avLst>
              <a:gd name="adj" fmla="val 5000"/>
            </a:avLst>
          </a:prstGeom>
        </p:spPr>
      </p:pic>
      <p:sp>
        <p:nvSpPr>
          <p:cNvPr id="14" name="Texto 427"/>
          <p:cNvSpPr txBox="1"/>
          <p:nvPr/>
        </p:nvSpPr>
        <p:spPr>
          <a:xfrm>
            <a:off x="8097317" y="461772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 llegada</a:t>
            </a:r>
            <a:endParaRPr lang="en-US" sz="1400" dirty="0"/>
          </a:p>
        </p:txBody>
      </p:sp>
      <p:sp>
        <p:nvSpPr>
          <p:cNvPr id="15" name="Texto 428"/>
          <p:cNvSpPr txBox="1"/>
          <p:nvPr/>
        </p:nvSpPr>
        <p:spPr>
          <a:xfrm>
            <a:off x="8097317" y="4910328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El abrazo en el Obradoiro.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uebas-brandbook-/fbbf11e7-4add-5196-9360-974883348c29/scratchpad/ppt2/img/mirador.jpg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sotipo 429" descr="/tmp/claude-0/-home-user-pruebas-brandbook-/fbbf11e7-4add-5196-9360-974883348c29/scratchpad/ppt2/img/iso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411480"/>
            <a:ext cx="457200" cy="383557"/>
          </a:xfrm>
          <a:prstGeom prst="rect">
            <a:avLst/>
          </a:prstGeom>
        </p:spPr>
      </p:pic>
      <p:sp>
        <p:nvSpPr>
          <p:cNvPr id="4" name="Tarjeta 430"/>
          <p:cNvSpPr/>
          <p:nvPr/>
        </p:nvSpPr>
        <p:spPr>
          <a:xfrm>
            <a:off x="640080" y="2926080"/>
            <a:ext cx="5669280" cy="31089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5" name="Texto 431"/>
          <p:cNvSpPr txBox="1"/>
          <p:nvPr/>
        </p:nvSpPr>
        <p:spPr>
          <a:xfrm>
            <a:off x="100584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</a:t>
            </a:r>
            <a:endParaRPr lang="en-US" sz="6000" dirty="0"/>
          </a:p>
        </p:txBody>
      </p:sp>
      <p:sp>
        <p:nvSpPr>
          <p:cNvPr id="6" name="Texto 432"/>
          <p:cNvSpPr txBox="1"/>
          <p:nvPr/>
        </p:nvSpPr>
        <p:spPr>
          <a:xfrm>
            <a:off x="1005840" y="3703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Una opinión de un cliente o una frase que resuma el espíritu de la propuesta, en dos o tres líneas como mucho.</a:t>
            </a:r>
            <a:endParaRPr lang="en-US" sz="1800" dirty="0"/>
          </a:p>
        </p:txBody>
      </p:sp>
      <p:sp>
        <p:nvSpPr>
          <p:cNvPr id="7" name="Texto 433"/>
          <p:cNvSpPr txBox="1"/>
          <p:nvPr/>
        </p:nvSpPr>
        <p:spPr>
          <a:xfrm>
            <a:off x="1005840" y="5303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Nombre Apellido · Camino Francés 2026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IDEA CLAVE</a:t>
            </a:r>
            <a:endParaRPr lang="en-US" sz="1000" dirty="0"/>
          </a:p>
        </p:txBody>
      </p:sp>
      <p:pic>
        <p:nvPicPr>
          <p:cNvPr id="3" name="Concha marca de agua 434" descr="/tmp/claude-0/-home-user-pruebas-brandbook-/fbbf11e7-4add-5196-9360-974883348c29/scratchpad/ppt2/img/concha-agua-ver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94560"/>
            <a:ext cx="4023360" cy="3375302"/>
          </a:xfrm>
          <a:prstGeom prst="rect">
            <a:avLst/>
          </a:prstGeom>
        </p:spPr>
      </p:pic>
      <p:sp>
        <p:nvSpPr>
          <p:cNvPr id="4" name="Texto 435"/>
          <p:cNvSpPr txBox="1"/>
          <p:nvPr/>
        </p:nvSpPr>
        <p:spPr>
          <a:xfrm>
            <a:off x="640080" y="21031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Una frase grande para</a:t>
            </a:r>
            <a:endParaRPr lang="en-US" sz="4800" dirty="0"/>
          </a:p>
        </p:txBody>
      </p:sp>
      <p:sp>
        <p:nvSpPr>
          <p:cNvPr id="5" name="Subrayado Ways 436"/>
          <p:cNvSpPr/>
          <p:nvPr/>
        </p:nvSpPr>
        <p:spPr>
          <a:xfrm rot="-90000">
            <a:off x="640080" y="2907792"/>
            <a:ext cx="3296107" cy="78028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quedarse</a:t>
            </a:r>
            <a:endParaRPr lang="en-US" sz="4800" dirty="0"/>
          </a:p>
        </p:txBody>
      </p:sp>
      <p:sp>
        <p:nvSpPr>
          <p:cNvPr id="6" name="Texto 437"/>
          <p:cNvSpPr txBox="1"/>
          <p:nvPr/>
        </p:nvSpPr>
        <p:spPr>
          <a:xfrm>
            <a:off x="640080" y="37033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 la idea principal.</a:t>
            </a:r>
            <a:endParaRPr lang="en-US" sz="4800" dirty="0"/>
          </a:p>
        </p:txBody>
      </p:sp>
      <p:sp>
        <p:nvSpPr>
          <p:cNvPr id="7" name="Texto 438"/>
          <p:cNvSpPr txBox="1"/>
          <p:nvPr/>
        </p:nvSpPr>
        <p:spPr>
          <a:xfrm>
            <a:off x="640080" y="4800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Texto de apoyo opcional. Lorem ipsum dolor sit amet, consectetur adipiscing elit.</a:t>
            </a:r>
            <a:endParaRPr lang="en-US" sz="1400" dirty="0"/>
          </a:p>
        </p:txBody>
      </p:sp>
      <p:sp>
        <p:nvSpPr>
          <p:cNvPr id="8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Para una sola idea por diapositiva</a:t>
            </a:r>
            <a:endParaRPr lang="en-US" sz="900" dirty="0"/>
          </a:p>
        </p:txBody>
      </p:sp>
      <p:sp>
        <p:nvSpPr>
          <p:cNvPr id="9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10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EQUIPO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Quién está detrás de</a:t>
            </a:r>
            <a:endParaRPr lang="en-US" sz="2800" dirty="0"/>
          </a:p>
        </p:txBody>
      </p:sp>
      <p:sp>
        <p:nvSpPr>
          <p:cNvPr id="4" name="Subrayado Ways 439"/>
          <p:cNvSpPr/>
          <p:nvPr/>
        </p:nvSpPr>
        <p:spPr>
          <a:xfrm rot="-90000">
            <a:off x="4634484" y="731520"/>
            <a:ext cx="1555039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 viaje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Contactos de ejemplo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Personas, cargos y cómo contactar. Sustituye las iniciales por una foto si la hay.</a:t>
            </a:r>
            <a:endParaRPr lang="en-US" sz="1300" dirty="0"/>
          </a:p>
        </p:txBody>
      </p:sp>
      <p:sp>
        <p:nvSpPr>
          <p:cNvPr id="7" name="Tarjeta 440"/>
          <p:cNvSpPr/>
          <p:nvPr/>
        </p:nvSpPr>
        <p:spPr>
          <a:xfrm>
            <a:off x="640080" y="2011680"/>
            <a:ext cx="2522144" cy="3291840"/>
          </a:xfrm>
          <a:prstGeom prst="roundRect">
            <a:avLst>
              <a:gd name="adj" fmla="val 43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8" name="Foto o iniciales 441"/>
          <p:cNvSpPr/>
          <p:nvPr/>
        </p:nvSpPr>
        <p:spPr>
          <a:xfrm>
            <a:off x="1306792" y="2331720"/>
            <a:ext cx="1188720" cy="1188720"/>
          </a:xfrm>
          <a:prstGeom prst="ellipse">
            <a:avLst/>
          </a:prstGeom>
          <a:solidFill>
            <a:srgbClr val="FAFFEE"/>
          </a:solidFill>
          <a:ln w="19050">
            <a:solidFill>
              <a:srgbClr val="7AA60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NA</a:t>
            </a:r>
            <a:endParaRPr lang="en-US" sz="2600" dirty="0"/>
          </a:p>
        </p:txBody>
      </p:sp>
      <p:sp>
        <p:nvSpPr>
          <p:cNvPr id="9" name="Texto 442"/>
          <p:cNvSpPr txBox="1"/>
          <p:nvPr/>
        </p:nvSpPr>
        <p:spPr>
          <a:xfrm>
            <a:off x="822960" y="374904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Nombre Apellido</a:t>
            </a:r>
            <a:endParaRPr lang="en-US" sz="1400" dirty="0"/>
          </a:p>
        </p:txBody>
      </p:sp>
      <p:sp>
        <p:nvSpPr>
          <p:cNvPr id="10" name="Texto 443"/>
          <p:cNvSpPr txBox="1"/>
          <p:nvPr/>
        </p:nvSpPr>
        <p:spPr>
          <a:xfrm>
            <a:off x="822960" y="4041648"/>
            <a:ext cx="2156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Dirección</a:t>
            </a:r>
            <a:endParaRPr lang="en-US" sz="1100" dirty="0"/>
          </a:p>
        </p:txBody>
      </p:sp>
      <p:sp>
        <p:nvSpPr>
          <p:cNvPr id="11" name="Etiqueta 444"/>
          <p:cNvSpPr/>
          <p:nvPr/>
        </p:nvSpPr>
        <p:spPr>
          <a:xfrm>
            <a:off x="1443952" y="4526280"/>
            <a:ext cx="926382" cy="219456"/>
          </a:xfrm>
          <a:prstGeom prst="roundRect">
            <a:avLst>
              <a:gd name="adj" fmla="val 20833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06718"/>
                </a:solidFill>
              </a:rPr>
              <a:t>CONTACTO</a:t>
            </a:r>
            <a:endParaRPr lang="en-US" sz="850" dirty="0"/>
          </a:p>
        </p:txBody>
      </p:sp>
      <p:sp>
        <p:nvSpPr>
          <p:cNvPr id="12" name="Tarjeta 445"/>
          <p:cNvSpPr/>
          <p:nvPr/>
        </p:nvSpPr>
        <p:spPr>
          <a:xfrm>
            <a:off x="3436544" y="2011680"/>
            <a:ext cx="2522144" cy="3291840"/>
          </a:xfrm>
          <a:prstGeom prst="roundRect">
            <a:avLst>
              <a:gd name="adj" fmla="val 43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3" name="Foto o iniciales 446"/>
          <p:cNvSpPr/>
          <p:nvPr/>
        </p:nvSpPr>
        <p:spPr>
          <a:xfrm>
            <a:off x="4103256" y="2331720"/>
            <a:ext cx="1188720" cy="1188720"/>
          </a:xfrm>
          <a:prstGeom prst="ellipse">
            <a:avLst/>
          </a:prstGeom>
          <a:solidFill>
            <a:srgbClr val="FAFFEE"/>
          </a:solidFill>
          <a:ln w="19050">
            <a:solidFill>
              <a:srgbClr val="7AA60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NA</a:t>
            </a:r>
            <a:endParaRPr lang="en-US" sz="2600" dirty="0"/>
          </a:p>
        </p:txBody>
      </p:sp>
      <p:sp>
        <p:nvSpPr>
          <p:cNvPr id="14" name="Texto 447"/>
          <p:cNvSpPr txBox="1"/>
          <p:nvPr/>
        </p:nvSpPr>
        <p:spPr>
          <a:xfrm>
            <a:off x="3619424" y="374904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Nombre Apellido</a:t>
            </a:r>
            <a:endParaRPr lang="en-US" sz="1400" dirty="0"/>
          </a:p>
        </p:txBody>
      </p:sp>
      <p:sp>
        <p:nvSpPr>
          <p:cNvPr id="15" name="Texto 448"/>
          <p:cNvSpPr txBox="1"/>
          <p:nvPr/>
        </p:nvSpPr>
        <p:spPr>
          <a:xfrm>
            <a:off x="3619424" y="4041648"/>
            <a:ext cx="2156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Atención al viajero</a:t>
            </a:r>
            <a:endParaRPr lang="en-US" sz="1100" dirty="0"/>
          </a:p>
        </p:txBody>
      </p:sp>
      <p:sp>
        <p:nvSpPr>
          <p:cNvPr id="16" name="Etiqueta 449"/>
          <p:cNvSpPr/>
          <p:nvPr/>
        </p:nvSpPr>
        <p:spPr>
          <a:xfrm>
            <a:off x="4240416" y="4526280"/>
            <a:ext cx="926382" cy="219456"/>
          </a:xfrm>
          <a:prstGeom prst="roundRect">
            <a:avLst>
              <a:gd name="adj" fmla="val 20833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06718"/>
                </a:solidFill>
              </a:rPr>
              <a:t>CONTACTO</a:t>
            </a:r>
            <a:endParaRPr lang="en-US" sz="850" dirty="0"/>
          </a:p>
        </p:txBody>
      </p:sp>
      <p:sp>
        <p:nvSpPr>
          <p:cNvPr id="17" name="Tarjeta 450"/>
          <p:cNvSpPr/>
          <p:nvPr/>
        </p:nvSpPr>
        <p:spPr>
          <a:xfrm>
            <a:off x="6233008" y="2011680"/>
            <a:ext cx="2522144" cy="3291840"/>
          </a:xfrm>
          <a:prstGeom prst="roundRect">
            <a:avLst>
              <a:gd name="adj" fmla="val 43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8" name="Foto o iniciales 451"/>
          <p:cNvSpPr/>
          <p:nvPr/>
        </p:nvSpPr>
        <p:spPr>
          <a:xfrm>
            <a:off x="6899719" y="2331720"/>
            <a:ext cx="1188720" cy="1188720"/>
          </a:xfrm>
          <a:prstGeom prst="ellipse">
            <a:avLst/>
          </a:prstGeom>
          <a:solidFill>
            <a:srgbClr val="FAFFEE"/>
          </a:solidFill>
          <a:ln w="19050">
            <a:solidFill>
              <a:srgbClr val="7AA60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NA</a:t>
            </a:r>
            <a:endParaRPr lang="en-US" sz="2600" dirty="0"/>
          </a:p>
        </p:txBody>
      </p:sp>
      <p:sp>
        <p:nvSpPr>
          <p:cNvPr id="19" name="Texto 452"/>
          <p:cNvSpPr txBox="1"/>
          <p:nvPr/>
        </p:nvSpPr>
        <p:spPr>
          <a:xfrm>
            <a:off x="6415888" y="374904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Nombre Apellido</a:t>
            </a:r>
            <a:endParaRPr lang="en-US" sz="1400" dirty="0"/>
          </a:p>
        </p:txBody>
      </p:sp>
      <p:sp>
        <p:nvSpPr>
          <p:cNvPr id="20" name="Texto 453"/>
          <p:cNvSpPr txBox="1"/>
          <p:nvPr/>
        </p:nvSpPr>
        <p:spPr>
          <a:xfrm>
            <a:off x="6415888" y="4041648"/>
            <a:ext cx="2156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Operaciones</a:t>
            </a:r>
            <a:endParaRPr lang="en-US" sz="1100" dirty="0"/>
          </a:p>
        </p:txBody>
      </p:sp>
      <p:sp>
        <p:nvSpPr>
          <p:cNvPr id="21" name="Etiqueta 454"/>
          <p:cNvSpPr/>
          <p:nvPr/>
        </p:nvSpPr>
        <p:spPr>
          <a:xfrm>
            <a:off x="7036880" y="4526280"/>
            <a:ext cx="926382" cy="219456"/>
          </a:xfrm>
          <a:prstGeom prst="roundRect">
            <a:avLst>
              <a:gd name="adj" fmla="val 20833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06718"/>
                </a:solidFill>
              </a:rPr>
              <a:t>CONTACTO</a:t>
            </a:r>
            <a:endParaRPr lang="en-US" sz="850" dirty="0"/>
          </a:p>
        </p:txBody>
      </p:sp>
      <p:sp>
        <p:nvSpPr>
          <p:cNvPr id="22" name="Tarjeta 455"/>
          <p:cNvSpPr/>
          <p:nvPr/>
        </p:nvSpPr>
        <p:spPr>
          <a:xfrm>
            <a:off x="9029471" y="2011680"/>
            <a:ext cx="2522144" cy="3291840"/>
          </a:xfrm>
          <a:prstGeom prst="roundRect">
            <a:avLst>
              <a:gd name="adj" fmla="val 43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3" name="Foto o iniciales 456"/>
          <p:cNvSpPr/>
          <p:nvPr/>
        </p:nvSpPr>
        <p:spPr>
          <a:xfrm>
            <a:off x="9696183" y="2331720"/>
            <a:ext cx="1188720" cy="1188720"/>
          </a:xfrm>
          <a:prstGeom prst="ellipse">
            <a:avLst/>
          </a:prstGeom>
          <a:solidFill>
            <a:srgbClr val="FAFFEE"/>
          </a:solidFill>
          <a:ln w="19050">
            <a:solidFill>
              <a:srgbClr val="7AA606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NA</a:t>
            </a:r>
            <a:endParaRPr lang="en-US" sz="2600" dirty="0"/>
          </a:p>
        </p:txBody>
      </p:sp>
      <p:sp>
        <p:nvSpPr>
          <p:cNvPr id="24" name="Texto 457"/>
          <p:cNvSpPr txBox="1"/>
          <p:nvPr/>
        </p:nvSpPr>
        <p:spPr>
          <a:xfrm>
            <a:off x="9212351" y="3749040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Nombre Apellido</a:t>
            </a:r>
            <a:endParaRPr lang="en-US" sz="1400" dirty="0"/>
          </a:p>
        </p:txBody>
      </p:sp>
      <p:sp>
        <p:nvSpPr>
          <p:cNvPr id="25" name="Texto 458"/>
          <p:cNvSpPr txBox="1"/>
          <p:nvPr/>
        </p:nvSpPr>
        <p:spPr>
          <a:xfrm>
            <a:off x="9212351" y="4041648"/>
            <a:ext cx="2156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Marketing</a:t>
            </a:r>
            <a:endParaRPr lang="en-US" sz="1100" dirty="0"/>
          </a:p>
        </p:txBody>
      </p:sp>
      <p:sp>
        <p:nvSpPr>
          <p:cNvPr id="26" name="Etiqueta 459"/>
          <p:cNvSpPr/>
          <p:nvPr/>
        </p:nvSpPr>
        <p:spPr>
          <a:xfrm>
            <a:off x="9833343" y="4526280"/>
            <a:ext cx="926382" cy="219456"/>
          </a:xfrm>
          <a:prstGeom prst="roundRect">
            <a:avLst>
              <a:gd name="adj" fmla="val 20833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06718"/>
                </a:solidFill>
              </a:rPr>
              <a:t>CONTACTO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DUDAS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Preguntas</a:t>
            </a:r>
            <a:endParaRPr lang="en-US" sz="2800" dirty="0"/>
          </a:p>
        </p:txBody>
      </p:sp>
      <p:sp>
        <p:nvSpPr>
          <p:cNvPr id="4" name="Subrayado Ways 460"/>
          <p:cNvSpPr/>
          <p:nvPr/>
        </p:nvSpPr>
        <p:spPr>
          <a:xfrm rot="-90000">
            <a:off x="2674772" y="731520"/>
            <a:ext cx="2189429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frecuentes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Respuestas de ejemplo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Seis tarjetas de pregunta y respuesta.</a:t>
            </a:r>
            <a:endParaRPr lang="en-US" sz="1300" dirty="0"/>
          </a:p>
        </p:txBody>
      </p:sp>
      <p:sp>
        <p:nvSpPr>
          <p:cNvPr id="7" name="Tarjeta 461"/>
          <p:cNvSpPr/>
          <p:nvPr/>
        </p:nvSpPr>
        <p:spPr>
          <a:xfrm>
            <a:off x="640080" y="1874520"/>
            <a:ext cx="348477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8" name="Pregunta 462"/>
          <p:cNvSpPr/>
          <p:nvPr/>
        </p:nvSpPr>
        <p:spPr>
          <a:xfrm>
            <a:off x="868680" y="2103120"/>
            <a:ext cx="347472" cy="347472"/>
          </a:xfrm>
          <a:prstGeom prst="ellipse">
            <a:avLst/>
          </a:prstGeom>
          <a:solidFill>
            <a:srgbClr val="7AA6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1400" dirty="0"/>
          </a:p>
        </p:txBody>
      </p:sp>
      <p:sp>
        <p:nvSpPr>
          <p:cNvPr id="9" name="Texto 463"/>
          <p:cNvSpPr txBox="1"/>
          <p:nvPr/>
        </p:nvSpPr>
        <p:spPr>
          <a:xfrm>
            <a:off x="1325880" y="2121408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¿Qué nivel físico hace falta?</a:t>
            </a:r>
            <a:endParaRPr lang="en-US" sz="1300" dirty="0"/>
          </a:p>
        </p:txBody>
      </p:sp>
      <p:sp>
        <p:nvSpPr>
          <p:cNvPr id="10" name="Texto 464"/>
          <p:cNvSpPr txBox="1"/>
          <p:nvPr/>
        </p:nvSpPr>
        <p:spPr>
          <a:xfrm>
            <a:off x="868680" y="265176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</p:txBody>
      </p:sp>
      <p:sp>
        <p:nvSpPr>
          <p:cNvPr id="11" name="Tarjeta 465"/>
          <p:cNvSpPr/>
          <p:nvPr/>
        </p:nvSpPr>
        <p:spPr>
          <a:xfrm>
            <a:off x="4353458" y="1874520"/>
            <a:ext cx="348477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2" name="Pregunta 466"/>
          <p:cNvSpPr/>
          <p:nvPr/>
        </p:nvSpPr>
        <p:spPr>
          <a:xfrm>
            <a:off x="4582058" y="2103120"/>
            <a:ext cx="347472" cy="347472"/>
          </a:xfrm>
          <a:prstGeom prst="ellipse">
            <a:avLst/>
          </a:prstGeom>
          <a:solidFill>
            <a:srgbClr val="7AA6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1400" dirty="0"/>
          </a:p>
        </p:txBody>
      </p:sp>
      <p:sp>
        <p:nvSpPr>
          <p:cNvPr id="13" name="Texto 467"/>
          <p:cNvSpPr txBox="1"/>
          <p:nvPr/>
        </p:nvSpPr>
        <p:spPr>
          <a:xfrm>
            <a:off x="5039258" y="2121408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¿Cuál es la mejor época?</a:t>
            </a:r>
            <a:endParaRPr lang="en-US" sz="1300" dirty="0"/>
          </a:p>
        </p:txBody>
      </p:sp>
      <p:sp>
        <p:nvSpPr>
          <p:cNvPr id="14" name="Texto 468"/>
          <p:cNvSpPr txBox="1"/>
          <p:nvPr/>
        </p:nvSpPr>
        <p:spPr>
          <a:xfrm>
            <a:off x="4582058" y="265176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</p:txBody>
      </p:sp>
      <p:sp>
        <p:nvSpPr>
          <p:cNvPr id="15" name="Tarjeta 469"/>
          <p:cNvSpPr/>
          <p:nvPr/>
        </p:nvSpPr>
        <p:spPr>
          <a:xfrm>
            <a:off x="8066837" y="1874520"/>
            <a:ext cx="348477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6" name="Pregunta 470"/>
          <p:cNvSpPr/>
          <p:nvPr/>
        </p:nvSpPr>
        <p:spPr>
          <a:xfrm>
            <a:off x="8295437" y="2103120"/>
            <a:ext cx="347472" cy="347472"/>
          </a:xfrm>
          <a:prstGeom prst="ellipse">
            <a:avLst/>
          </a:prstGeom>
          <a:solidFill>
            <a:srgbClr val="7AA6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o 471"/>
          <p:cNvSpPr txBox="1"/>
          <p:nvPr/>
        </p:nvSpPr>
        <p:spPr>
          <a:xfrm>
            <a:off x="8752637" y="2121408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¿Cómo llega la maleta?</a:t>
            </a:r>
            <a:endParaRPr lang="en-US" sz="1300" dirty="0"/>
          </a:p>
        </p:txBody>
      </p:sp>
      <p:sp>
        <p:nvSpPr>
          <p:cNvPr id="18" name="Texto 472"/>
          <p:cNvSpPr txBox="1"/>
          <p:nvPr/>
        </p:nvSpPr>
        <p:spPr>
          <a:xfrm>
            <a:off x="8295437" y="265176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</p:txBody>
      </p:sp>
      <p:sp>
        <p:nvSpPr>
          <p:cNvPr id="19" name="Tarjeta 473"/>
          <p:cNvSpPr/>
          <p:nvPr/>
        </p:nvSpPr>
        <p:spPr>
          <a:xfrm>
            <a:off x="640080" y="3886200"/>
            <a:ext cx="348477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0" name="Pregunta 474"/>
          <p:cNvSpPr/>
          <p:nvPr/>
        </p:nvSpPr>
        <p:spPr>
          <a:xfrm>
            <a:off x="868680" y="4114800"/>
            <a:ext cx="347472" cy="347472"/>
          </a:xfrm>
          <a:prstGeom prst="ellipse">
            <a:avLst/>
          </a:prstGeom>
          <a:solidFill>
            <a:srgbClr val="7AA6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1400" dirty="0"/>
          </a:p>
        </p:txBody>
      </p:sp>
      <p:sp>
        <p:nvSpPr>
          <p:cNvPr id="21" name="Texto 475"/>
          <p:cNvSpPr txBox="1"/>
          <p:nvPr/>
        </p:nvSpPr>
        <p:spPr>
          <a:xfrm>
            <a:off x="1325880" y="4133088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¿Puedo ir solo o sola?</a:t>
            </a:r>
            <a:endParaRPr lang="en-US" sz="1300" dirty="0"/>
          </a:p>
        </p:txBody>
      </p:sp>
      <p:sp>
        <p:nvSpPr>
          <p:cNvPr id="22" name="Texto 476"/>
          <p:cNvSpPr txBox="1"/>
          <p:nvPr/>
        </p:nvSpPr>
        <p:spPr>
          <a:xfrm>
            <a:off x="868680" y="466344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</p:txBody>
      </p:sp>
      <p:sp>
        <p:nvSpPr>
          <p:cNvPr id="23" name="Tarjeta 477"/>
          <p:cNvSpPr/>
          <p:nvPr/>
        </p:nvSpPr>
        <p:spPr>
          <a:xfrm>
            <a:off x="4353458" y="3886200"/>
            <a:ext cx="348477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4" name="Pregunta 478"/>
          <p:cNvSpPr/>
          <p:nvPr/>
        </p:nvSpPr>
        <p:spPr>
          <a:xfrm>
            <a:off x="4582058" y="4114800"/>
            <a:ext cx="347472" cy="347472"/>
          </a:xfrm>
          <a:prstGeom prst="ellipse">
            <a:avLst/>
          </a:prstGeom>
          <a:solidFill>
            <a:srgbClr val="7AA6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1400" dirty="0"/>
          </a:p>
        </p:txBody>
      </p:sp>
      <p:sp>
        <p:nvSpPr>
          <p:cNvPr id="25" name="Texto 479"/>
          <p:cNvSpPr txBox="1"/>
          <p:nvPr/>
        </p:nvSpPr>
        <p:spPr>
          <a:xfrm>
            <a:off x="5039258" y="4133088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¿Y si un día no puedo caminar?</a:t>
            </a:r>
            <a:endParaRPr lang="en-US" sz="1300" dirty="0"/>
          </a:p>
        </p:txBody>
      </p:sp>
      <p:sp>
        <p:nvSpPr>
          <p:cNvPr id="26" name="Texto 480"/>
          <p:cNvSpPr txBox="1"/>
          <p:nvPr/>
        </p:nvSpPr>
        <p:spPr>
          <a:xfrm>
            <a:off x="4582058" y="466344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</p:txBody>
      </p:sp>
      <p:sp>
        <p:nvSpPr>
          <p:cNvPr id="27" name="Tarjeta 481"/>
          <p:cNvSpPr/>
          <p:nvPr/>
        </p:nvSpPr>
        <p:spPr>
          <a:xfrm>
            <a:off x="8066837" y="3886200"/>
            <a:ext cx="3484778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8" name="Pregunta 482"/>
          <p:cNvSpPr/>
          <p:nvPr/>
        </p:nvSpPr>
        <p:spPr>
          <a:xfrm>
            <a:off x="8295437" y="4114800"/>
            <a:ext cx="347472" cy="347472"/>
          </a:xfrm>
          <a:prstGeom prst="ellipse">
            <a:avLst/>
          </a:prstGeom>
          <a:solidFill>
            <a:srgbClr val="7AA6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1400" dirty="0"/>
          </a:p>
        </p:txBody>
      </p:sp>
      <p:sp>
        <p:nvSpPr>
          <p:cNvPr id="29" name="Texto 483"/>
          <p:cNvSpPr txBox="1"/>
          <p:nvPr/>
        </p:nvSpPr>
        <p:spPr>
          <a:xfrm>
            <a:off x="8752637" y="4133088"/>
            <a:ext cx="2570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¿Cómo consigo la Compostela?</a:t>
            </a:r>
            <a:endParaRPr lang="en-US" sz="1300" dirty="0"/>
          </a:p>
        </p:txBody>
      </p:sp>
      <p:sp>
        <p:nvSpPr>
          <p:cNvPr id="30" name="Texto 484"/>
          <p:cNvSpPr txBox="1"/>
          <p:nvPr/>
        </p:nvSpPr>
        <p:spPr>
          <a:xfrm>
            <a:off x="8295437" y="4663440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Lorem ipsum dolor sit amet, consectetur adipiscing elit. Integer posuere erat a ante venenatis dapibus, posuere velit aliquet.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MEDICIÓN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Las cifras</a:t>
            </a:r>
            <a:endParaRPr lang="en-US" sz="2800" dirty="0"/>
          </a:p>
        </p:txBody>
      </p:sp>
      <p:sp>
        <p:nvSpPr>
          <p:cNvPr id="4" name="Subrayado Ways 485"/>
          <p:cNvSpPr/>
          <p:nvPr/>
        </p:nvSpPr>
        <p:spPr>
          <a:xfrm rot="-90000">
            <a:off x="2489149" y="731520"/>
            <a:ext cx="1137564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clave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Datos de ejemplo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Cuatro datos destacados con icono y una línea de contexto.</a:t>
            </a:r>
            <a:endParaRPr lang="en-US" sz="1300" dirty="0"/>
          </a:p>
        </p:txBody>
      </p:sp>
      <p:sp>
        <p:nvSpPr>
          <p:cNvPr id="7" name="Degradado 486"/>
          <p:cNvSpPr/>
          <p:nvPr/>
        </p:nvSpPr>
        <p:spPr>
          <a:xfrm>
            <a:off x="640080" y="2148840"/>
            <a:ext cx="2522144" cy="2560320"/>
          </a:xfrm>
          <a:prstGeom prst="roundRect">
            <a:avLst>
              <a:gd name="adj" fmla="val 4351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8" name="Icono 487" descr="/tmp/claude-0/-home-user-pruebas-brandbook-/fbbf11e7-4add-5196-9360-974883348c29/scratchpad/ppt2/icons/TbTrendingUp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423160"/>
            <a:ext cx="411480" cy="411480"/>
          </a:xfrm>
          <a:prstGeom prst="rect">
            <a:avLst/>
          </a:prstGeom>
        </p:spPr>
      </p:pic>
      <p:sp>
        <p:nvSpPr>
          <p:cNvPr id="9" name="Texto 488"/>
          <p:cNvSpPr txBox="1"/>
          <p:nvPr/>
        </p:nvSpPr>
        <p:spPr>
          <a:xfrm>
            <a:off x="914400" y="3063240"/>
            <a:ext cx="2156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+35 %</a:t>
            </a:r>
            <a:endParaRPr lang="en-US" sz="3400" dirty="0"/>
          </a:p>
        </p:txBody>
      </p:sp>
      <p:sp>
        <p:nvSpPr>
          <p:cNvPr id="10" name="Texto 489"/>
          <p:cNvSpPr txBox="1"/>
          <p:nvPr/>
        </p:nvSpPr>
        <p:spPr>
          <a:xfrm>
            <a:off x="914400" y="3886200"/>
            <a:ext cx="206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Reservas frente a 2025</a:t>
            </a:r>
            <a:endParaRPr lang="en-US" sz="1200" dirty="0"/>
          </a:p>
        </p:txBody>
      </p:sp>
      <p:sp>
        <p:nvSpPr>
          <p:cNvPr id="11" name="Tarjeta 490"/>
          <p:cNvSpPr/>
          <p:nvPr/>
        </p:nvSpPr>
        <p:spPr>
          <a:xfrm>
            <a:off x="3436544" y="2148840"/>
            <a:ext cx="2522144" cy="2560320"/>
          </a:xfrm>
          <a:prstGeom prst="roundRect">
            <a:avLst>
              <a:gd name="adj" fmla="val 43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12" name="Icono 491" descr="/tmp/claude-0/-home-user-pruebas-brandbook-/fbbf11e7-4add-5196-9360-974883348c29/scratchpad/ppt2/icons/TbUsers-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864" y="2423160"/>
            <a:ext cx="411480" cy="411480"/>
          </a:xfrm>
          <a:prstGeom prst="rect">
            <a:avLst/>
          </a:prstGeom>
        </p:spPr>
      </p:pic>
      <p:sp>
        <p:nvSpPr>
          <p:cNvPr id="13" name="Texto 492"/>
          <p:cNvSpPr txBox="1"/>
          <p:nvPr/>
        </p:nvSpPr>
        <p:spPr>
          <a:xfrm>
            <a:off x="3710864" y="3063240"/>
            <a:ext cx="2156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100.000</a:t>
            </a:r>
            <a:endParaRPr lang="en-US" sz="3400" dirty="0"/>
          </a:p>
        </p:txBody>
      </p:sp>
      <p:sp>
        <p:nvSpPr>
          <p:cNvPr id="14" name="Texto 493"/>
          <p:cNvSpPr txBox="1"/>
          <p:nvPr/>
        </p:nvSpPr>
        <p:spPr>
          <a:xfrm>
            <a:off x="3710864" y="3886200"/>
            <a:ext cx="206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Seguidores en Instagram</a:t>
            </a:r>
            <a:endParaRPr lang="en-US" sz="1200" dirty="0"/>
          </a:p>
        </p:txBody>
      </p:sp>
      <p:sp>
        <p:nvSpPr>
          <p:cNvPr id="15" name="Tarjeta 494"/>
          <p:cNvSpPr/>
          <p:nvPr/>
        </p:nvSpPr>
        <p:spPr>
          <a:xfrm>
            <a:off x="6233008" y="2148840"/>
            <a:ext cx="2522144" cy="2560320"/>
          </a:xfrm>
          <a:prstGeom prst="roundRect">
            <a:avLst>
              <a:gd name="adj" fmla="val 43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16" name="Icono 495" descr="/tmp/claude-0/-home-user-pruebas-brandbook-/fbbf11e7-4add-5196-9360-974883348c29/scratchpad/ppt2/icons/TbStar-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328" y="2423160"/>
            <a:ext cx="411480" cy="411480"/>
          </a:xfrm>
          <a:prstGeom prst="rect">
            <a:avLst/>
          </a:prstGeom>
        </p:spPr>
      </p:pic>
      <p:sp>
        <p:nvSpPr>
          <p:cNvPr id="17" name="Texto 496"/>
          <p:cNvSpPr txBox="1"/>
          <p:nvPr/>
        </p:nvSpPr>
        <p:spPr>
          <a:xfrm>
            <a:off x="6507328" y="3063240"/>
            <a:ext cx="2156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4,8</a:t>
            </a:r>
            <a:endParaRPr lang="en-US" sz="3400" dirty="0"/>
          </a:p>
        </p:txBody>
      </p:sp>
      <p:sp>
        <p:nvSpPr>
          <p:cNvPr id="18" name="Texto 497"/>
          <p:cNvSpPr txBox="1"/>
          <p:nvPr/>
        </p:nvSpPr>
        <p:spPr>
          <a:xfrm>
            <a:off x="6507328" y="3886200"/>
            <a:ext cx="206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Valoración media de clientes</a:t>
            </a:r>
            <a:endParaRPr lang="en-US" sz="1200" dirty="0"/>
          </a:p>
        </p:txBody>
      </p:sp>
      <p:sp>
        <p:nvSpPr>
          <p:cNvPr id="19" name="Tarjeta 498"/>
          <p:cNvSpPr/>
          <p:nvPr/>
        </p:nvSpPr>
        <p:spPr>
          <a:xfrm>
            <a:off x="9029471" y="2148840"/>
            <a:ext cx="2522144" cy="2560320"/>
          </a:xfrm>
          <a:prstGeom prst="roundRect">
            <a:avLst>
              <a:gd name="adj" fmla="val 43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20" name="Icono 499" descr="/tmp/claude-0/-home-user-pruebas-brandbook-/fbbf11e7-4add-5196-9360-974883348c29/scratchpad/ppt2/icons/TbCalendar-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3791" y="2423160"/>
            <a:ext cx="411480" cy="411480"/>
          </a:xfrm>
          <a:prstGeom prst="rect">
            <a:avLst/>
          </a:prstGeom>
        </p:spPr>
      </p:pic>
      <p:sp>
        <p:nvSpPr>
          <p:cNvPr id="21" name="Texto 500"/>
          <p:cNvSpPr txBox="1"/>
          <p:nvPr/>
        </p:nvSpPr>
        <p:spPr>
          <a:xfrm>
            <a:off x="9303791" y="3063240"/>
            <a:ext cx="2156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2027</a:t>
            </a:r>
            <a:endParaRPr lang="en-US" sz="3400" dirty="0"/>
          </a:p>
        </p:txBody>
      </p:sp>
      <p:sp>
        <p:nvSpPr>
          <p:cNvPr id="22" name="Texto 501"/>
          <p:cNvSpPr txBox="1"/>
          <p:nvPr/>
        </p:nvSpPr>
        <p:spPr>
          <a:xfrm>
            <a:off x="9303791" y="3886200"/>
            <a:ext cx="206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Año Santo Compostelano</a:t>
            </a:r>
            <a:endParaRPr lang="en-US" sz="1200" dirty="0"/>
          </a:p>
        </p:txBody>
      </p:sp>
      <p:sp>
        <p:nvSpPr>
          <p:cNvPr id="23" name="Texto 502"/>
          <p:cNvSpPr txBox="1"/>
          <p:nvPr/>
        </p:nvSpPr>
        <p:spPr>
          <a:xfrm>
            <a:off x="64008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Una frase que explique qué significan las cifras y de dónde salen. Lorem ipsum dolor sit amet, consectetur adipiscing elit.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MEDICIÓN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Los</a:t>
            </a:r>
            <a:endParaRPr lang="en-US" sz="2800" dirty="0"/>
          </a:p>
        </p:txBody>
      </p:sp>
      <p:sp>
        <p:nvSpPr>
          <p:cNvPr id="4" name="Subrayado Ways 503"/>
          <p:cNvSpPr/>
          <p:nvPr/>
        </p:nvSpPr>
        <p:spPr>
          <a:xfrm rot="-90000">
            <a:off x="1363675" y="731520"/>
            <a:ext cx="795833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KPI</a:t>
            </a:r>
            <a:endParaRPr lang="en-US" sz="2800" dirty="0"/>
          </a:p>
        </p:txBody>
      </p:sp>
      <p:sp>
        <p:nvSpPr>
          <p:cNvPr id="5" name="Texto 504"/>
          <p:cNvSpPr txBox="1"/>
          <p:nvPr/>
        </p:nvSpPr>
        <p:spPr>
          <a:xfrm>
            <a:off x="2262988" y="74980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la campaña</a:t>
            </a: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Todas las tablas siguen este estilo: cabecera en mayúsculas, filetes finos y la cifra a la derecha</a:t>
            </a:r>
            <a:endParaRPr lang="en-US" sz="9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 objetivo medible por fase. Periodo de medición: de noviembre a marzo.</a:t>
            </a:r>
            <a:endParaRPr lang="en-US" sz="1300" dirty="0"/>
          </a:p>
        </p:txBody>
      </p:sp>
      <p:graphicFrame>
        <p:nvGraphicFramePr>
          <p:cNvPr id="28" name="Tabla 5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705295"/>
                <a:gridCol w="16459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F6F6E"/>
                          </a:solidFill>
                        </a:rPr>
                        <a:t>FASE</a:t>
                      </a:r>
                      <a:endParaRPr lang="en-US" sz="9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2E2E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F6F6E"/>
                          </a:solidFill>
                        </a:rPr>
                        <a:t>INDICADOR</a:t>
                      </a:r>
                      <a:endParaRPr lang="en-US" sz="9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2E2E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F6F6E"/>
                          </a:solidFill>
                        </a:rPr>
                        <a:t>OBJETIVO</a:t>
                      </a:r>
                      <a:endParaRPr lang="en-US" sz="9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2E2E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06718"/>
                          </a:solidFill>
                        </a:rPr>
                        <a:t>Posicionamiento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E2D"/>
                          </a:solidFill>
                        </a:rPr>
                        <a:t>Aumento de búsquedas de marca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2E2D"/>
                          </a:solidFill>
                        </a:rPr>
                        <a:t>+5 %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06718"/>
                          </a:solidFill>
                        </a:rPr>
                        <a:t>Captación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E2D"/>
                          </a:solidFill>
                        </a:rPr>
                        <a:t>Contactos que piden presupuesto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2E2D"/>
                          </a:solidFill>
                        </a:rPr>
                        <a:t>+5 %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E2D"/>
                          </a:solidFill>
                        </a:rPr>
                        <a:t>Contactos directos desde el blog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2E2D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06718"/>
                          </a:solidFill>
                        </a:rPr>
                        <a:t>Conversión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E2D"/>
                          </a:solidFill>
                        </a:rPr>
                        <a:t>Conversión frente a 2025 en los leads del plan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2E2D"/>
                          </a:solidFill>
                        </a:rPr>
                        <a:t>+1 pto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06718"/>
                          </a:solidFill>
                        </a:rPr>
                        <a:t>CRM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E2D"/>
                          </a:solidFill>
                        </a:rPr>
                        <a:t>Reservas de clientes anteriores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2E2D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06718"/>
                          </a:solidFill>
                        </a:rPr>
                        <a:t>Fidelización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E2D"/>
                          </a:solidFill>
                        </a:rPr>
                        <a:t>Nuevas opiniones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2E2D"/>
                          </a:solidFill>
                        </a:rPr>
                        <a:t>+3.000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E2D"/>
                          </a:solidFill>
                        </a:rPr>
                        <a:t>Puntuación media mantenida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2E2D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109728" marR="109728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MEDICIÓN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Reservas por</a:t>
            </a:r>
            <a:endParaRPr lang="en-US" sz="2800" dirty="0"/>
          </a:p>
        </p:txBody>
      </p:sp>
      <p:sp>
        <p:nvSpPr>
          <p:cNvPr id="4" name="Subrayado Ways 506"/>
          <p:cNvSpPr/>
          <p:nvPr/>
        </p:nvSpPr>
        <p:spPr>
          <a:xfrm rot="-90000">
            <a:off x="3169056" y="731520"/>
            <a:ext cx="946252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mes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Todos los gráficos siguen este estilo: verde Ways, sin rejilla y con el valor encima. Datos de ejemplo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 gráfico nativo: clic derecho › Editar datos.</a:t>
            </a:r>
            <a:endParaRPr lang="en-US" sz="1300" dirty="0"/>
          </a:p>
        </p:txBody>
      </p:sp>
      <p:sp>
        <p:nvSpPr>
          <p:cNvPr id="7" name="Tarjeta 507"/>
          <p:cNvSpPr/>
          <p:nvPr/>
        </p:nvSpPr>
        <p:spPr>
          <a:xfrm>
            <a:off x="640080" y="1874520"/>
            <a:ext cx="749808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graphicFrame>
        <p:nvGraphicFramePr>
          <p:cNvPr id="8" name="Gráfico 508" descr=""/>
          <p:cNvGraphicFramePr/>
          <p:nvPr/>
        </p:nvGraphicFramePr>
        <p:xfrm>
          <a:off x="914400" y="2148840"/>
          <a:ext cx="6949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arjeta 509"/>
          <p:cNvSpPr/>
          <p:nvPr/>
        </p:nvSpPr>
        <p:spPr>
          <a:xfrm>
            <a:off x="8412480" y="1874520"/>
            <a:ext cx="3139135" cy="4023360"/>
          </a:xfrm>
          <a:prstGeom prst="roundRect">
            <a:avLst>
              <a:gd name="adj" fmla="val 3495"/>
            </a:avLst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0" name="Etiqueta 510"/>
          <p:cNvSpPr/>
          <p:nvPr/>
        </p:nvSpPr>
        <p:spPr>
          <a:xfrm>
            <a:off x="8732520" y="2194560"/>
            <a:ext cx="809347" cy="219456"/>
          </a:xfrm>
          <a:prstGeom prst="roundRect">
            <a:avLst>
              <a:gd name="adj" fmla="val 20833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</a:rPr>
              <a:t>LECTURA</a:t>
            </a:r>
            <a:endParaRPr lang="en-US" sz="850" dirty="0"/>
          </a:p>
        </p:txBody>
      </p:sp>
      <p:sp>
        <p:nvSpPr>
          <p:cNvPr id="11" name="Texto 511"/>
          <p:cNvSpPr txBox="1"/>
          <p:nvPr/>
        </p:nvSpPr>
        <p:spPr>
          <a:xfrm>
            <a:off x="8732520" y="260604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Mayo es el mes fuerte</a:t>
            </a:r>
            <a:endParaRPr lang="en-US" sz="1800" dirty="0"/>
          </a:p>
        </p:txBody>
      </p:sp>
      <p:sp>
        <p:nvSpPr>
          <p:cNvPr id="12" name="Texto 512"/>
          <p:cNvSpPr txBox="1"/>
          <p:nvPr/>
        </p:nvSpPr>
        <p:spPr>
          <a:xfrm>
            <a:off x="8732520" y="3291840"/>
            <a:ext cx="24990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Explica aquí qué muestra el gráfico y qué conclusión sacamos. Lorem ipsum dolor sit amet, consectetur adipiscing elit.</a:t>
            </a:r>
            <a:endParaRPr lang="en-US" sz="1200" dirty="0"/>
          </a:p>
        </p:txBody>
      </p:sp>
      <p:sp>
        <p:nvSpPr>
          <p:cNvPr id="13" name="Texto 513"/>
          <p:cNvSpPr txBox="1"/>
          <p:nvPr/>
        </p:nvSpPr>
        <p:spPr>
          <a:xfrm>
            <a:off x="8732520" y="5303520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Fuente: datos de ejemplo.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Tareas y</a:t>
            </a:r>
            <a:endParaRPr lang="en-US" sz="2800" dirty="0"/>
          </a:p>
        </p:txBody>
      </p:sp>
      <p:sp>
        <p:nvSpPr>
          <p:cNvPr id="4" name="Subrayado Ways 514"/>
          <p:cNvSpPr/>
          <p:nvPr/>
        </p:nvSpPr>
        <p:spPr>
          <a:xfrm rot="-90000">
            <a:off x="2275789" y="731520"/>
            <a:ext cx="1435913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estado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Estados: borrador, en curso y hecho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Un tablero por fases para seguir el plan.</a:t>
            </a:r>
            <a:endParaRPr lang="en-US" sz="1300" dirty="0"/>
          </a:p>
        </p:txBody>
      </p:sp>
      <p:sp>
        <p:nvSpPr>
          <p:cNvPr id="7" name="Degradado columna 515"/>
          <p:cNvSpPr/>
          <p:nvPr/>
        </p:nvSpPr>
        <p:spPr>
          <a:xfrm>
            <a:off x="640080" y="1874520"/>
            <a:ext cx="2036003" cy="384048"/>
          </a:xfrm>
          <a:prstGeom prst="roundRect">
            <a:avLst>
              <a:gd name="adj" fmla="val 19048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  <p:txBody>
          <a:bodyPr wrap="square" lIns="0" tIns="1905" rIns="1905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 Posicionamiento</a:t>
            </a:r>
            <a:endParaRPr lang="en-US" sz="1100" dirty="0"/>
          </a:p>
        </p:txBody>
      </p:sp>
      <p:sp>
        <p:nvSpPr>
          <p:cNvPr id="8" name="Tarjeta 516"/>
          <p:cNvSpPr/>
          <p:nvPr/>
        </p:nvSpPr>
        <p:spPr>
          <a:xfrm>
            <a:off x="640080" y="242316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9" name="Texto 517"/>
          <p:cNvSpPr txBox="1"/>
          <p:nvPr/>
        </p:nvSpPr>
        <p:spPr>
          <a:xfrm>
            <a:off x="777240" y="254203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PR por mercado</a:t>
            </a:r>
            <a:endParaRPr lang="en-US" sz="1100" dirty="0"/>
          </a:p>
        </p:txBody>
      </p:sp>
      <p:sp>
        <p:nvSpPr>
          <p:cNvPr id="10" name="Etiqueta 518"/>
          <p:cNvSpPr/>
          <p:nvPr/>
        </p:nvSpPr>
        <p:spPr>
          <a:xfrm>
            <a:off x="777240" y="2880360"/>
            <a:ext cx="886206" cy="201168"/>
          </a:xfrm>
          <a:prstGeom prst="roundRect">
            <a:avLst>
              <a:gd name="adj" fmla="val 22727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BORRADOR</a:t>
            </a:r>
            <a:endParaRPr lang="en-US" sz="750" dirty="0"/>
          </a:p>
        </p:txBody>
      </p:sp>
      <p:sp>
        <p:nvSpPr>
          <p:cNvPr id="11" name="Tarjeta 519"/>
          <p:cNvSpPr/>
          <p:nvPr/>
        </p:nvSpPr>
        <p:spPr>
          <a:xfrm>
            <a:off x="640080" y="338328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2" name="Texto 520"/>
          <p:cNvSpPr txBox="1"/>
          <p:nvPr/>
        </p:nvSpPr>
        <p:spPr>
          <a:xfrm>
            <a:off x="777240" y="350215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Redes y contenido</a:t>
            </a:r>
            <a:endParaRPr lang="en-US" sz="1100" dirty="0"/>
          </a:p>
        </p:txBody>
      </p:sp>
      <p:sp>
        <p:nvSpPr>
          <p:cNvPr id="13" name="Etiqueta 521"/>
          <p:cNvSpPr/>
          <p:nvPr/>
        </p:nvSpPr>
        <p:spPr>
          <a:xfrm>
            <a:off x="777240" y="3840480"/>
            <a:ext cx="630707" cy="201168"/>
          </a:xfrm>
          <a:prstGeom prst="roundRect">
            <a:avLst>
              <a:gd name="adj" fmla="val 22727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506718"/>
                </a:solidFill>
              </a:rPr>
              <a:t>HECHO</a:t>
            </a:r>
            <a:endParaRPr lang="en-US" sz="750" dirty="0"/>
          </a:p>
        </p:txBody>
      </p:sp>
      <p:sp>
        <p:nvSpPr>
          <p:cNvPr id="14" name="Tarjeta 522"/>
          <p:cNvSpPr/>
          <p:nvPr/>
        </p:nvSpPr>
        <p:spPr>
          <a:xfrm>
            <a:off x="640080" y="434340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5" name="Texto 523"/>
          <p:cNvSpPr txBox="1"/>
          <p:nvPr/>
        </p:nvSpPr>
        <p:spPr>
          <a:xfrm>
            <a:off x="777240" y="446227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Autoridad externa</a:t>
            </a:r>
            <a:endParaRPr lang="en-US" sz="1100" dirty="0"/>
          </a:p>
        </p:txBody>
      </p:sp>
      <p:sp>
        <p:nvSpPr>
          <p:cNvPr id="16" name="Etiqueta 524"/>
          <p:cNvSpPr/>
          <p:nvPr/>
        </p:nvSpPr>
        <p:spPr>
          <a:xfrm>
            <a:off x="777240" y="4800600"/>
            <a:ext cx="804809" cy="201168"/>
          </a:xfrm>
          <a:prstGeom prst="roundRect">
            <a:avLst>
              <a:gd name="adj" fmla="val 22727"/>
            </a:avLst>
          </a:prstGeom>
          <a:solidFill>
            <a:srgbClr val="2E2E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EN CURSO</a:t>
            </a:r>
            <a:endParaRPr lang="en-US" sz="750" dirty="0"/>
          </a:p>
        </p:txBody>
      </p:sp>
      <p:sp>
        <p:nvSpPr>
          <p:cNvPr id="17" name="Degradado columna 525"/>
          <p:cNvSpPr/>
          <p:nvPr/>
        </p:nvSpPr>
        <p:spPr>
          <a:xfrm>
            <a:off x="2858963" y="1874520"/>
            <a:ext cx="2036003" cy="384048"/>
          </a:xfrm>
          <a:prstGeom prst="roundRect">
            <a:avLst>
              <a:gd name="adj" fmla="val 19048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  <p:txBody>
          <a:bodyPr wrap="square" lIns="0" tIns="1905" rIns="1905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 Captación</a:t>
            </a:r>
            <a:endParaRPr lang="en-US" sz="1100" dirty="0"/>
          </a:p>
        </p:txBody>
      </p:sp>
      <p:sp>
        <p:nvSpPr>
          <p:cNvPr id="18" name="Tarjeta 526"/>
          <p:cNvSpPr/>
          <p:nvPr/>
        </p:nvSpPr>
        <p:spPr>
          <a:xfrm>
            <a:off x="2858963" y="242316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9" name="Texto 527"/>
          <p:cNvSpPr txBox="1"/>
          <p:nvPr/>
        </p:nvSpPr>
        <p:spPr>
          <a:xfrm>
            <a:off x="2996123" y="254203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Guía Xacobeo 2027</a:t>
            </a:r>
            <a:endParaRPr lang="en-US" sz="1100" dirty="0"/>
          </a:p>
        </p:txBody>
      </p:sp>
      <p:sp>
        <p:nvSpPr>
          <p:cNvPr id="20" name="Etiqueta 528"/>
          <p:cNvSpPr/>
          <p:nvPr/>
        </p:nvSpPr>
        <p:spPr>
          <a:xfrm>
            <a:off x="2996123" y="2880360"/>
            <a:ext cx="630707" cy="201168"/>
          </a:xfrm>
          <a:prstGeom prst="roundRect">
            <a:avLst>
              <a:gd name="adj" fmla="val 22727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506718"/>
                </a:solidFill>
              </a:rPr>
              <a:t>HECHO</a:t>
            </a:r>
            <a:endParaRPr lang="en-US" sz="750" dirty="0"/>
          </a:p>
        </p:txBody>
      </p:sp>
      <p:sp>
        <p:nvSpPr>
          <p:cNvPr id="21" name="Tarjeta 529"/>
          <p:cNvSpPr/>
          <p:nvPr/>
        </p:nvSpPr>
        <p:spPr>
          <a:xfrm>
            <a:off x="2858963" y="338328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2" name="Texto 530"/>
          <p:cNvSpPr txBox="1"/>
          <p:nvPr/>
        </p:nvSpPr>
        <p:spPr>
          <a:xfrm>
            <a:off x="2996123" y="350215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Landing de Meta Ads</a:t>
            </a:r>
            <a:endParaRPr lang="en-US" sz="1100" dirty="0"/>
          </a:p>
        </p:txBody>
      </p:sp>
      <p:sp>
        <p:nvSpPr>
          <p:cNvPr id="23" name="Etiqueta 531"/>
          <p:cNvSpPr/>
          <p:nvPr/>
        </p:nvSpPr>
        <p:spPr>
          <a:xfrm>
            <a:off x="2996123" y="3840480"/>
            <a:ext cx="886206" cy="201168"/>
          </a:xfrm>
          <a:prstGeom prst="roundRect">
            <a:avLst>
              <a:gd name="adj" fmla="val 22727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BORRADOR</a:t>
            </a:r>
            <a:endParaRPr lang="en-US" sz="750" dirty="0"/>
          </a:p>
        </p:txBody>
      </p:sp>
      <p:sp>
        <p:nvSpPr>
          <p:cNvPr id="24" name="Tarjeta 532"/>
          <p:cNvSpPr/>
          <p:nvPr/>
        </p:nvSpPr>
        <p:spPr>
          <a:xfrm>
            <a:off x="2858963" y="434340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5" name="Texto 533"/>
          <p:cNvSpPr txBox="1"/>
          <p:nvPr/>
        </p:nvSpPr>
        <p:spPr>
          <a:xfrm>
            <a:off x="2996123" y="446227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Contactos B2B</a:t>
            </a:r>
            <a:endParaRPr lang="en-US" sz="1100" dirty="0"/>
          </a:p>
        </p:txBody>
      </p:sp>
      <p:sp>
        <p:nvSpPr>
          <p:cNvPr id="26" name="Etiqueta 534"/>
          <p:cNvSpPr/>
          <p:nvPr/>
        </p:nvSpPr>
        <p:spPr>
          <a:xfrm>
            <a:off x="2996123" y="4800600"/>
            <a:ext cx="804809" cy="201168"/>
          </a:xfrm>
          <a:prstGeom prst="roundRect">
            <a:avLst>
              <a:gd name="adj" fmla="val 22727"/>
            </a:avLst>
          </a:prstGeom>
          <a:solidFill>
            <a:srgbClr val="2E2E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EN CURSO</a:t>
            </a:r>
            <a:endParaRPr lang="en-US" sz="750" dirty="0"/>
          </a:p>
        </p:txBody>
      </p:sp>
      <p:sp>
        <p:nvSpPr>
          <p:cNvPr id="27" name="Degradado columna 535"/>
          <p:cNvSpPr/>
          <p:nvPr/>
        </p:nvSpPr>
        <p:spPr>
          <a:xfrm>
            <a:off x="5077846" y="1874520"/>
            <a:ext cx="2036003" cy="384048"/>
          </a:xfrm>
          <a:prstGeom prst="roundRect">
            <a:avLst>
              <a:gd name="adj" fmla="val 19048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  <p:txBody>
          <a:bodyPr wrap="square" lIns="0" tIns="1905" rIns="1905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 Conversión</a:t>
            </a:r>
            <a:endParaRPr lang="en-US" sz="1100" dirty="0"/>
          </a:p>
        </p:txBody>
      </p:sp>
      <p:sp>
        <p:nvSpPr>
          <p:cNvPr id="28" name="Tarjeta 536"/>
          <p:cNvSpPr/>
          <p:nvPr/>
        </p:nvSpPr>
        <p:spPr>
          <a:xfrm>
            <a:off x="5077846" y="242316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9" name="Texto 537"/>
          <p:cNvSpPr txBox="1"/>
          <p:nvPr/>
        </p:nvSpPr>
        <p:spPr>
          <a:xfrm>
            <a:off x="5215006" y="254203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Briefing comercial</a:t>
            </a:r>
            <a:endParaRPr lang="en-US" sz="1100" dirty="0"/>
          </a:p>
        </p:txBody>
      </p:sp>
      <p:sp>
        <p:nvSpPr>
          <p:cNvPr id="30" name="Etiqueta 538"/>
          <p:cNvSpPr/>
          <p:nvPr/>
        </p:nvSpPr>
        <p:spPr>
          <a:xfrm>
            <a:off x="5215006" y="2880360"/>
            <a:ext cx="886206" cy="201168"/>
          </a:xfrm>
          <a:prstGeom prst="roundRect">
            <a:avLst>
              <a:gd name="adj" fmla="val 22727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BORRADOR</a:t>
            </a:r>
            <a:endParaRPr lang="en-US" sz="750" dirty="0"/>
          </a:p>
        </p:txBody>
      </p:sp>
      <p:sp>
        <p:nvSpPr>
          <p:cNvPr id="31" name="Tarjeta 539"/>
          <p:cNvSpPr/>
          <p:nvPr/>
        </p:nvSpPr>
        <p:spPr>
          <a:xfrm>
            <a:off x="5077846" y="338328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2" name="Texto 540"/>
          <p:cNvSpPr txBox="1"/>
          <p:nvPr/>
        </p:nvSpPr>
        <p:spPr>
          <a:xfrm>
            <a:off x="5215006" y="350215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PDF de la ruta</a:t>
            </a:r>
            <a:endParaRPr lang="en-US" sz="1100" dirty="0"/>
          </a:p>
        </p:txBody>
      </p:sp>
      <p:sp>
        <p:nvSpPr>
          <p:cNvPr id="33" name="Etiqueta 541"/>
          <p:cNvSpPr/>
          <p:nvPr/>
        </p:nvSpPr>
        <p:spPr>
          <a:xfrm>
            <a:off x="5215006" y="3840480"/>
            <a:ext cx="886206" cy="201168"/>
          </a:xfrm>
          <a:prstGeom prst="roundRect">
            <a:avLst>
              <a:gd name="adj" fmla="val 22727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BORRADOR</a:t>
            </a:r>
            <a:endParaRPr lang="en-US" sz="750" dirty="0"/>
          </a:p>
        </p:txBody>
      </p:sp>
      <p:sp>
        <p:nvSpPr>
          <p:cNvPr id="34" name="Degradado columna 542"/>
          <p:cNvSpPr/>
          <p:nvPr/>
        </p:nvSpPr>
        <p:spPr>
          <a:xfrm>
            <a:off x="7296729" y="1874520"/>
            <a:ext cx="2036003" cy="384048"/>
          </a:xfrm>
          <a:prstGeom prst="roundRect">
            <a:avLst>
              <a:gd name="adj" fmla="val 19048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  <p:txBody>
          <a:bodyPr wrap="square" lIns="0" tIns="1905" rIns="1905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 CRM</a:t>
            </a:r>
            <a:endParaRPr lang="en-US" sz="1100" dirty="0"/>
          </a:p>
        </p:txBody>
      </p:sp>
      <p:sp>
        <p:nvSpPr>
          <p:cNvPr id="35" name="Tarjeta 543"/>
          <p:cNvSpPr/>
          <p:nvPr/>
        </p:nvSpPr>
        <p:spPr>
          <a:xfrm>
            <a:off x="7296729" y="242316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6" name="Texto 544"/>
          <p:cNvSpPr txBox="1"/>
          <p:nvPr/>
        </p:nvSpPr>
        <p:spPr>
          <a:xfrm>
            <a:off x="7433889" y="254203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Email segmentado</a:t>
            </a:r>
            <a:endParaRPr lang="en-US" sz="1100" dirty="0"/>
          </a:p>
        </p:txBody>
      </p:sp>
      <p:sp>
        <p:nvSpPr>
          <p:cNvPr id="37" name="Etiqueta 545"/>
          <p:cNvSpPr/>
          <p:nvPr/>
        </p:nvSpPr>
        <p:spPr>
          <a:xfrm>
            <a:off x="7433889" y="2880360"/>
            <a:ext cx="886206" cy="201168"/>
          </a:xfrm>
          <a:prstGeom prst="roundRect">
            <a:avLst>
              <a:gd name="adj" fmla="val 22727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BORRADOR</a:t>
            </a:r>
            <a:endParaRPr lang="en-US" sz="750" dirty="0"/>
          </a:p>
        </p:txBody>
      </p:sp>
      <p:sp>
        <p:nvSpPr>
          <p:cNvPr id="38" name="Tarjeta 546"/>
          <p:cNvSpPr/>
          <p:nvPr/>
        </p:nvSpPr>
        <p:spPr>
          <a:xfrm>
            <a:off x="7296729" y="338328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39" name="Texto 547"/>
          <p:cNvSpPr txBox="1"/>
          <p:nvPr/>
        </p:nvSpPr>
        <p:spPr>
          <a:xfrm>
            <a:off x="7433889" y="350215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Retargeting</a:t>
            </a:r>
            <a:endParaRPr lang="en-US" sz="1100" dirty="0"/>
          </a:p>
        </p:txBody>
      </p:sp>
      <p:sp>
        <p:nvSpPr>
          <p:cNvPr id="40" name="Etiqueta 548"/>
          <p:cNvSpPr/>
          <p:nvPr/>
        </p:nvSpPr>
        <p:spPr>
          <a:xfrm>
            <a:off x="7433889" y="3840480"/>
            <a:ext cx="804809" cy="201168"/>
          </a:xfrm>
          <a:prstGeom prst="roundRect">
            <a:avLst>
              <a:gd name="adj" fmla="val 22727"/>
            </a:avLst>
          </a:prstGeom>
          <a:solidFill>
            <a:srgbClr val="2E2E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EN CURSO</a:t>
            </a:r>
            <a:endParaRPr lang="en-US" sz="750" dirty="0"/>
          </a:p>
        </p:txBody>
      </p:sp>
      <p:sp>
        <p:nvSpPr>
          <p:cNvPr id="41" name="Degradado columna 549"/>
          <p:cNvSpPr/>
          <p:nvPr/>
        </p:nvSpPr>
        <p:spPr>
          <a:xfrm>
            <a:off x="9515612" y="1874520"/>
            <a:ext cx="2036003" cy="384048"/>
          </a:xfrm>
          <a:prstGeom prst="roundRect">
            <a:avLst>
              <a:gd name="adj" fmla="val 19048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  <p:txBody>
          <a:bodyPr wrap="square" lIns="0" tIns="1905" rIns="1905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 Fidelización</a:t>
            </a:r>
            <a:endParaRPr lang="en-US" sz="1100" dirty="0"/>
          </a:p>
        </p:txBody>
      </p:sp>
      <p:sp>
        <p:nvSpPr>
          <p:cNvPr id="42" name="Tarjeta 550"/>
          <p:cNvSpPr/>
          <p:nvPr/>
        </p:nvSpPr>
        <p:spPr>
          <a:xfrm>
            <a:off x="9515612" y="242316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43" name="Texto 551"/>
          <p:cNvSpPr txBox="1"/>
          <p:nvPr/>
        </p:nvSpPr>
        <p:spPr>
          <a:xfrm>
            <a:off x="9652772" y="254203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Email de expectativas</a:t>
            </a:r>
            <a:endParaRPr lang="en-US" sz="1100" dirty="0"/>
          </a:p>
        </p:txBody>
      </p:sp>
      <p:sp>
        <p:nvSpPr>
          <p:cNvPr id="44" name="Etiqueta 552"/>
          <p:cNvSpPr/>
          <p:nvPr/>
        </p:nvSpPr>
        <p:spPr>
          <a:xfrm>
            <a:off x="9652772" y="2880360"/>
            <a:ext cx="886206" cy="201168"/>
          </a:xfrm>
          <a:prstGeom prst="roundRect">
            <a:avLst>
              <a:gd name="adj" fmla="val 22727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BORRADOR</a:t>
            </a:r>
            <a:endParaRPr lang="en-US" sz="750" dirty="0"/>
          </a:p>
        </p:txBody>
      </p:sp>
      <p:sp>
        <p:nvSpPr>
          <p:cNvPr id="45" name="Tarjeta 553"/>
          <p:cNvSpPr/>
          <p:nvPr/>
        </p:nvSpPr>
        <p:spPr>
          <a:xfrm>
            <a:off x="9515612" y="3383280"/>
            <a:ext cx="2036003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46" name="Texto 554"/>
          <p:cNvSpPr txBox="1"/>
          <p:nvPr/>
        </p:nvSpPr>
        <p:spPr>
          <a:xfrm>
            <a:off x="9652772" y="3502152"/>
            <a:ext cx="17616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Protocolo de reseñas</a:t>
            </a:r>
            <a:endParaRPr lang="en-US" sz="1100" dirty="0"/>
          </a:p>
        </p:txBody>
      </p:sp>
      <p:sp>
        <p:nvSpPr>
          <p:cNvPr id="47" name="Etiqueta 555"/>
          <p:cNvSpPr/>
          <p:nvPr/>
        </p:nvSpPr>
        <p:spPr>
          <a:xfrm>
            <a:off x="9652772" y="3840480"/>
            <a:ext cx="886206" cy="201168"/>
          </a:xfrm>
          <a:prstGeom prst="roundRect">
            <a:avLst>
              <a:gd name="adj" fmla="val 22727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</a:rPr>
              <a:t>BORRADOR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EL CONCEPTO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La concha, nuestro sello</a:t>
            </a:r>
            <a:endParaRPr lang="en-US" sz="28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La concha es un recurso de marca con el que jugar</a:t>
            </a:r>
            <a:endParaRPr lang="en-US" sz="9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Como el sello de la credencial del peregrino, identifica la pieza como nuestra.</a:t>
            </a:r>
            <a:endParaRPr lang="en-US" sz="1300" dirty="0"/>
          </a:p>
        </p:txBody>
      </p:sp>
      <p:sp>
        <p:nvSpPr>
          <p:cNvPr id="6" name="Check 556"/>
          <p:cNvSpPr/>
          <p:nvPr/>
        </p:nvSpPr>
        <p:spPr>
          <a:xfrm>
            <a:off x="640080" y="2011680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7" name="Icono 557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279" y="2045879"/>
            <a:ext cx="132771" cy="132771"/>
          </a:xfrm>
          <a:prstGeom prst="rect">
            <a:avLst/>
          </a:prstGeom>
        </p:spPr>
      </p:pic>
      <p:sp>
        <p:nvSpPr>
          <p:cNvPr id="8" name="Texto 558"/>
          <p:cNvSpPr txBox="1"/>
          <p:nvPr/>
        </p:nvSpPr>
        <p:spPr>
          <a:xfrm>
            <a:off x="1005840" y="199339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Siempre entera: nunca recortada, girada ni usada como trama.</a:t>
            </a:r>
            <a:endParaRPr lang="en-US" sz="1250" dirty="0"/>
          </a:p>
        </p:txBody>
      </p:sp>
      <p:sp>
        <p:nvSpPr>
          <p:cNvPr id="9" name="Check 559"/>
          <p:cNvSpPr/>
          <p:nvPr/>
        </p:nvSpPr>
        <p:spPr>
          <a:xfrm>
            <a:off x="640080" y="2514600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10" name="Icono 560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279" y="2548799"/>
            <a:ext cx="132771" cy="132771"/>
          </a:xfrm>
          <a:prstGeom prst="rect">
            <a:avLst/>
          </a:prstGeom>
        </p:spPr>
      </p:pic>
      <p:sp>
        <p:nvSpPr>
          <p:cNvPr id="11" name="Texto 561"/>
          <p:cNvSpPr txBox="1"/>
          <p:nvPr/>
        </p:nvSpPr>
        <p:spPr>
          <a:xfrm>
            <a:off x="1005840" y="24963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Cuando firma una pieza, va arriba a la derecha.</a:t>
            </a:r>
            <a:endParaRPr lang="en-US" sz="1250" dirty="0"/>
          </a:p>
        </p:txBody>
      </p:sp>
      <p:sp>
        <p:nvSpPr>
          <p:cNvPr id="12" name="Check 562"/>
          <p:cNvSpPr/>
          <p:nvPr/>
        </p:nvSpPr>
        <p:spPr>
          <a:xfrm>
            <a:off x="640080" y="3017520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13" name="Icono 563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79" y="3051719"/>
            <a:ext cx="132771" cy="132771"/>
          </a:xfrm>
          <a:prstGeom prst="rect">
            <a:avLst/>
          </a:prstGeom>
        </p:spPr>
      </p:pic>
      <p:sp>
        <p:nvSpPr>
          <p:cNvPr id="14" name="Texto 564"/>
          <p:cNvSpPr txBox="1"/>
          <p:nvPr/>
        </p:nvSpPr>
        <p:spPr>
          <a:xfrm>
            <a:off x="1005840" y="29992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 verde Ways sobre blanco; en blanco sobre foto o color.</a:t>
            </a:r>
            <a:endParaRPr lang="en-US" sz="1250" dirty="0"/>
          </a:p>
        </p:txBody>
      </p:sp>
      <p:sp>
        <p:nvSpPr>
          <p:cNvPr id="15" name="Check 565"/>
          <p:cNvSpPr/>
          <p:nvPr/>
        </p:nvSpPr>
        <p:spPr>
          <a:xfrm>
            <a:off x="640080" y="3520440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16" name="Icono 566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279" y="3554639"/>
            <a:ext cx="132771" cy="132771"/>
          </a:xfrm>
          <a:prstGeom prst="rect">
            <a:avLst/>
          </a:prstGeom>
        </p:spPr>
      </p:pic>
      <p:sp>
        <p:nvSpPr>
          <p:cNvPr id="17" name="Texto 567"/>
          <p:cNvSpPr txBox="1"/>
          <p:nvPr/>
        </p:nvSpPr>
        <p:spPr>
          <a:xfrm>
            <a:off x="1005840" y="3502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Como marca de agua, muy suave y grande.</a:t>
            </a:r>
            <a:endParaRPr lang="en-US" sz="1250" dirty="0"/>
          </a:p>
        </p:txBody>
      </p:sp>
      <p:sp>
        <p:nvSpPr>
          <p:cNvPr id="18" name="Tarjeta 568"/>
          <p:cNvSpPr/>
          <p:nvPr/>
        </p:nvSpPr>
        <p:spPr>
          <a:xfrm>
            <a:off x="640080" y="4206240"/>
            <a:ext cx="5577840" cy="1143000"/>
          </a:xfrm>
          <a:prstGeom prst="roundRect">
            <a:avLst>
              <a:gd name="adj" fmla="val 9600"/>
            </a:avLst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19" name="Texto 569"/>
          <p:cNvSpPr txBox="1"/>
          <p:nvPr/>
        </p:nvSpPr>
        <p:spPr>
          <a:xfrm>
            <a:off x="868680" y="4389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UN RECURSO PARA JUGAR</a:t>
            </a:r>
            <a:endParaRPr lang="en-US" sz="950" dirty="0"/>
          </a:p>
        </p:txBody>
      </p:sp>
      <p:sp>
        <p:nvSpPr>
          <p:cNvPr id="20" name="Texto 570"/>
          <p:cNvSpPr txBox="1"/>
          <p:nvPr/>
        </p:nvSpPr>
        <p:spPr>
          <a:xfrm>
            <a:off x="86868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Las cajas de esta página llevan la concha como marca de agua: cópialas y cambia el texto.</a:t>
            </a:r>
            <a:endParaRPr lang="en-US" sz="1150" dirty="0"/>
          </a:p>
        </p:txBody>
      </p:sp>
      <p:sp>
        <p:nvSpPr>
          <p:cNvPr id="21" name="Tarjeta 571"/>
          <p:cNvSpPr/>
          <p:nvPr/>
        </p:nvSpPr>
        <p:spPr>
          <a:xfrm>
            <a:off x="6675120" y="1874520"/>
            <a:ext cx="23317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22" name="Concha marca de agua 572" descr="/tmp/claude-0/-home-user-pruebas-brandbook-/fbbf11e7-4add-5196-9360-974883348c29/scratchpad/ppt2/img/concha-agua-ver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60" y="2286000"/>
            <a:ext cx="1691640" cy="1419161"/>
          </a:xfrm>
          <a:prstGeom prst="rect">
            <a:avLst/>
          </a:prstGeom>
        </p:spPr>
      </p:pic>
      <p:sp>
        <p:nvSpPr>
          <p:cNvPr id="23" name="Texto 573"/>
          <p:cNvSpPr txBox="1"/>
          <p:nvPr/>
        </p:nvSpPr>
        <p:spPr>
          <a:xfrm>
            <a:off x="6903720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 Camino, sin prisas.</a:t>
            </a:r>
            <a:endParaRPr lang="en-US" sz="1500" dirty="0"/>
          </a:p>
        </p:txBody>
      </p:sp>
      <p:sp>
        <p:nvSpPr>
          <p:cNvPr id="24" name="Degradado 574"/>
          <p:cNvSpPr/>
          <p:nvPr/>
        </p:nvSpPr>
        <p:spPr>
          <a:xfrm>
            <a:off x="9217152" y="1874520"/>
            <a:ext cx="2331720" cy="18288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25" name="Concha marca de agua 575" descr="/tmp/claude-0/-home-user-pruebas-brandbook-/fbbf11e7-4add-5196-9360-974883348c29/scratchpad/ppt2/img/concha-agua-blanc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92" y="2286000"/>
            <a:ext cx="1691640" cy="1419161"/>
          </a:xfrm>
          <a:prstGeom prst="rect">
            <a:avLst/>
          </a:prstGeom>
        </p:spPr>
      </p:pic>
      <p:sp>
        <p:nvSpPr>
          <p:cNvPr id="26" name="Texto 576"/>
          <p:cNvSpPr txBox="1"/>
          <p:nvPr/>
        </p:nvSpPr>
        <p:spPr>
          <a:xfrm>
            <a:off x="9445752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 Camino, sin prisas.</a:t>
            </a:r>
            <a:endParaRPr lang="en-US" sz="1500" dirty="0"/>
          </a:p>
        </p:txBody>
      </p:sp>
      <p:sp>
        <p:nvSpPr>
          <p:cNvPr id="27" name="Tarjeta 577"/>
          <p:cNvSpPr/>
          <p:nvPr/>
        </p:nvSpPr>
        <p:spPr>
          <a:xfrm>
            <a:off x="6675120" y="3931920"/>
            <a:ext cx="2331720" cy="1417320"/>
          </a:xfrm>
          <a:prstGeom prst="roundRect">
            <a:avLst>
              <a:gd name="adj" fmla="val 7742"/>
            </a:avLst>
          </a:prstGeom>
          <a:solidFill>
            <a:srgbClr val="506718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28" name="Isotipo 578" descr="/tmp/claude-0/-home-user-pruebas-brandbook-/fbbf11e7-4add-5196-9360-974883348c29/scratchpad/ppt2/img/iso-blanc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4251960"/>
            <a:ext cx="685800" cy="575336"/>
          </a:xfrm>
          <a:prstGeom prst="rect">
            <a:avLst/>
          </a:prstGeom>
        </p:spPr>
      </p:pic>
      <p:sp>
        <p:nvSpPr>
          <p:cNvPr id="29" name="Tarjeta 579"/>
          <p:cNvSpPr/>
          <p:nvPr/>
        </p:nvSpPr>
        <p:spPr>
          <a:xfrm>
            <a:off x="9217152" y="3931920"/>
            <a:ext cx="2331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30" name="Isotipo 580" descr="/tmp/claude-0/-home-user-pruebas-brandbook-/fbbf11e7-4add-5196-9360-974883348c29/scratchpad/ppt2/img/iso-ver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0112" y="4251960"/>
            <a:ext cx="685800" cy="575336"/>
          </a:xfrm>
          <a:prstGeom prst="rect">
            <a:avLst/>
          </a:prstGeom>
        </p:spPr>
      </p:pic>
      <p:sp>
        <p:nvSpPr>
          <p:cNvPr id="31" name="Texto 581"/>
          <p:cNvSpPr txBox="1"/>
          <p:nvPr/>
        </p:nvSpPr>
        <p:spPr>
          <a:xfrm>
            <a:off x="6675120" y="5486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Marca de agua sobre blanco y sobre verde, e isotipo en sus dos colores.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RECURSOS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Cajas, etiquetas y</a:t>
            </a:r>
            <a:endParaRPr lang="en-US" sz="2800" dirty="0"/>
          </a:p>
        </p:txBody>
      </p:sp>
      <p:sp>
        <p:nvSpPr>
          <p:cNvPr id="4" name="Subrayado Ways 582"/>
          <p:cNvSpPr/>
          <p:nvPr/>
        </p:nvSpPr>
        <p:spPr>
          <a:xfrm rot="-90000">
            <a:off x="4048811" y="731520"/>
            <a:ext cx="1418844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verdes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Copia y pega la pieza que necesites; cambia solo el texto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Los formatos de la marca, listos para copiar.</a:t>
            </a:r>
            <a:endParaRPr lang="en-US" sz="1300" dirty="0"/>
          </a:p>
        </p:txBody>
      </p:sp>
      <p:sp>
        <p:nvSpPr>
          <p:cNvPr id="7" name="Tarjeta 583"/>
          <p:cNvSpPr/>
          <p:nvPr/>
        </p:nvSpPr>
        <p:spPr>
          <a:xfrm>
            <a:off x="640080" y="182880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7AA606"/>
          </a:solidFill>
          <a:ln/>
        </p:spPr>
      </p:sp>
      <p:sp>
        <p:nvSpPr>
          <p:cNvPr id="8" name="Texto 584"/>
          <p:cNvSpPr txBox="1"/>
          <p:nvPr/>
        </p:nvSpPr>
        <p:spPr>
          <a:xfrm>
            <a:off x="841248" y="202996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Ways</a:t>
            </a:r>
            <a:endParaRPr lang="en-US" sz="1300" dirty="0"/>
          </a:p>
        </p:txBody>
      </p:sp>
      <p:sp>
        <p:nvSpPr>
          <p:cNvPr id="9" name="Texto 585"/>
          <p:cNvSpPr txBox="1"/>
          <p:nvPr/>
        </p:nvSpPr>
        <p:spPr>
          <a:xfrm>
            <a:off x="841248" y="2359152"/>
            <a:ext cx="2154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Caja plana para destacar.</a:t>
            </a:r>
            <a:endParaRPr lang="en-US" sz="1050" dirty="0"/>
          </a:p>
        </p:txBody>
      </p:sp>
      <p:sp>
        <p:nvSpPr>
          <p:cNvPr id="10" name="Degradado 586"/>
          <p:cNvSpPr/>
          <p:nvPr/>
        </p:nvSpPr>
        <p:spPr>
          <a:xfrm>
            <a:off x="3425114" y="1828800"/>
            <a:ext cx="2556434" cy="1463040"/>
          </a:xfrm>
          <a:prstGeom prst="roundRect">
            <a:avLst>
              <a:gd name="adj" fmla="val 7500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11" name="Texto 587"/>
          <p:cNvSpPr txBox="1"/>
          <p:nvPr/>
        </p:nvSpPr>
        <p:spPr>
          <a:xfrm>
            <a:off x="3626282" y="202996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Degradado</a:t>
            </a:r>
            <a:endParaRPr lang="en-US" sz="1300" dirty="0"/>
          </a:p>
        </p:txBody>
      </p:sp>
      <p:sp>
        <p:nvSpPr>
          <p:cNvPr id="12" name="Texto 588"/>
          <p:cNvSpPr txBox="1"/>
          <p:nvPr/>
        </p:nvSpPr>
        <p:spPr>
          <a:xfrm>
            <a:off x="3626282" y="2359152"/>
            <a:ext cx="2154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Solo en cajas de verde Ways.</a:t>
            </a:r>
            <a:endParaRPr lang="en-US" sz="1050" dirty="0"/>
          </a:p>
        </p:txBody>
      </p:sp>
      <p:sp>
        <p:nvSpPr>
          <p:cNvPr id="13" name="Tarjeta 589"/>
          <p:cNvSpPr/>
          <p:nvPr/>
        </p:nvSpPr>
        <p:spPr>
          <a:xfrm>
            <a:off x="6210148" y="182880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506718"/>
          </a:solidFill>
          <a:ln/>
        </p:spPr>
      </p:sp>
      <p:sp>
        <p:nvSpPr>
          <p:cNvPr id="14" name="Texto 590"/>
          <p:cNvSpPr txBox="1"/>
          <p:nvPr/>
        </p:nvSpPr>
        <p:spPr>
          <a:xfrm>
            <a:off x="6411316" y="202996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Verde sendero</a:t>
            </a:r>
            <a:endParaRPr lang="en-US" sz="1300" dirty="0"/>
          </a:p>
        </p:txBody>
      </p:sp>
      <p:sp>
        <p:nvSpPr>
          <p:cNvPr id="15" name="Texto 591"/>
          <p:cNvSpPr txBox="1"/>
          <p:nvPr/>
        </p:nvSpPr>
        <p:spPr>
          <a:xfrm>
            <a:off x="6411316" y="2359152"/>
            <a:ext cx="2154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Para resaltar y para fondos.</a:t>
            </a:r>
            <a:endParaRPr lang="en-US" sz="1050" dirty="0"/>
          </a:p>
        </p:txBody>
      </p:sp>
      <p:sp>
        <p:nvSpPr>
          <p:cNvPr id="16" name="Tarjeta 592"/>
          <p:cNvSpPr/>
          <p:nvPr/>
        </p:nvSpPr>
        <p:spPr>
          <a:xfrm>
            <a:off x="8995181" y="182880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2E2E2D"/>
          </a:solidFill>
          <a:ln/>
        </p:spPr>
      </p:sp>
      <p:sp>
        <p:nvSpPr>
          <p:cNvPr id="17" name="Texto 593"/>
          <p:cNvSpPr txBox="1"/>
          <p:nvPr/>
        </p:nvSpPr>
        <p:spPr>
          <a:xfrm>
            <a:off x="9196349" y="202996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Grafito</a:t>
            </a:r>
            <a:endParaRPr lang="en-US" sz="1300" dirty="0"/>
          </a:p>
        </p:txBody>
      </p:sp>
      <p:sp>
        <p:nvSpPr>
          <p:cNvPr id="18" name="Texto 594"/>
          <p:cNvSpPr txBox="1"/>
          <p:nvPr/>
        </p:nvSpPr>
        <p:spPr>
          <a:xfrm>
            <a:off x="9196349" y="2359152"/>
            <a:ext cx="2154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Un resalte muy puntual.</a:t>
            </a:r>
            <a:endParaRPr lang="en-US" sz="1050" dirty="0"/>
          </a:p>
        </p:txBody>
      </p:sp>
      <p:sp>
        <p:nvSpPr>
          <p:cNvPr id="19" name="Tarjeta 595"/>
          <p:cNvSpPr/>
          <p:nvPr/>
        </p:nvSpPr>
        <p:spPr>
          <a:xfrm>
            <a:off x="640080" y="347472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0" name="Texto 596"/>
          <p:cNvSpPr txBox="1"/>
          <p:nvPr/>
        </p:nvSpPr>
        <p:spPr>
          <a:xfrm>
            <a:off x="841248" y="367588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Tarjeta blanca</a:t>
            </a:r>
            <a:endParaRPr lang="en-US" sz="1300" dirty="0"/>
          </a:p>
        </p:txBody>
      </p:sp>
      <p:sp>
        <p:nvSpPr>
          <p:cNvPr id="21" name="Texto 597"/>
          <p:cNvSpPr txBox="1"/>
          <p:nvPr/>
        </p:nvSpPr>
        <p:spPr>
          <a:xfrm>
            <a:off x="841248" y="4005072"/>
            <a:ext cx="2154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Con sombra suave.</a:t>
            </a:r>
            <a:endParaRPr lang="en-US" sz="1050" dirty="0"/>
          </a:p>
        </p:txBody>
      </p:sp>
      <p:sp>
        <p:nvSpPr>
          <p:cNvPr id="22" name="Tarjeta 598"/>
          <p:cNvSpPr/>
          <p:nvPr/>
        </p:nvSpPr>
        <p:spPr>
          <a:xfrm>
            <a:off x="3425114" y="347472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sp>
        <p:nvSpPr>
          <p:cNvPr id="23" name="Texto 599"/>
          <p:cNvSpPr txBox="1"/>
          <p:nvPr/>
        </p:nvSpPr>
        <p:spPr>
          <a:xfrm>
            <a:off x="3626282" y="367588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Brote</a:t>
            </a:r>
            <a:endParaRPr lang="en-US" sz="1300" dirty="0"/>
          </a:p>
        </p:txBody>
      </p:sp>
      <p:sp>
        <p:nvSpPr>
          <p:cNvPr id="24" name="Texto 600"/>
          <p:cNvSpPr txBox="1"/>
          <p:nvPr/>
        </p:nvSpPr>
        <p:spPr>
          <a:xfrm>
            <a:off x="3626282" y="4005072"/>
            <a:ext cx="2154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Notas y avisos.</a:t>
            </a:r>
            <a:endParaRPr lang="en-US" sz="1050" dirty="0"/>
          </a:p>
        </p:txBody>
      </p:sp>
      <p:sp>
        <p:nvSpPr>
          <p:cNvPr id="25" name="Tarjeta 601"/>
          <p:cNvSpPr/>
          <p:nvPr/>
        </p:nvSpPr>
        <p:spPr>
          <a:xfrm>
            <a:off x="6210148" y="347472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sp>
        <p:nvSpPr>
          <p:cNvPr id="26" name="Degradado cabecera 602"/>
          <p:cNvSpPr/>
          <p:nvPr/>
        </p:nvSpPr>
        <p:spPr>
          <a:xfrm>
            <a:off x="6210148" y="3474720"/>
            <a:ext cx="2556434" cy="411480"/>
          </a:xfrm>
          <a:prstGeom prst="roundRect">
            <a:avLst>
              <a:gd name="adj" fmla="val 26667"/>
            </a:avLst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27" name="Degradado cabecera 603"/>
          <p:cNvSpPr/>
          <p:nvPr/>
        </p:nvSpPr>
        <p:spPr>
          <a:xfrm>
            <a:off x="6210148" y="3749040"/>
            <a:ext cx="2556434" cy="137160"/>
          </a:xfrm>
          <a:prstGeom prst="rect">
            <a:avLst/>
          </a:prstGeom>
          <a:gradFill rotWithShape="1">
            <a:gsLst>
              <a:gs pos="0">
                <a:srgbClr val="7AA606"/>
              </a:gs>
              <a:gs pos="100000">
                <a:srgbClr val="628A04"/>
              </a:gs>
            </a:gsLst>
            <a:lin ang="2700000" scaled="0"/>
          </a:gradFill>
          <a:ln/>
        </p:spPr>
      </p:sp>
      <p:sp>
        <p:nvSpPr>
          <p:cNvPr id="28" name="Texto 604"/>
          <p:cNvSpPr txBox="1"/>
          <p:nvPr/>
        </p:nvSpPr>
        <p:spPr>
          <a:xfrm>
            <a:off x="6411316" y="3547872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 cabecera</a:t>
            </a:r>
            <a:endParaRPr lang="en-US" sz="1300" dirty="0"/>
          </a:p>
        </p:txBody>
      </p:sp>
      <p:sp>
        <p:nvSpPr>
          <p:cNvPr id="29" name="Texto 605"/>
          <p:cNvSpPr txBox="1"/>
          <p:nvPr/>
        </p:nvSpPr>
        <p:spPr>
          <a:xfrm>
            <a:off x="6411316" y="4069080"/>
            <a:ext cx="2154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Para columnas.</a:t>
            </a:r>
            <a:endParaRPr lang="en-US" sz="1050" dirty="0"/>
          </a:p>
        </p:txBody>
      </p:sp>
      <p:sp>
        <p:nvSpPr>
          <p:cNvPr id="30" name="Tarjeta 606"/>
          <p:cNvSpPr/>
          <p:nvPr/>
        </p:nvSpPr>
        <p:spPr>
          <a:xfrm>
            <a:off x="8995181" y="347472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E2E2D">
                <a:alpha val="12000"/>
              </a:srgbClr>
            </a:outerShdw>
          </a:effectLst>
        </p:spPr>
      </p:sp>
      <p:pic>
        <p:nvPicPr>
          <p:cNvPr id="31" name="Concha marca de agua 607" descr="/tmp/claude-0/-home-user-pruebas-brandbook-/fbbf11e7-4add-5196-9360-974883348c29/scratchpad/ppt2/img/concha-agua-ver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749040"/>
            <a:ext cx="1234440" cy="1035604"/>
          </a:xfrm>
          <a:prstGeom prst="rect">
            <a:avLst/>
          </a:prstGeom>
        </p:spPr>
      </p:pic>
      <p:sp>
        <p:nvSpPr>
          <p:cNvPr id="32" name="Texto 608"/>
          <p:cNvSpPr txBox="1"/>
          <p:nvPr/>
        </p:nvSpPr>
        <p:spPr>
          <a:xfrm>
            <a:off x="9196349" y="3675888"/>
            <a:ext cx="2154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 marca de agua</a:t>
            </a:r>
            <a:endParaRPr lang="en-US" sz="1300" dirty="0"/>
          </a:p>
        </p:txBody>
      </p:sp>
      <p:sp>
        <p:nvSpPr>
          <p:cNvPr id="33" name="Texto 609"/>
          <p:cNvSpPr txBox="1"/>
          <p:nvPr/>
        </p:nvSpPr>
        <p:spPr>
          <a:xfrm>
            <a:off x="9196349" y="4005072"/>
            <a:ext cx="2154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La concha, muy suave.</a:t>
            </a:r>
            <a:endParaRPr lang="en-US" sz="1050" dirty="0"/>
          </a:p>
        </p:txBody>
      </p:sp>
      <p:sp>
        <p:nvSpPr>
          <p:cNvPr id="34" name="Etiqueta 610"/>
          <p:cNvSpPr/>
          <p:nvPr/>
        </p:nvSpPr>
        <p:spPr>
          <a:xfrm>
            <a:off x="640080" y="5166360"/>
            <a:ext cx="856499" cy="219456"/>
          </a:xfrm>
          <a:prstGeom prst="roundRect">
            <a:avLst>
              <a:gd name="adj" fmla="val 20833"/>
            </a:avLst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</a:rPr>
              <a:t>ETIQUETA</a:t>
            </a:r>
            <a:endParaRPr lang="en-US" sz="850" dirty="0"/>
          </a:p>
        </p:txBody>
      </p:sp>
      <p:sp>
        <p:nvSpPr>
          <p:cNvPr id="35" name="Etiqueta 611"/>
          <p:cNvSpPr/>
          <p:nvPr/>
        </p:nvSpPr>
        <p:spPr>
          <a:xfrm>
            <a:off x="1633739" y="5166360"/>
            <a:ext cx="847310" cy="219456"/>
          </a:xfrm>
          <a:prstGeom prst="roundRect">
            <a:avLst>
              <a:gd name="adj" fmla="val 20833"/>
            </a:avLst>
          </a:prstGeom>
          <a:solidFill>
            <a:srgbClr val="5067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</a:rPr>
              <a:t>SENDERO</a:t>
            </a:r>
            <a:endParaRPr lang="en-US" sz="850" dirty="0"/>
          </a:p>
        </p:txBody>
      </p:sp>
      <p:sp>
        <p:nvSpPr>
          <p:cNvPr id="36" name="Etiqueta 612"/>
          <p:cNvSpPr/>
          <p:nvPr/>
        </p:nvSpPr>
        <p:spPr>
          <a:xfrm>
            <a:off x="2618210" y="5166360"/>
            <a:ext cx="657491" cy="219456"/>
          </a:xfrm>
          <a:prstGeom prst="roundRect">
            <a:avLst>
              <a:gd name="adj" fmla="val 20833"/>
            </a:avLst>
          </a:prstGeom>
          <a:solidFill>
            <a:srgbClr val="FAFFEE"/>
          </a:solidFill>
          <a:ln w="9525">
            <a:solidFill>
              <a:srgbClr val="ECEC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06718"/>
                </a:solidFill>
              </a:rPr>
              <a:t>BROTE</a:t>
            </a:r>
            <a:endParaRPr lang="en-US" sz="850" dirty="0"/>
          </a:p>
        </p:txBody>
      </p:sp>
      <p:sp>
        <p:nvSpPr>
          <p:cNvPr id="37" name="Etiqueta 613"/>
          <p:cNvSpPr/>
          <p:nvPr/>
        </p:nvSpPr>
        <p:spPr>
          <a:xfrm>
            <a:off x="3412861" y="5166360"/>
            <a:ext cx="882856" cy="219456"/>
          </a:xfrm>
          <a:prstGeom prst="roundRect">
            <a:avLst>
              <a:gd name="adj" fmla="val 20833"/>
            </a:avLst>
          </a:prstGeom>
          <a:solidFill>
            <a:srgbClr val="2E2E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</a:rPr>
              <a:t>EN CURSO</a:t>
            </a:r>
            <a:endParaRPr lang="en-US" sz="850" dirty="0"/>
          </a:p>
        </p:txBody>
      </p:sp>
      <p:sp>
        <p:nvSpPr>
          <p:cNvPr id="38" name="Subrayado Ways 614"/>
          <p:cNvSpPr/>
          <p:nvPr/>
        </p:nvSpPr>
        <p:spPr>
          <a:xfrm rot="-90000">
            <a:off x="4661477" y="5111496"/>
            <a:ext cx="1886509" cy="260096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Subrayado Ways</a:t>
            </a:r>
            <a:endParaRPr lang="en-US" sz="1600" dirty="0"/>
          </a:p>
        </p:txBody>
      </p:sp>
      <p:sp>
        <p:nvSpPr>
          <p:cNvPr id="39" name="Subrayado Ways 615"/>
          <p:cNvSpPr/>
          <p:nvPr/>
        </p:nvSpPr>
        <p:spPr>
          <a:xfrm rot="-90000">
            <a:off x="6776586" y="5111496"/>
            <a:ext cx="1303122" cy="260096"/>
          </a:xfrm>
          <a:prstGeom prst="rect">
            <a:avLst/>
          </a:prstGeom>
          <a:solidFill>
            <a:srgbClr val="5067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 sendero</a:t>
            </a:r>
            <a:endParaRPr lang="en-US" sz="1600" dirty="0"/>
          </a:p>
        </p:txBody>
      </p:sp>
      <p:sp>
        <p:nvSpPr>
          <p:cNvPr id="40" name="Check 616"/>
          <p:cNvSpPr/>
          <p:nvPr/>
        </p:nvSpPr>
        <p:spPr>
          <a:xfrm>
            <a:off x="8399747" y="5175504"/>
            <a:ext cx="201168" cy="201168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41" name="Icono 617" descr="/tmp/claude-0/-home-user-pruebas-brandbook-/fbbf11e7-4add-5196-9360-974883348c29/scratchpad/ppt2/icons/TbCheck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946" y="5209703"/>
            <a:ext cx="132771" cy="132771"/>
          </a:xfrm>
          <a:prstGeom prst="rect">
            <a:avLst/>
          </a:prstGeom>
        </p:spPr>
      </p:pic>
      <p:sp>
        <p:nvSpPr>
          <p:cNvPr id="42" name="Filete 618"/>
          <p:cNvSpPr/>
          <p:nvPr/>
        </p:nvSpPr>
        <p:spPr>
          <a:xfrm>
            <a:off x="8765507" y="5257800"/>
            <a:ext cx="457200" cy="45720"/>
          </a:xfrm>
          <a:prstGeom prst="rect">
            <a:avLst/>
          </a:prstGeom>
          <a:solidFill>
            <a:srgbClr val="7AA60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50292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chemeClr val="accent2"/>
                </a:solidFill>
              </a:rPr>
              <a:t>RECURSOS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7498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</a:rPr>
              <a:t>Iconos para</a:t>
            </a:r>
            <a:endParaRPr lang="en-US" sz="2800" dirty="0"/>
          </a:p>
        </p:txBody>
      </p:sp>
      <p:sp>
        <p:nvSpPr>
          <p:cNvPr id="4" name="Subrayado Ways 619"/>
          <p:cNvSpPr/>
          <p:nvPr/>
        </p:nvSpPr>
        <p:spPr>
          <a:xfrm rot="-90000">
            <a:off x="2905201" y="731520"/>
            <a:ext cx="2872181" cy="455168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copiar y pegar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4008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Iconos de línea (Tabler, licencia MIT). Cópialos y cambia el tamaño sin deformarlos</a:t>
            </a:r>
            <a:endParaRPr lang="en-US" sz="9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12984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Sesenta iconos en verde Ways. Debajo, cómo usarlos sobre fondo de color.</a:t>
            </a:r>
            <a:endParaRPr lang="en-US" sz="1300" dirty="0"/>
          </a:p>
        </p:txBody>
      </p:sp>
      <p:pic>
        <p:nvPicPr>
          <p:cNvPr id="7" name="Icono 620" descr="/tmp/claude-0/-home-user-pruebas-brandbook-/fbbf11e7-4add-5196-9360-974883348c29/scratchpad/ppt2/icons/TbTrekking-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918" y="1828800"/>
            <a:ext cx="365760" cy="365760"/>
          </a:xfrm>
          <a:prstGeom prst="rect">
            <a:avLst/>
          </a:prstGeom>
        </p:spPr>
      </p:pic>
      <p:sp>
        <p:nvSpPr>
          <p:cNvPr id="8" name="Texto 621"/>
          <p:cNvSpPr txBox="1"/>
          <p:nvPr/>
        </p:nvSpPr>
        <p:spPr>
          <a:xfrm>
            <a:off x="640080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Peregrino</a:t>
            </a:r>
            <a:endParaRPr lang="en-US" sz="750" dirty="0"/>
          </a:p>
        </p:txBody>
      </p:sp>
      <p:pic>
        <p:nvPicPr>
          <p:cNvPr id="9" name="Icono 622" descr="/tmp/claude-0/-home-user-pruebas-brandbook-/fbbf11e7-4add-5196-9360-974883348c29/scratchpad/ppt2/icons/TbWalk-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354" y="1828800"/>
            <a:ext cx="365760" cy="365760"/>
          </a:xfrm>
          <a:prstGeom prst="rect">
            <a:avLst/>
          </a:prstGeom>
        </p:spPr>
      </p:pic>
      <p:sp>
        <p:nvSpPr>
          <p:cNvPr id="10" name="Texto 623"/>
          <p:cNvSpPr txBox="1"/>
          <p:nvPr/>
        </p:nvSpPr>
        <p:spPr>
          <a:xfrm>
            <a:off x="1367516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Caminar</a:t>
            </a:r>
            <a:endParaRPr lang="en-US" sz="750" dirty="0"/>
          </a:p>
        </p:txBody>
      </p:sp>
      <p:pic>
        <p:nvPicPr>
          <p:cNvPr id="11" name="Icono 624" descr="/tmp/claude-0/-home-user-pruebas-brandbook-/fbbf11e7-4add-5196-9360-974883348c29/scratchpad/ppt2/icons/TbBackpack-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5789" y="1828800"/>
            <a:ext cx="365760" cy="365760"/>
          </a:xfrm>
          <a:prstGeom prst="rect">
            <a:avLst/>
          </a:prstGeom>
        </p:spPr>
      </p:pic>
      <p:sp>
        <p:nvSpPr>
          <p:cNvPr id="12" name="Texto 625"/>
          <p:cNvSpPr txBox="1"/>
          <p:nvPr/>
        </p:nvSpPr>
        <p:spPr>
          <a:xfrm>
            <a:off x="2094951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Mochila</a:t>
            </a:r>
            <a:endParaRPr lang="en-US" sz="750" dirty="0"/>
          </a:p>
        </p:txBody>
      </p:sp>
      <p:pic>
        <p:nvPicPr>
          <p:cNvPr id="13" name="Icono 626" descr="/tmp/claude-0/-home-user-pruebas-brandbook-/fbbf11e7-4add-5196-9360-974883348c29/scratchpad/ppt2/icons/TbShoe-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3225" y="1828800"/>
            <a:ext cx="365760" cy="365760"/>
          </a:xfrm>
          <a:prstGeom prst="rect">
            <a:avLst/>
          </a:prstGeom>
        </p:spPr>
      </p:pic>
      <p:sp>
        <p:nvSpPr>
          <p:cNvPr id="14" name="Texto 627"/>
          <p:cNvSpPr txBox="1"/>
          <p:nvPr/>
        </p:nvSpPr>
        <p:spPr>
          <a:xfrm>
            <a:off x="2822387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Calzado</a:t>
            </a:r>
            <a:endParaRPr lang="en-US" sz="750" dirty="0"/>
          </a:p>
        </p:txBody>
      </p:sp>
      <p:pic>
        <p:nvPicPr>
          <p:cNvPr id="15" name="Icono 628" descr="/tmp/claude-0/-home-user-pruebas-brandbook-/fbbf11e7-4add-5196-9360-974883348c29/scratchpad/ppt2/icons/TbMap-v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0661" y="1828800"/>
            <a:ext cx="365760" cy="365760"/>
          </a:xfrm>
          <a:prstGeom prst="rect">
            <a:avLst/>
          </a:prstGeom>
        </p:spPr>
      </p:pic>
      <p:sp>
        <p:nvSpPr>
          <p:cNvPr id="16" name="Texto 629"/>
          <p:cNvSpPr txBox="1"/>
          <p:nvPr/>
        </p:nvSpPr>
        <p:spPr>
          <a:xfrm>
            <a:off x="3549823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Mapa</a:t>
            </a:r>
            <a:endParaRPr lang="en-US" sz="750" dirty="0"/>
          </a:p>
        </p:txBody>
      </p:sp>
      <p:pic>
        <p:nvPicPr>
          <p:cNvPr id="17" name="Icono 630" descr="/tmp/claude-0/-home-user-pruebas-brandbook-/fbbf11e7-4add-5196-9360-974883348c29/scratchpad/ppt2/icons/TbRoute-v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8096" y="1828800"/>
            <a:ext cx="365760" cy="365760"/>
          </a:xfrm>
          <a:prstGeom prst="rect">
            <a:avLst/>
          </a:prstGeom>
        </p:spPr>
      </p:pic>
      <p:sp>
        <p:nvSpPr>
          <p:cNvPr id="18" name="Texto 631"/>
          <p:cNvSpPr txBox="1"/>
          <p:nvPr/>
        </p:nvSpPr>
        <p:spPr>
          <a:xfrm>
            <a:off x="4277258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Ruta</a:t>
            </a:r>
            <a:endParaRPr lang="en-US" sz="750" dirty="0"/>
          </a:p>
        </p:txBody>
      </p:sp>
      <p:pic>
        <p:nvPicPr>
          <p:cNvPr id="19" name="Icono 632" descr="/tmp/claude-0/-home-user-pruebas-brandbook-/fbbf11e7-4add-5196-9360-974883348c29/scratchpad/ppt2/icons/TbMapPin-v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5532" y="1828800"/>
            <a:ext cx="365760" cy="365760"/>
          </a:xfrm>
          <a:prstGeom prst="rect">
            <a:avLst/>
          </a:prstGeom>
        </p:spPr>
      </p:pic>
      <p:sp>
        <p:nvSpPr>
          <p:cNvPr id="20" name="Texto 633"/>
          <p:cNvSpPr txBox="1"/>
          <p:nvPr/>
        </p:nvSpPr>
        <p:spPr>
          <a:xfrm>
            <a:off x="5004694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Ubicación</a:t>
            </a:r>
            <a:endParaRPr lang="en-US" sz="750" dirty="0"/>
          </a:p>
        </p:txBody>
      </p:sp>
      <p:pic>
        <p:nvPicPr>
          <p:cNvPr id="21" name="Icono 634" descr="/tmp/claude-0/-home-user-pruebas-brandbook-/fbbf11e7-4add-5196-9360-974883348c29/scratchpad/ppt2/icons/TbCompass-v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2968" y="1828800"/>
            <a:ext cx="365760" cy="365760"/>
          </a:xfrm>
          <a:prstGeom prst="rect">
            <a:avLst/>
          </a:prstGeom>
        </p:spPr>
      </p:pic>
      <p:sp>
        <p:nvSpPr>
          <p:cNvPr id="22" name="Texto 635"/>
          <p:cNvSpPr txBox="1"/>
          <p:nvPr/>
        </p:nvSpPr>
        <p:spPr>
          <a:xfrm>
            <a:off x="5732130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Orientación</a:t>
            </a:r>
            <a:endParaRPr lang="en-US" sz="750" dirty="0"/>
          </a:p>
        </p:txBody>
      </p:sp>
      <p:pic>
        <p:nvPicPr>
          <p:cNvPr id="23" name="Icono 636" descr="/tmp/claude-0/-home-user-pruebas-brandbook-/fbbf11e7-4add-5196-9360-974883348c29/scratchpad/ppt2/icons/TbFlag-v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0403" y="1828800"/>
            <a:ext cx="365760" cy="365760"/>
          </a:xfrm>
          <a:prstGeom prst="rect">
            <a:avLst/>
          </a:prstGeom>
        </p:spPr>
      </p:pic>
      <p:sp>
        <p:nvSpPr>
          <p:cNvPr id="24" name="Texto 637"/>
          <p:cNvSpPr txBox="1"/>
          <p:nvPr/>
        </p:nvSpPr>
        <p:spPr>
          <a:xfrm>
            <a:off x="6459565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Meta</a:t>
            </a:r>
            <a:endParaRPr lang="en-US" sz="750" dirty="0"/>
          </a:p>
        </p:txBody>
      </p:sp>
      <p:pic>
        <p:nvPicPr>
          <p:cNvPr id="25" name="Icono 638" descr="/tmp/claude-0/-home-user-pruebas-brandbook-/fbbf11e7-4add-5196-9360-974883348c29/scratchpad/ppt2/icons/TbMountain-v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7839" y="1828800"/>
            <a:ext cx="365760" cy="365760"/>
          </a:xfrm>
          <a:prstGeom prst="rect">
            <a:avLst/>
          </a:prstGeom>
        </p:spPr>
      </p:pic>
      <p:sp>
        <p:nvSpPr>
          <p:cNvPr id="26" name="Texto 639"/>
          <p:cNvSpPr txBox="1"/>
          <p:nvPr/>
        </p:nvSpPr>
        <p:spPr>
          <a:xfrm>
            <a:off x="7187001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Desnivel</a:t>
            </a:r>
            <a:endParaRPr lang="en-US" sz="750" dirty="0"/>
          </a:p>
        </p:txBody>
      </p:sp>
      <p:pic>
        <p:nvPicPr>
          <p:cNvPr id="27" name="Icono 640" descr="/tmp/claude-0/-home-user-pruebas-brandbook-/fbbf11e7-4add-5196-9360-974883348c29/scratchpad/ppt2/icons/TbBed-v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95275" y="1828800"/>
            <a:ext cx="365760" cy="365760"/>
          </a:xfrm>
          <a:prstGeom prst="rect">
            <a:avLst/>
          </a:prstGeom>
        </p:spPr>
      </p:pic>
      <p:sp>
        <p:nvSpPr>
          <p:cNvPr id="28" name="Texto 641"/>
          <p:cNvSpPr txBox="1"/>
          <p:nvPr/>
        </p:nvSpPr>
        <p:spPr>
          <a:xfrm>
            <a:off x="7914437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Alojamiento</a:t>
            </a:r>
            <a:endParaRPr lang="en-US" sz="750" dirty="0"/>
          </a:p>
        </p:txBody>
      </p:sp>
      <p:pic>
        <p:nvPicPr>
          <p:cNvPr id="29" name="Icono 642" descr="/tmp/claude-0/-home-user-pruebas-brandbook-/fbbf11e7-4add-5196-9360-974883348c29/scratchpad/ppt2/icons/TbLuggage-v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22710" y="1828800"/>
            <a:ext cx="365760" cy="365760"/>
          </a:xfrm>
          <a:prstGeom prst="rect">
            <a:avLst/>
          </a:prstGeom>
        </p:spPr>
      </p:pic>
      <p:sp>
        <p:nvSpPr>
          <p:cNvPr id="30" name="Texto 643"/>
          <p:cNvSpPr txBox="1"/>
          <p:nvPr/>
        </p:nvSpPr>
        <p:spPr>
          <a:xfrm>
            <a:off x="8641872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Equipaje</a:t>
            </a:r>
            <a:endParaRPr lang="en-US" sz="750" dirty="0"/>
          </a:p>
        </p:txBody>
      </p:sp>
      <p:pic>
        <p:nvPicPr>
          <p:cNvPr id="31" name="Icono 644" descr="/tmp/claude-0/-home-user-pruebas-brandbook-/fbbf11e7-4add-5196-9360-974883348c29/scratchpad/ppt2/icons/TbCar-v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50146" y="1828800"/>
            <a:ext cx="365760" cy="365760"/>
          </a:xfrm>
          <a:prstGeom prst="rect">
            <a:avLst/>
          </a:prstGeom>
        </p:spPr>
      </p:pic>
      <p:sp>
        <p:nvSpPr>
          <p:cNvPr id="32" name="Texto 645"/>
          <p:cNvSpPr txBox="1"/>
          <p:nvPr/>
        </p:nvSpPr>
        <p:spPr>
          <a:xfrm>
            <a:off x="9369308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Traslado</a:t>
            </a:r>
            <a:endParaRPr lang="en-US" sz="750" dirty="0"/>
          </a:p>
        </p:txBody>
      </p:sp>
      <p:pic>
        <p:nvPicPr>
          <p:cNvPr id="33" name="Icono 646" descr="/tmp/claude-0/-home-user-pruebas-brandbook-/fbbf11e7-4add-5196-9360-974883348c29/scratchpad/ppt2/icons/TbBus-v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77582" y="1828800"/>
            <a:ext cx="365760" cy="365760"/>
          </a:xfrm>
          <a:prstGeom prst="rect">
            <a:avLst/>
          </a:prstGeom>
        </p:spPr>
      </p:pic>
      <p:sp>
        <p:nvSpPr>
          <p:cNvPr id="34" name="Texto 647"/>
          <p:cNvSpPr txBox="1"/>
          <p:nvPr/>
        </p:nvSpPr>
        <p:spPr>
          <a:xfrm>
            <a:off x="10096744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Autobús</a:t>
            </a:r>
            <a:endParaRPr lang="en-US" sz="750" dirty="0"/>
          </a:p>
        </p:txBody>
      </p:sp>
      <p:pic>
        <p:nvPicPr>
          <p:cNvPr id="35" name="Icono 648" descr="/tmp/claude-0/-home-user-pruebas-brandbook-/fbbf11e7-4add-5196-9360-974883348c29/scratchpad/ppt2/icons/TbTrain-v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05017" y="1828800"/>
            <a:ext cx="365760" cy="365760"/>
          </a:xfrm>
          <a:prstGeom prst="rect">
            <a:avLst/>
          </a:prstGeom>
        </p:spPr>
      </p:pic>
      <p:sp>
        <p:nvSpPr>
          <p:cNvPr id="36" name="Texto 649"/>
          <p:cNvSpPr txBox="1"/>
          <p:nvPr/>
        </p:nvSpPr>
        <p:spPr>
          <a:xfrm>
            <a:off x="10824180" y="224028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Tren</a:t>
            </a:r>
            <a:endParaRPr lang="en-US" sz="750" dirty="0"/>
          </a:p>
        </p:txBody>
      </p:sp>
      <p:pic>
        <p:nvPicPr>
          <p:cNvPr id="37" name="Icono 650" descr="/tmp/claude-0/-home-user-pruebas-brandbook-/fbbf11e7-4add-5196-9360-974883348c29/scratchpad/ppt2/icons/TbPlane-v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0918" y="2606040"/>
            <a:ext cx="365760" cy="365760"/>
          </a:xfrm>
          <a:prstGeom prst="rect">
            <a:avLst/>
          </a:prstGeom>
        </p:spPr>
      </p:pic>
      <p:sp>
        <p:nvSpPr>
          <p:cNvPr id="38" name="Texto 651"/>
          <p:cNvSpPr txBox="1"/>
          <p:nvPr/>
        </p:nvSpPr>
        <p:spPr>
          <a:xfrm>
            <a:off x="640080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Avión</a:t>
            </a:r>
            <a:endParaRPr lang="en-US" sz="750" dirty="0"/>
          </a:p>
        </p:txBody>
      </p:sp>
      <p:pic>
        <p:nvPicPr>
          <p:cNvPr id="39" name="Icono 652" descr="/tmp/claude-0/-home-user-pruebas-brandbook-/fbbf11e7-4add-5196-9360-974883348c29/scratchpad/ppt2/icons/TbBike-v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48354" y="2606040"/>
            <a:ext cx="365760" cy="365760"/>
          </a:xfrm>
          <a:prstGeom prst="rect">
            <a:avLst/>
          </a:prstGeom>
        </p:spPr>
      </p:pic>
      <p:sp>
        <p:nvSpPr>
          <p:cNvPr id="40" name="Texto 653"/>
          <p:cNvSpPr txBox="1"/>
          <p:nvPr/>
        </p:nvSpPr>
        <p:spPr>
          <a:xfrm>
            <a:off x="1367516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Bicicleta</a:t>
            </a:r>
            <a:endParaRPr lang="en-US" sz="750" dirty="0"/>
          </a:p>
        </p:txBody>
      </p:sp>
      <p:pic>
        <p:nvPicPr>
          <p:cNvPr id="41" name="Icono 654" descr="/tmp/claude-0/-home-user-pruebas-brandbook-/fbbf11e7-4add-5196-9360-974883348c29/scratchpad/ppt2/icons/TbBuildingChurch-v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75789" y="2606040"/>
            <a:ext cx="365760" cy="365760"/>
          </a:xfrm>
          <a:prstGeom prst="rect">
            <a:avLst/>
          </a:prstGeom>
        </p:spPr>
      </p:pic>
      <p:sp>
        <p:nvSpPr>
          <p:cNvPr id="42" name="Texto 655"/>
          <p:cNvSpPr txBox="1"/>
          <p:nvPr/>
        </p:nvSpPr>
        <p:spPr>
          <a:xfrm>
            <a:off x="2094951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Catedral</a:t>
            </a:r>
            <a:endParaRPr lang="en-US" sz="750" dirty="0"/>
          </a:p>
        </p:txBody>
      </p:sp>
      <p:pic>
        <p:nvPicPr>
          <p:cNvPr id="43" name="Icono 656" descr="/tmp/claude-0/-home-user-pruebas-brandbook-/fbbf11e7-4add-5196-9360-974883348c29/scratchpad/ppt2/icons/TbSun-v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003225" y="2606040"/>
            <a:ext cx="365760" cy="365760"/>
          </a:xfrm>
          <a:prstGeom prst="rect">
            <a:avLst/>
          </a:prstGeom>
        </p:spPr>
      </p:pic>
      <p:sp>
        <p:nvSpPr>
          <p:cNvPr id="44" name="Texto 657"/>
          <p:cNvSpPr txBox="1"/>
          <p:nvPr/>
        </p:nvSpPr>
        <p:spPr>
          <a:xfrm>
            <a:off x="2822387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Buen tiempo</a:t>
            </a:r>
            <a:endParaRPr lang="en-US" sz="750" dirty="0"/>
          </a:p>
        </p:txBody>
      </p:sp>
      <p:pic>
        <p:nvPicPr>
          <p:cNvPr id="45" name="Icono 658" descr="/tmp/claude-0/-home-user-pruebas-brandbook-/fbbf11e7-4add-5196-9360-974883348c29/scratchpad/ppt2/icons/TbCloudRain-v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30661" y="2606040"/>
            <a:ext cx="365760" cy="365760"/>
          </a:xfrm>
          <a:prstGeom prst="rect">
            <a:avLst/>
          </a:prstGeom>
        </p:spPr>
      </p:pic>
      <p:sp>
        <p:nvSpPr>
          <p:cNvPr id="46" name="Texto 659"/>
          <p:cNvSpPr txBox="1"/>
          <p:nvPr/>
        </p:nvSpPr>
        <p:spPr>
          <a:xfrm>
            <a:off x="3549823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Lluvia</a:t>
            </a:r>
            <a:endParaRPr lang="en-US" sz="750" dirty="0"/>
          </a:p>
        </p:txBody>
      </p:sp>
      <p:pic>
        <p:nvPicPr>
          <p:cNvPr id="47" name="Icono 660" descr="/tmp/claude-0/-home-user-pruebas-brandbook-/fbbf11e7-4add-5196-9360-974883348c29/scratchpad/ppt2/icons/TbCalendar-v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58096" y="2606040"/>
            <a:ext cx="365760" cy="365760"/>
          </a:xfrm>
          <a:prstGeom prst="rect">
            <a:avLst/>
          </a:prstGeom>
        </p:spPr>
      </p:pic>
      <p:sp>
        <p:nvSpPr>
          <p:cNvPr id="48" name="Texto 661"/>
          <p:cNvSpPr txBox="1"/>
          <p:nvPr/>
        </p:nvSpPr>
        <p:spPr>
          <a:xfrm>
            <a:off x="4277258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Fechas</a:t>
            </a:r>
            <a:endParaRPr lang="en-US" sz="750" dirty="0"/>
          </a:p>
        </p:txBody>
      </p:sp>
      <p:pic>
        <p:nvPicPr>
          <p:cNvPr id="49" name="Icono 662" descr="/tmp/claude-0/-home-user-pruebas-brandbook-/fbbf11e7-4add-5196-9360-974883348c29/scratchpad/ppt2/icons/TbClock-v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185532" y="2606040"/>
            <a:ext cx="365760" cy="365760"/>
          </a:xfrm>
          <a:prstGeom prst="rect">
            <a:avLst/>
          </a:prstGeom>
        </p:spPr>
      </p:pic>
      <p:sp>
        <p:nvSpPr>
          <p:cNvPr id="50" name="Texto 663"/>
          <p:cNvSpPr txBox="1"/>
          <p:nvPr/>
        </p:nvSpPr>
        <p:spPr>
          <a:xfrm>
            <a:off x="5004694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Horario</a:t>
            </a:r>
            <a:endParaRPr lang="en-US" sz="750" dirty="0"/>
          </a:p>
        </p:txBody>
      </p:sp>
      <p:pic>
        <p:nvPicPr>
          <p:cNvPr id="51" name="Icono 664" descr="/tmp/claude-0/-home-user-pruebas-brandbook-/fbbf11e7-4add-5196-9360-974883348c29/scratchpad/ppt2/icons/TbCurrencyEuro-v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912968" y="2606040"/>
            <a:ext cx="365760" cy="365760"/>
          </a:xfrm>
          <a:prstGeom prst="rect">
            <a:avLst/>
          </a:prstGeom>
        </p:spPr>
      </p:pic>
      <p:sp>
        <p:nvSpPr>
          <p:cNvPr id="52" name="Texto 665"/>
          <p:cNvSpPr txBox="1"/>
          <p:nvPr/>
        </p:nvSpPr>
        <p:spPr>
          <a:xfrm>
            <a:off x="5732130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Precio</a:t>
            </a:r>
            <a:endParaRPr lang="en-US" sz="750" dirty="0"/>
          </a:p>
        </p:txBody>
      </p:sp>
      <p:pic>
        <p:nvPicPr>
          <p:cNvPr id="53" name="Icono 666" descr="/tmp/claude-0/-home-user-pruebas-brandbook-/fbbf11e7-4add-5196-9360-974883348c29/scratchpad/ppt2/icons/TbCreditCard-v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640403" y="2606040"/>
            <a:ext cx="365760" cy="365760"/>
          </a:xfrm>
          <a:prstGeom prst="rect">
            <a:avLst/>
          </a:prstGeom>
        </p:spPr>
      </p:pic>
      <p:sp>
        <p:nvSpPr>
          <p:cNvPr id="54" name="Texto 667"/>
          <p:cNvSpPr txBox="1"/>
          <p:nvPr/>
        </p:nvSpPr>
        <p:spPr>
          <a:xfrm>
            <a:off x="6459565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Pago</a:t>
            </a:r>
            <a:endParaRPr lang="en-US" sz="750" dirty="0"/>
          </a:p>
        </p:txBody>
      </p:sp>
      <p:pic>
        <p:nvPicPr>
          <p:cNvPr id="55" name="Icono 668" descr="/tmp/claude-0/-home-user-pruebas-brandbook-/fbbf11e7-4add-5196-9360-974883348c29/scratchpad/ppt2/icons/TbTicket-v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7839" y="2606040"/>
            <a:ext cx="365760" cy="365760"/>
          </a:xfrm>
          <a:prstGeom prst="rect">
            <a:avLst/>
          </a:prstGeom>
        </p:spPr>
      </p:pic>
      <p:sp>
        <p:nvSpPr>
          <p:cNvPr id="56" name="Texto 669"/>
          <p:cNvSpPr txBox="1"/>
          <p:nvPr/>
        </p:nvSpPr>
        <p:spPr>
          <a:xfrm>
            <a:off x="7187001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Reserva</a:t>
            </a:r>
            <a:endParaRPr lang="en-US" sz="750" dirty="0"/>
          </a:p>
        </p:txBody>
      </p:sp>
      <p:pic>
        <p:nvPicPr>
          <p:cNvPr id="57" name="Icono 670" descr="/tmp/claude-0/-home-user-pruebas-brandbook-/fbbf11e7-4add-5196-9360-974883348c29/scratchpad/ppt2/icons/TbShieldCheck-v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95275" y="2606040"/>
            <a:ext cx="365760" cy="365760"/>
          </a:xfrm>
          <a:prstGeom prst="rect">
            <a:avLst/>
          </a:prstGeom>
        </p:spPr>
      </p:pic>
      <p:sp>
        <p:nvSpPr>
          <p:cNvPr id="58" name="Texto 671"/>
          <p:cNvSpPr txBox="1"/>
          <p:nvPr/>
        </p:nvSpPr>
        <p:spPr>
          <a:xfrm>
            <a:off x="7914437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Seguro</a:t>
            </a:r>
            <a:endParaRPr lang="en-US" sz="750" dirty="0"/>
          </a:p>
        </p:txBody>
      </p:sp>
      <p:pic>
        <p:nvPicPr>
          <p:cNvPr id="59" name="Icono 672" descr="/tmp/claude-0/-home-user-pruebas-brandbook-/fbbf11e7-4add-5196-9360-974883348c29/scratchpad/ppt2/icons/TbFirstAidKit-v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22710" y="2606040"/>
            <a:ext cx="365760" cy="365760"/>
          </a:xfrm>
          <a:prstGeom prst="rect">
            <a:avLst/>
          </a:prstGeom>
        </p:spPr>
      </p:pic>
      <p:sp>
        <p:nvSpPr>
          <p:cNvPr id="60" name="Texto 673"/>
          <p:cNvSpPr txBox="1"/>
          <p:nvPr/>
        </p:nvSpPr>
        <p:spPr>
          <a:xfrm>
            <a:off x="8641872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Asistencia</a:t>
            </a:r>
            <a:endParaRPr lang="en-US" sz="750" dirty="0"/>
          </a:p>
        </p:txBody>
      </p:sp>
      <p:pic>
        <p:nvPicPr>
          <p:cNvPr id="61" name="Icono 674" descr="/tmp/claude-0/-home-user-pruebas-brandbook-/fbbf11e7-4add-5196-9360-974883348c29/scratchpad/ppt2/icons/TbHeadset-v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550146" y="2606040"/>
            <a:ext cx="365760" cy="365760"/>
          </a:xfrm>
          <a:prstGeom prst="rect">
            <a:avLst/>
          </a:prstGeom>
        </p:spPr>
      </p:pic>
      <p:sp>
        <p:nvSpPr>
          <p:cNvPr id="62" name="Texto 675"/>
          <p:cNvSpPr txBox="1"/>
          <p:nvPr/>
        </p:nvSpPr>
        <p:spPr>
          <a:xfrm>
            <a:off x="9369308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Atención</a:t>
            </a:r>
            <a:endParaRPr lang="en-US" sz="750" dirty="0"/>
          </a:p>
        </p:txBody>
      </p:sp>
      <p:pic>
        <p:nvPicPr>
          <p:cNvPr id="63" name="Icono 676" descr="/tmp/claude-0/-home-user-pruebas-brandbook-/fbbf11e7-4add-5196-9360-974883348c29/scratchpad/ppt2/icons/TbPhone-v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277582" y="2606040"/>
            <a:ext cx="365760" cy="365760"/>
          </a:xfrm>
          <a:prstGeom prst="rect">
            <a:avLst/>
          </a:prstGeom>
        </p:spPr>
      </p:pic>
      <p:sp>
        <p:nvSpPr>
          <p:cNvPr id="64" name="Texto 677"/>
          <p:cNvSpPr txBox="1"/>
          <p:nvPr/>
        </p:nvSpPr>
        <p:spPr>
          <a:xfrm>
            <a:off x="10096744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Teléfono</a:t>
            </a:r>
            <a:endParaRPr lang="en-US" sz="750" dirty="0"/>
          </a:p>
        </p:txBody>
      </p:sp>
      <p:pic>
        <p:nvPicPr>
          <p:cNvPr id="65" name="Icono 678" descr="/tmp/claude-0/-home-user-pruebas-brandbook-/fbbf11e7-4add-5196-9360-974883348c29/scratchpad/ppt2/icons/TbMail-v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005017" y="2606040"/>
            <a:ext cx="365760" cy="365760"/>
          </a:xfrm>
          <a:prstGeom prst="rect">
            <a:avLst/>
          </a:prstGeom>
        </p:spPr>
      </p:pic>
      <p:sp>
        <p:nvSpPr>
          <p:cNvPr id="66" name="Texto 679"/>
          <p:cNvSpPr txBox="1"/>
          <p:nvPr/>
        </p:nvSpPr>
        <p:spPr>
          <a:xfrm>
            <a:off x="10824180" y="301752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Correo</a:t>
            </a:r>
            <a:endParaRPr lang="en-US" sz="750" dirty="0"/>
          </a:p>
        </p:txBody>
      </p:sp>
      <p:pic>
        <p:nvPicPr>
          <p:cNvPr id="67" name="Icono 680" descr="/tmp/claude-0/-home-user-pruebas-brandbook-/fbbf11e7-4add-5196-9360-974883348c29/scratchpad/ppt2/icons/TbMessageCircle-v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20918" y="3383280"/>
            <a:ext cx="365760" cy="365760"/>
          </a:xfrm>
          <a:prstGeom prst="rect">
            <a:avLst/>
          </a:prstGeom>
        </p:spPr>
      </p:pic>
      <p:sp>
        <p:nvSpPr>
          <p:cNvPr id="68" name="Texto 681"/>
          <p:cNvSpPr txBox="1"/>
          <p:nvPr/>
        </p:nvSpPr>
        <p:spPr>
          <a:xfrm>
            <a:off x="640080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Chat</a:t>
            </a:r>
            <a:endParaRPr lang="en-US" sz="750" dirty="0"/>
          </a:p>
        </p:txBody>
      </p:sp>
      <p:pic>
        <p:nvPicPr>
          <p:cNvPr id="69" name="Icono 682" descr="/tmp/claude-0/-home-user-pruebas-brandbook-/fbbf11e7-4add-5196-9360-974883348c29/scratchpad/ppt2/icons/TbBrandWhatsapp-v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548354" y="3383280"/>
            <a:ext cx="365760" cy="365760"/>
          </a:xfrm>
          <a:prstGeom prst="rect">
            <a:avLst/>
          </a:prstGeom>
        </p:spPr>
      </p:pic>
      <p:sp>
        <p:nvSpPr>
          <p:cNvPr id="70" name="Texto 683"/>
          <p:cNvSpPr txBox="1"/>
          <p:nvPr/>
        </p:nvSpPr>
        <p:spPr>
          <a:xfrm>
            <a:off x="1367516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WhatsApp</a:t>
            </a:r>
            <a:endParaRPr lang="en-US" sz="750" dirty="0"/>
          </a:p>
        </p:txBody>
      </p:sp>
      <p:pic>
        <p:nvPicPr>
          <p:cNvPr id="71" name="Icono 684" descr="/tmp/claude-0/-home-user-pruebas-brandbook-/fbbf11e7-4add-5196-9360-974883348c29/scratchpad/ppt2/icons/TbUsers-v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75789" y="3383280"/>
            <a:ext cx="365760" cy="365760"/>
          </a:xfrm>
          <a:prstGeom prst="rect">
            <a:avLst/>
          </a:prstGeom>
        </p:spPr>
      </p:pic>
      <p:sp>
        <p:nvSpPr>
          <p:cNvPr id="72" name="Texto 685"/>
          <p:cNvSpPr txBox="1"/>
          <p:nvPr/>
        </p:nvSpPr>
        <p:spPr>
          <a:xfrm>
            <a:off x="2094951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Grupo</a:t>
            </a:r>
            <a:endParaRPr lang="en-US" sz="750" dirty="0"/>
          </a:p>
        </p:txBody>
      </p:sp>
      <p:pic>
        <p:nvPicPr>
          <p:cNvPr id="73" name="Icono 686" descr="/tmp/claude-0/-home-user-pruebas-brandbook-/fbbf11e7-4add-5196-9360-974883348c29/scratchpad/ppt2/icons/TbUser-v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003225" y="3383280"/>
            <a:ext cx="365760" cy="365760"/>
          </a:xfrm>
          <a:prstGeom prst="rect">
            <a:avLst/>
          </a:prstGeom>
        </p:spPr>
      </p:pic>
      <p:sp>
        <p:nvSpPr>
          <p:cNvPr id="74" name="Texto 687"/>
          <p:cNvSpPr txBox="1"/>
          <p:nvPr/>
        </p:nvSpPr>
        <p:spPr>
          <a:xfrm>
            <a:off x="2822387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Persona</a:t>
            </a:r>
            <a:endParaRPr lang="en-US" sz="750" dirty="0"/>
          </a:p>
        </p:txBody>
      </p:sp>
      <p:pic>
        <p:nvPicPr>
          <p:cNvPr id="75" name="Icono 688" descr="/tmp/claude-0/-home-user-pruebas-brandbook-/fbbf11e7-4add-5196-9360-974883348c29/scratchpad/ppt2/icons/TbHeart-v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30661" y="3383280"/>
            <a:ext cx="365760" cy="365760"/>
          </a:xfrm>
          <a:prstGeom prst="rect">
            <a:avLst/>
          </a:prstGeom>
        </p:spPr>
      </p:pic>
      <p:sp>
        <p:nvSpPr>
          <p:cNvPr id="76" name="Texto 689"/>
          <p:cNvSpPr txBox="1"/>
          <p:nvPr/>
        </p:nvSpPr>
        <p:spPr>
          <a:xfrm>
            <a:off x="3549823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Favorito</a:t>
            </a:r>
            <a:endParaRPr lang="en-US" sz="750" dirty="0"/>
          </a:p>
        </p:txBody>
      </p:sp>
      <p:pic>
        <p:nvPicPr>
          <p:cNvPr id="77" name="Icono 690" descr="/tmp/claude-0/-home-user-pruebas-brandbook-/fbbf11e7-4add-5196-9360-974883348c29/scratchpad/ppt2/icons/TbStar-v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458096" y="3383280"/>
            <a:ext cx="365760" cy="365760"/>
          </a:xfrm>
          <a:prstGeom prst="rect">
            <a:avLst/>
          </a:prstGeom>
        </p:spPr>
      </p:pic>
      <p:sp>
        <p:nvSpPr>
          <p:cNvPr id="78" name="Texto 691"/>
          <p:cNvSpPr txBox="1"/>
          <p:nvPr/>
        </p:nvSpPr>
        <p:spPr>
          <a:xfrm>
            <a:off x="4277258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Valoración</a:t>
            </a:r>
            <a:endParaRPr lang="en-US" sz="750" dirty="0"/>
          </a:p>
        </p:txBody>
      </p:sp>
      <p:pic>
        <p:nvPicPr>
          <p:cNvPr id="79" name="Icono 692" descr="/tmp/claude-0/-home-user-pruebas-brandbook-/fbbf11e7-4add-5196-9360-974883348c29/scratchpad/ppt2/icons/TbThumbUp-v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185532" y="3383280"/>
            <a:ext cx="365760" cy="365760"/>
          </a:xfrm>
          <a:prstGeom prst="rect">
            <a:avLst/>
          </a:prstGeom>
        </p:spPr>
      </p:pic>
      <p:sp>
        <p:nvSpPr>
          <p:cNvPr id="80" name="Texto 693"/>
          <p:cNvSpPr txBox="1"/>
          <p:nvPr/>
        </p:nvSpPr>
        <p:spPr>
          <a:xfrm>
            <a:off x="5004694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Recomendación</a:t>
            </a:r>
            <a:endParaRPr lang="en-US" sz="750" dirty="0"/>
          </a:p>
        </p:txBody>
      </p:sp>
      <p:pic>
        <p:nvPicPr>
          <p:cNvPr id="81" name="Icono 694" descr="/tmp/claude-0/-home-user-pruebas-brandbook-/fbbf11e7-4add-5196-9360-974883348c29/scratchpad/ppt2/icons/TbAward-v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912968" y="3383280"/>
            <a:ext cx="365760" cy="365760"/>
          </a:xfrm>
          <a:prstGeom prst="rect">
            <a:avLst/>
          </a:prstGeom>
        </p:spPr>
      </p:pic>
      <p:sp>
        <p:nvSpPr>
          <p:cNvPr id="82" name="Texto 695"/>
          <p:cNvSpPr txBox="1"/>
          <p:nvPr/>
        </p:nvSpPr>
        <p:spPr>
          <a:xfrm>
            <a:off x="5732130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Calidad</a:t>
            </a:r>
            <a:endParaRPr lang="en-US" sz="750" dirty="0"/>
          </a:p>
        </p:txBody>
      </p:sp>
      <p:pic>
        <p:nvPicPr>
          <p:cNvPr id="83" name="Icono 696" descr="/tmp/claude-0/-home-user-pruebas-brandbook-/fbbf11e7-4add-5196-9360-974883348c29/scratchpad/ppt2/icons/TbToolsKitchen2-v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640403" y="3383280"/>
            <a:ext cx="365760" cy="365760"/>
          </a:xfrm>
          <a:prstGeom prst="rect">
            <a:avLst/>
          </a:prstGeom>
        </p:spPr>
      </p:pic>
      <p:sp>
        <p:nvSpPr>
          <p:cNvPr id="84" name="Texto 697"/>
          <p:cNvSpPr txBox="1"/>
          <p:nvPr/>
        </p:nvSpPr>
        <p:spPr>
          <a:xfrm>
            <a:off x="6459565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Comida</a:t>
            </a:r>
            <a:endParaRPr lang="en-US" sz="750" dirty="0"/>
          </a:p>
        </p:txBody>
      </p:sp>
      <p:pic>
        <p:nvPicPr>
          <p:cNvPr id="85" name="Icono 698" descr="/tmp/claude-0/-home-user-pruebas-brandbook-/fbbf11e7-4add-5196-9360-974883348c29/scratchpad/ppt2/icons/TbCoffee-v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367839" y="3383280"/>
            <a:ext cx="365760" cy="365760"/>
          </a:xfrm>
          <a:prstGeom prst="rect">
            <a:avLst/>
          </a:prstGeom>
        </p:spPr>
      </p:pic>
      <p:sp>
        <p:nvSpPr>
          <p:cNvPr id="86" name="Texto 699"/>
          <p:cNvSpPr txBox="1"/>
          <p:nvPr/>
        </p:nvSpPr>
        <p:spPr>
          <a:xfrm>
            <a:off x="7187001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Desayuno</a:t>
            </a:r>
            <a:endParaRPr lang="en-US" sz="750" dirty="0"/>
          </a:p>
        </p:txBody>
      </p:sp>
      <p:pic>
        <p:nvPicPr>
          <p:cNvPr id="87" name="Icono 700" descr="/tmp/claude-0/-home-user-pruebas-brandbook-/fbbf11e7-4add-5196-9360-974883348c29/scratchpad/ppt2/icons/TbWifi-v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95275" y="3383280"/>
            <a:ext cx="365760" cy="365760"/>
          </a:xfrm>
          <a:prstGeom prst="rect">
            <a:avLst/>
          </a:prstGeom>
        </p:spPr>
      </p:pic>
      <p:sp>
        <p:nvSpPr>
          <p:cNvPr id="88" name="Texto 701"/>
          <p:cNvSpPr txBox="1"/>
          <p:nvPr/>
        </p:nvSpPr>
        <p:spPr>
          <a:xfrm>
            <a:off x="7914437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Wifi</a:t>
            </a:r>
            <a:endParaRPr lang="en-US" sz="750" dirty="0"/>
          </a:p>
        </p:txBody>
      </p:sp>
      <p:pic>
        <p:nvPicPr>
          <p:cNvPr id="89" name="Icono 702" descr="/tmp/claude-0/-home-user-pruebas-brandbook-/fbbf11e7-4add-5196-9360-974883348c29/scratchpad/ppt2/icons/TbId-v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822710" y="3383280"/>
            <a:ext cx="365760" cy="365760"/>
          </a:xfrm>
          <a:prstGeom prst="rect">
            <a:avLst/>
          </a:prstGeom>
        </p:spPr>
      </p:pic>
      <p:sp>
        <p:nvSpPr>
          <p:cNvPr id="90" name="Texto 703"/>
          <p:cNvSpPr txBox="1"/>
          <p:nvPr/>
        </p:nvSpPr>
        <p:spPr>
          <a:xfrm>
            <a:off x="8641872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Credencial</a:t>
            </a:r>
            <a:endParaRPr lang="en-US" sz="750" dirty="0"/>
          </a:p>
        </p:txBody>
      </p:sp>
      <p:pic>
        <p:nvPicPr>
          <p:cNvPr id="91" name="Icono 704" descr="/tmp/claude-0/-home-user-pruebas-brandbook-/fbbf11e7-4add-5196-9360-974883348c29/scratchpad/ppt2/icons/TbWorld-v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550146" y="3383280"/>
            <a:ext cx="365760" cy="365760"/>
          </a:xfrm>
          <a:prstGeom prst="rect">
            <a:avLst/>
          </a:prstGeom>
        </p:spPr>
      </p:pic>
      <p:sp>
        <p:nvSpPr>
          <p:cNvPr id="92" name="Texto 705"/>
          <p:cNvSpPr txBox="1"/>
          <p:nvPr/>
        </p:nvSpPr>
        <p:spPr>
          <a:xfrm>
            <a:off x="9369308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Idiomas</a:t>
            </a:r>
            <a:endParaRPr lang="en-US" sz="750" dirty="0"/>
          </a:p>
        </p:txBody>
      </p:sp>
      <p:pic>
        <p:nvPicPr>
          <p:cNvPr id="93" name="Icono 706" descr="/tmp/claude-0/-home-user-pruebas-brandbook-/fbbf11e7-4add-5196-9360-974883348c29/scratchpad/ppt2/icons/TbWheelchair-v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277582" y="3383280"/>
            <a:ext cx="365760" cy="365760"/>
          </a:xfrm>
          <a:prstGeom prst="rect">
            <a:avLst/>
          </a:prstGeom>
        </p:spPr>
      </p:pic>
      <p:sp>
        <p:nvSpPr>
          <p:cNvPr id="94" name="Texto 707"/>
          <p:cNvSpPr txBox="1"/>
          <p:nvPr/>
        </p:nvSpPr>
        <p:spPr>
          <a:xfrm>
            <a:off x="10096744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Accesible</a:t>
            </a:r>
            <a:endParaRPr lang="en-US" sz="750" dirty="0"/>
          </a:p>
        </p:txBody>
      </p:sp>
      <p:pic>
        <p:nvPicPr>
          <p:cNvPr id="95" name="Icono 708" descr="/tmp/claude-0/-home-user-pruebas-brandbook-/fbbf11e7-4add-5196-9360-974883348c29/scratchpad/ppt2/icons/TbDog-v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1005017" y="3383280"/>
            <a:ext cx="365760" cy="365760"/>
          </a:xfrm>
          <a:prstGeom prst="rect">
            <a:avLst/>
          </a:prstGeom>
        </p:spPr>
      </p:pic>
      <p:sp>
        <p:nvSpPr>
          <p:cNvPr id="96" name="Texto 709"/>
          <p:cNvSpPr txBox="1"/>
          <p:nvPr/>
        </p:nvSpPr>
        <p:spPr>
          <a:xfrm>
            <a:off x="10824180" y="379476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Mascotas</a:t>
            </a:r>
            <a:endParaRPr lang="en-US" sz="750" dirty="0"/>
          </a:p>
        </p:txBody>
      </p:sp>
      <p:pic>
        <p:nvPicPr>
          <p:cNvPr id="97" name="Icono 710" descr="/tmp/claude-0/-home-user-pruebas-brandbook-/fbbf11e7-4add-5196-9360-974883348c29/scratchpad/ppt2/icons/TbLeaf-v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20918" y="4160520"/>
            <a:ext cx="365760" cy="365760"/>
          </a:xfrm>
          <a:prstGeom prst="rect">
            <a:avLst/>
          </a:prstGeom>
        </p:spPr>
      </p:pic>
      <p:sp>
        <p:nvSpPr>
          <p:cNvPr id="98" name="Texto 711"/>
          <p:cNvSpPr txBox="1"/>
          <p:nvPr/>
        </p:nvSpPr>
        <p:spPr>
          <a:xfrm>
            <a:off x="640080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Naturaleza</a:t>
            </a:r>
            <a:endParaRPr lang="en-US" sz="750" dirty="0"/>
          </a:p>
        </p:txBody>
      </p:sp>
      <p:pic>
        <p:nvPicPr>
          <p:cNvPr id="99" name="Icono 712" descr="/tmp/claude-0/-home-user-pruebas-brandbook-/fbbf11e7-4add-5196-9360-974883348c29/scratchpad/ppt2/icons/TbCamera-v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548354" y="4160520"/>
            <a:ext cx="365760" cy="365760"/>
          </a:xfrm>
          <a:prstGeom prst="rect">
            <a:avLst/>
          </a:prstGeom>
        </p:spPr>
      </p:pic>
      <p:sp>
        <p:nvSpPr>
          <p:cNvPr id="100" name="Texto 713"/>
          <p:cNvSpPr txBox="1"/>
          <p:nvPr/>
        </p:nvSpPr>
        <p:spPr>
          <a:xfrm>
            <a:off x="1367516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Fotos</a:t>
            </a:r>
            <a:endParaRPr lang="en-US" sz="750" dirty="0"/>
          </a:p>
        </p:txBody>
      </p:sp>
      <p:pic>
        <p:nvPicPr>
          <p:cNvPr id="101" name="Icono 714" descr="/tmp/claude-0/-home-user-pruebas-brandbook-/fbbf11e7-4add-5196-9360-974883348c29/scratchpad/ppt2/icons/TbGift-v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2275789" y="4160520"/>
            <a:ext cx="365760" cy="365760"/>
          </a:xfrm>
          <a:prstGeom prst="rect">
            <a:avLst/>
          </a:prstGeom>
        </p:spPr>
      </p:pic>
      <p:sp>
        <p:nvSpPr>
          <p:cNvPr id="102" name="Texto 715"/>
          <p:cNvSpPr txBox="1"/>
          <p:nvPr/>
        </p:nvSpPr>
        <p:spPr>
          <a:xfrm>
            <a:off x="2094951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Regalo</a:t>
            </a:r>
            <a:endParaRPr lang="en-US" sz="750" dirty="0"/>
          </a:p>
        </p:txBody>
      </p:sp>
      <p:pic>
        <p:nvPicPr>
          <p:cNvPr id="103" name="Icono 716" descr="/tmp/claude-0/-home-user-pruebas-brandbook-/fbbf11e7-4add-5196-9360-974883348c29/scratchpad/ppt2/icons/TbBulb-v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3003225" y="4160520"/>
            <a:ext cx="365760" cy="365760"/>
          </a:xfrm>
          <a:prstGeom prst="rect">
            <a:avLst/>
          </a:prstGeom>
        </p:spPr>
      </p:pic>
      <p:sp>
        <p:nvSpPr>
          <p:cNvPr id="104" name="Texto 717"/>
          <p:cNvSpPr txBox="1"/>
          <p:nvPr/>
        </p:nvSpPr>
        <p:spPr>
          <a:xfrm>
            <a:off x="2822387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Idea</a:t>
            </a:r>
            <a:endParaRPr lang="en-US" sz="750" dirty="0"/>
          </a:p>
        </p:txBody>
      </p:sp>
      <p:pic>
        <p:nvPicPr>
          <p:cNvPr id="105" name="Icono 718" descr="/tmp/claude-0/-home-user-pruebas-brandbook-/fbbf11e7-4add-5196-9360-974883348c29/scratchpad/ppt2/icons/TbTarget-v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730661" y="4160520"/>
            <a:ext cx="365760" cy="365760"/>
          </a:xfrm>
          <a:prstGeom prst="rect">
            <a:avLst/>
          </a:prstGeom>
        </p:spPr>
      </p:pic>
      <p:sp>
        <p:nvSpPr>
          <p:cNvPr id="106" name="Texto 719"/>
          <p:cNvSpPr txBox="1"/>
          <p:nvPr/>
        </p:nvSpPr>
        <p:spPr>
          <a:xfrm>
            <a:off x="3549823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Objetivo</a:t>
            </a:r>
            <a:endParaRPr lang="en-US" sz="750" dirty="0"/>
          </a:p>
        </p:txBody>
      </p:sp>
      <p:pic>
        <p:nvPicPr>
          <p:cNvPr id="107" name="Icono 720" descr="/tmp/claude-0/-home-user-pruebas-brandbook-/fbbf11e7-4add-5196-9360-974883348c29/scratchpad/ppt2/icons/TbChartBar-v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458096" y="4160520"/>
            <a:ext cx="365760" cy="365760"/>
          </a:xfrm>
          <a:prstGeom prst="rect">
            <a:avLst/>
          </a:prstGeom>
        </p:spPr>
      </p:pic>
      <p:sp>
        <p:nvSpPr>
          <p:cNvPr id="108" name="Texto 721"/>
          <p:cNvSpPr txBox="1"/>
          <p:nvPr/>
        </p:nvSpPr>
        <p:spPr>
          <a:xfrm>
            <a:off x="4277258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Datos</a:t>
            </a:r>
            <a:endParaRPr lang="en-US" sz="750" dirty="0"/>
          </a:p>
        </p:txBody>
      </p:sp>
      <p:pic>
        <p:nvPicPr>
          <p:cNvPr id="109" name="Icono 722" descr="/tmp/claude-0/-home-user-pruebas-brandbook-/fbbf11e7-4add-5196-9360-974883348c29/scratchpad/ppt2/icons/TbTrendingUp-v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5185532" y="4160520"/>
            <a:ext cx="365760" cy="365760"/>
          </a:xfrm>
          <a:prstGeom prst="rect">
            <a:avLst/>
          </a:prstGeom>
        </p:spPr>
      </p:pic>
      <p:sp>
        <p:nvSpPr>
          <p:cNvPr id="110" name="Texto 723"/>
          <p:cNvSpPr txBox="1"/>
          <p:nvPr/>
        </p:nvSpPr>
        <p:spPr>
          <a:xfrm>
            <a:off x="5004694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Crecimiento</a:t>
            </a:r>
            <a:endParaRPr lang="en-US" sz="750" dirty="0"/>
          </a:p>
        </p:txBody>
      </p:sp>
      <p:pic>
        <p:nvPicPr>
          <p:cNvPr id="111" name="Icono 724" descr="/tmp/claude-0/-home-user-pruebas-brandbook-/fbbf11e7-4add-5196-9360-974883348c29/scratchpad/ppt2/icons/TbSpeakerphone-v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5912968" y="4160520"/>
            <a:ext cx="365760" cy="365760"/>
          </a:xfrm>
          <a:prstGeom prst="rect">
            <a:avLst/>
          </a:prstGeom>
        </p:spPr>
      </p:pic>
      <p:sp>
        <p:nvSpPr>
          <p:cNvPr id="112" name="Texto 725"/>
          <p:cNvSpPr txBox="1"/>
          <p:nvPr/>
        </p:nvSpPr>
        <p:spPr>
          <a:xfrm>
            <a:off x="5732130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Campaña</a:t>
            </a:r>
            <a:endParaRPr lang="en-US" sz="750" dirty="0"/>
          </a:p>
        </p:txBody>
      </p:sp>
      <p:pic>
        <p:nvPicPr>
          <p:cNvPr id="113" name="Icono 726" descr="/tmp/claude-0/-home-user-pruebas-brandbook-/fbbf11e7-4add-5196-9360-974883348c29/scratchpad/ppt2/icons/TbBrandInstagram-v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6640403" y="4160520"/>
            <a:ext cx="365760" cy="365760"/>
          </a:xfrm>
          <a:prstGeom prst="rect">
            <a:avLst/>
          </a:prstGeom>
        </p:spPr>
      </p:pic>
      <p:sp>
        <p:nvSpPr>
          <p:cNvPr id="114" name="Texto 727"/>
          <p:cNvSpPr txBox="1"/>
          <p:nvPr/>
        </p:nvSpPr>
        <p:spPr>
          <a:xfrm>
            <a:off x="6459565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Instagram</a:t>
            </a:r>
            <a:endParaRPr lang="en-US" sz="750" dirty="0"/>
          </a:p>
        </p:txBody>
      </p:sp>
      <p:pic>
        <p:nvPicPr>
          <p:cNvPr id="115" name="Icono 728" descr="/tmp/claude-0/-home-user-pruebas-brandbook-/fbbf11e7-4add-5196-9360-974883348c29/scratchpad/ppt2/icons/TbBrandYoutube-v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7367839" y="4160520"/>
            <a:ext cx="365760" cy="365760"/>
          </a:xfrm>
          <a:prstGeom prst="rect">
            <a:avLst/>
          </a:prstGeom>
        </p:spPr>
      </p:pic>
      <p:sp>
        <p:nvSpPr>
          <p:cNvPr id="116" name="Texto 729"/>
          <p:cNvSpPr txBox="1"/>
          <p:nvPr/>
        </p:nvSpPr>
        <p:spPr>
          <a:xfrm>
            <a:off x="7187001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YouTube</a:t>
            </a:r>
            <a:endParaRPr lang="en-US" sz="750" dirty="0"/>
          </a:p>
        </p:txBody>
      </p:sp>
      <p:pic>
        <p:nvPicPr>
          <p:cNvPr id="117" name="Icono 730" descr="/tmp/claude-0/-home-user-pruebas-brandbook-/fbbf11e7-4add-5196-9360-974883348c29/scratchpad/ppt2/icons/TbBrandTiktok-v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095275" y="4160520"/>
            <a:ext cx="365760" cy="365760"/>
          </a:xfrm>
          <a:prstGeom prst="rect">
            <a:avLst/>
          </a:prstGeom>
        </p:spPr>
      </p:pic>
      <p:sp>
        <p:nvSpPr>
          <p:cNvPr id="118" name="Texto 731"/>
          <p:cNvSpPr txBox="1"/>
          <p:nvPr/>
        </p:nvSpPr>
        <p:spPr>
          <a:xfrm>
            <a:off x="7914437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TikTok</a:t>
            </a:r>
            <a:endParaRPr lang="en-US" sz="750" dirty="0"/>
          </a:p>
        </p:txBody>
      </p:sp>
      <p:pic>
        <p:nvPicPr>
          <p:cNvPr id="119" name="Icono 732" descr="/tmp/claude-0/-home-user-pruebas-brandbook-/fbbf11e7-4add-5196-9360-974883348c29/scratchpad/ppt2/icons/TbBrandFacebook-v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822710" y="4160520"/>
            <a:ext cx="365760" cy="365760"/>
          </a:xfrm>
          <a:prstGeom prst="rect">
            <a:avLst/>
          </a:prstGeom>
        </p:spPr>
      </p:pic>
      <p:sp>
        <p:nvSpPr>
          <p:cNvPr id="120" name="Texto 733"/>
          <p:cNvSpPr txBox="1"/>
          <p:nvPr/>
        </p:nvSpPr>
        <p:spPr>
          <a:xfrm>
            <a:off x="8641872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Facebook</a:t>
            </a:r>
            <a:endParaRPr lang="en-US" sz="750" dirty="0"/>
          </a:p>
        </p:txBody>
      </p:sp>
      <p:pic>
        <p:nvPicPr>
          <p:cNvPr id="121" name="Icono 734" descr="/tmp/claude-0/-home-user-pruebas-brandbook-/fbbf11e7-4add-5196-9360-974883348c29/scratchpad/ppt2/icons/TbCheck-v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9550146" y="4160520"/>
            <a:ext cx="365760" cy="365760"/>
          </a:xfrm>
          <a:prstGeom prst="rect">
            <a:avLst/>
          </a:prstGeom>
        </p:spPr>
      </p:pic>
      <p:sp>
        <p:nvSpPr>
          <p:cNvPr id="122" name="Texto 735"/>
          <p:cNvSpPr txBox="1"/>
          <p:nvPr/>
        </p:nvSpPr>
        <p:spPr>
          <a:xfrm>
            <a:off x="9369308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Hecho</a:t>
            </a:r>
            <a:endParaRPr lang="en-US" sz="750" dirty="0"/>
          </a:p>
        </p:txBody>
      </p:sp>
      <p:pic>
        <p:nvPicPr>
          <p:cNvPr id="123" name="Icono 736" descr="/tmp/claude-0/-home-user-pruebas-brandbook-/fbbf11e7-4add-5196-9360-974883348c29/scratchpad/ppt2/icons/TbArrowRight-v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10277582" y="4160520"/>
            <a:ext cx="365760" cy="365760"/>
          </a:xfrm>
          <a:prstGeom prst="rect">
            <a:avLst/>
          </a:prstGeom>
        </p:spPr>
      </p:pic>
      <p:sp>
        <p:nvSpPr>
          <p:cNvPr id="124" name="Texto 737"/>
          <p:cNvSpPr txBox="1"/>
          <p:nvPr/>
        </p:nvSpPr>
        <p:spPr>
          <a:xfrm>
            <a:off x="10096744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Siguiente</a:t>
            </a:r>
            <a:endParaRPr lang="en-US" sz="750" dirty="0"/>
          </a:p>
        </p:txBody>
      </p:sp>
      <p:pic>
        <p:nvPicPr>
          <p:cNvPr id="125" name="Icono 738" descr="/tmp/claude-0/-home-user-pruebas-brandbook-/fbbf11e7-4add-5196-9360-974883348c29/scratchpad/ppt2/icons/TbSearch-v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11005017" y="4160520"/>
            <a:ext cx="365760" cy="365760"/>
          </a:xfrm>
          <a:prstGeom prst="rect">
            <a:avLst/>
          </a:prstGeom>
        </p:spPr>
      </p:pic>
      <p:sp>
        <p:nvSpPr>
          <p:cNvPr id="126" name="Texto 739"/>
          <p:cNvSpPr txBox="1"/>
          <p:nvPr/>
        </p:nvSpPr>
        <p:spPr>
          <a:xfrm>
            <a:off x="10824180" y="4572000"/>
            <a:ext cx="7274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Buscar</a:t>
            </a:r>
            <a:endParaRPr lang="en-US" sz="750" dirty="0"/>
          </a:p>
        </p:txBody>
      </p:sp>
      <p:sp>
        <p:nvSpPr>
          <p:cNvPr id="127" name="Texto 740"/>
          <p:cNvSpPr txBox="1"/>
          <p:nvPr/>
        </p:nvSpPr>
        <p:spPr>
          <a:xfrm>
            <a:off x="640080" y="51389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2"/>
                </a:solidFill>
              </a:rPr>
              <a:t>FORMATOS</a:t>
            </a:r>
            <a:endParaRPr lang="en-US" sz="900" dirty="0"/>
          </a:p>
        </p:txBody>
      </p:sp>
      <p:sp>
        <p:nvSpPr>
          <p:cNvPr id="128" name="Círculo de icono 741"/>
          <p:cNvSpPr/>
          <p:nvPr/>
        </p:nvSpPr>
        <p:spPr>
          <a:xfrm>
            <a:off x="1920240" y="5029200"/>
            <a:ext cx="457200" cy="457200"/>
          </a:xfrm>
          <a:prstGeom prst="ellipse">
            <a:avLst/>
          </a:prstGeom>
          <a:solidFill>
            <a:srgbClr val="7AA606"/>
          </a:solidFill>
          <a:ln/>
        </p:spPr>
      </p:sp>
      <p:pic>
        <p:nvPicPr>
          <p:cNvPr id="129" name="Icono 742" descr="/tmp/claude-0/-home-user-pruebas-brandbook-/fbbf11e7-4add-5196-9360-974883348c29/scratchpad/ppt2/icons/TbBed-b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2020824" y="5129784"/>
            <a:ext cx="256032" cy="256032"/>
          </a:xfrm>
          <a:prstGeom prst="rect">
            <a:avLst/>
          </a:prstGeom>
        </p:spPr>
      </p:pic>
      <p:sp>
        <p:nvSpPr>
          <p:cNvPr id="130" name="Círculo de icono 743"/>
          <p:cNvSpPr/>
          <p:nvPr/>
        </p:nvSpPr>
        <p:spPr>
          <a:xfrm>
            <a:off x="2560320" y="5029200"/>
            <a:ext cx="457200" cy="457200"/>
          </a:xfrm>
          <a:prstGeom prst="ellipse">
            <a:avLst/>
          </a:prstGeom>
          <a:solidFill>
            <a:srgbClr val="506718"/>
          </a:solidFill>
          <a:ln/>
        </p:spPr>
      </p:sp>
      <p:pic>
        <p:nvPicPr>
          <p:cNvPr id="131" name="Icono 744" descr="/tmp/claude-0/-home-user-pruebas-brandbook-/fbbf11e7-4add-5196-9360-974883348c29/scratchpad/ppt2/icons/TbLuggage-b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2660904" y="5129784"/>
            <a:ext cx="256032" cy="256032"/>
          </a:xfrm>
          <a:prstGeom prst="rect">
            <a:avLst/>
          </a:prstGeom>
        </p:spPr>
      </p:pic>
      <p:sp>
        <p:nvSpPr>
          <p:cNvPr id="132" name="Círculo de icono 745"/>
          <p:cNvSpPr/>
          <p:nvPr/>
        </p:nvSpPr>
        <p:spPr>
          <a:xfrm>
            <a:off x="3200400" y="5029200"/>
            <a:ext cx="457200" cy="457200"/>
          </a:xfrm>
          <a:prstGeom prst="ellipse">
            <a:avLst/>
          </a:prstGeom>
          <a:solidFill>
            <a:srgbClr val="FAFFEE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133" name="Icono 746" descr="/tmp/claude-0/-home-user-pruebas-brandbook-/fbbf11e7-4add-5196-9360-974883348c29/scratchpad/ppt2/icons/TbRoute-v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300984" y="5129784"/>
            <a:ext cx="256032" cy="256032"/>
          </a:xfrm>
          <a:prstGeom prst="rect">
            <a:avLst/>
          </a:prstGeom>
        </p:spPr>
      </p:pic>
      <p:sp>
        <p:nvSpPr>
          <p:cNvPr id="134" name="Círculo de icono 747"/>
          <p:cNvSpPr/>
          <p:nvPr/>
        </p:nvSpPr>
        <p:spPr>
          <a:xfrm>
            <a:off x="3840480" y="5029200"/>
            <a:ext cx="457200" cy="457200"/>
          </a:xfrm>
          <a:prstGeom prst="ellipse">
            <a:avLst/>
          </a:prstGeom>
          <a:solidFill>
            <a:srgbClr val="2E2E2D"/>
          </a:solidFill>
          <a:ln/>
        </p:spPr>
      </p:sp>
      <p:pic>
        <p:nvPicPr>
          <p:cNvPr id="135" name="Icono 748" descr="/tmp/claude-0/-home-user-pruebas-brandbook-/fbbf11e7-4add-5196-9360-974883348c29/scratchpad/ppt2/icons/TbStar-b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941064" y="5129784"/>
            <a:ext cx="256032" cy="256032"/>
          </a:xfrm>
          <a:prstGeom prst="rect">
            <a:avLst/>
          </a:prstGeom>
        </p:spPr>
      </p:pic>
      <p:sp>
        <p:nvSpPr>
          <p:cNvPr id="136" name="Círculo de icono 749"/>
          <p:cNvSpPr/>
          <p:nvPr/>
        </p:nvSpPr>
        <p:spPr>
          <a:xfrm>
            <a:off x="4480560" y="5029200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ECECEA"/>
            </a:solidFill>
            <a:prstDash val="solid"/>
          </a:ln>
        </p:spPr>
      </p:sp>
      <p:pic>
        <p:nvPicPr>
          <p:cNvPr id="137" name="Icono 750" descr="/tmp/claude-0/-home-user-pruebas-brandbook-/fbbf11e7-4add-5196-9360-974883348c29/scratchpad/ppt2/icons/TbHeart-v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4581144" y="5129784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33679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F6F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uebas-brandbook-/fbbf11e7-4add-5196-9360-974883348c29/scratchpad/ppt2/img/fuegos.jpg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ombra 751" descr="/tmp/claude-0/-home-user-pruebas-brandbook-/fbbf11e7-4add-5196-9360-974883348c29/scratchpad/ppt2/img/sombra-fo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752" descr="/tmp/claude-0/-home-user-pruebas-brandbook-/fbbf11e7-4add-5196-9360-974883348c29/scratchpad/ppt2/img/logo-bl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2194560" cy="351536"/>
          </a:xfrm>
          <a:prstGeom prst="rect">
            <a:avLst/>
          </a:prstGeom>
        </p:spPr>
      </p:pic>
      <p:sp>
        <p:nvSpPr>
          <p:cNvPr id="5" name="Subrayado Ways 753"/>
          <p:cNvSpPr/>
          <p:nvPr/>
        </p:nvSpPr>
        <p:spPr>
          <a:xfrm rot="-90000">
            <a:off x="640080" y="4480560"/>
            <a:ext cx="3512922" cy="1040384"/>
          </a:xfrm>
          <a:prstGeom prst="rect">
            <a:avLst/>
          </a:prstGeom>
          <a:solidFill>
            <a:srgbClr val="7AA60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Gracias</a:t>
            </a:r>
            <a:endParaRPr lang="en-US" sz="6400" dirty="0"/>
          </a:p>
        </p:txBody>
      </p:sp>
      <p:sp>
        <p:nvSpPr>
          <p:cNvPr id="6" name="Texto 754"/>
          <p:cNvSpPr txBox="1"/>
          <p:nvPr/>
        </p:nvSpPr>
        <p:spPr>
          <a:xfrm>
            <a:off x="640080" y="5715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santiagoways.com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cha marca de agua 755" descr="/tmp/claude-0/-home-user-pruebas-brandbook-/fbbf11e7-4add-5196-9360-974883348c29/scratchpad/ppt2/img/concha-agua-blan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914400"/>
            <a:ext cx="4937760" cy="4142416"/>
          </a:xfrm>
          <a:prstGeom prst="rect">
            <a:avLst/>
          </a:prstGeom>
        </p:spPr>
      </p:pic>
      <p:pic>
        <p:nvPicPr>
          <p:cNvPr id="3" name="Logo 756" descr="/tmp/claude-0/-home-user-pruebas-brandbook-/fbbf11e7-4add-5196-9360-974883348c29/scratchpad/ppt2/img/logo-bl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2194560" cy="351536"/>
          </a:xfrm>
          <a:prstGeom prst="rect">
            <a:avLst/>
          </a:prstGeom>
        </p:spPr>
      </p:pic>
      <p:sp>
        <p:nvSpPr>
          <p:cNvPr id="4" name="Texto 757"/>
          <p:cNvSpPr txBox="1"/>
          <p:nvPr/>
        </p:nvSpPr>
        <p:spPr>
          <a:xfrm>
            <a:off x="640080" y="237744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 Camino</a:t>
            </a:r>
            <a:endParaRPr lang="en-US" sz="5400" dirty="0"/>
          </a:p>
        </p:txBody>
      </p:sp>
      <p:sp>
        <p:nvSpPr>
          <p:cNvPr id="5" name="Subrayado Ways 758"/>
          <p:cNvSpPr/>
          <p:nvPr/>
        </p:nvSpPr>
        <p:spPr>
          <a:xfrm rot="-90000">
            <a:off x="640080" y="3246120"/>
            <a:ext cx="5186020" cy="877824"/>
          </a:xfrm>
          <a:prstGeom prst="rect">
            <a:avLst/>
          </a:prstGeom>
          <a:solidFill>
            <a:srgbClr val="5067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empieza aquí</a:t>
            </a:r>
            <a:endParaRPr lang="en-US" sz="5400" dirty="0"/>
          </a:p>
        </p:txBody>
      </p:sp>
      <p:sp>
        <p:nvSpPr>
          <p:cNvPr id="6" name="Línea 759"/>
          <p:cNvSpPr/>
          <p:nvPr/>
        </p:nvSpPr>
        <p:spPr>
          <a:xfrm>
            <a:off x="640080" y="5074920"/>
            <a:ext cx="265176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o 760"/>
          <p:cNvSpPr txBox="1"/>
          <p:nvPr/>
        </p:nvSpPr>
        <p:spPr>
          <a:xfrm>
            <a:off x="640080" y="52120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bg1"/>
                </a:solidFill>
              </a:rPr>
              <a:t>WEB</a:t>
            </a:r>
            <a:endParaRPr lang="en-US" sz="900" dirty="0"/>
          </a:p>
        </p:txBody>
      </p:sp>
      <p:sp>
        <p:nvSpPr>
          <p:cNvPr id="8" name="Texto 761"/>
          <p:cNvSpPr txBox="1"/>
          <p:nvPr/>
        </p:nvSpPr>
        <p:spPr>
          <a:xfrm>
            <a:off x="64008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santiagoways.com</a:t>
            </a:r>
            <a:endParaRPr lang="en-US" sz="1300" dirty="0"/>
          </a:p>
        </p:txBody>
      </p:sp>
      <p:sp>
        <p:nvSpPr>
          <p:cNvPr id="9" name="Línea 762"/>
          <p:cNvSpPr/>
          <p:nvPr/>
        </p:nvSpPr>
        <p:spPr>
          <a:xfrm>
            <a:off x="3566160" y="5074920"/>
            <a:ext cx="265176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0" name="Texto 763"/>
          <p:cNvSpPr txBox="1"/>
          <p:nvPr/>
        </p:nvSpPr>
        <p:spPr>
          <a:xfrm>
            <a:off x="3566160" y="52120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bg1"/>
                </a:solidFill>
              </a:rPr>
              <a:t>CORREO</a:t>
            </a:r>
            <a:endParaRPr lang="en-US" sz="900" dirty="0"/>
          </a:p>
        </p:txBody>
      </p:sp>
      <p:sp>
        <p:nvSpPr>
          <p:cNvPr id="11" name="Texto 764"/>
          <p:cNvSpPr txBox="1"/>
          <p:nvPr/>
        </p:nvSpPr>
        <p:spPr>
          <a:xfrm>
            <a:off x="356616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correo@santiagoways.com</a:t>
            </a:r>
            <a:endParaRPr lang="en-US" sz="1300" dirty="0"/>
          </a:p>
        </p:txBody>
      </p:sp>
      <p:sp>
        <p:nvSpPr>
          <p:cNvPr id="12" name="Línea 765"/>
          <p:cNvSpPr/>
          <p:nvPr/>
        </p:nvSpPr>
        <p:spPr>
          <a:xfrm>
            <a:off x="6492240" y="5074920"/>
            <a:ext cx="265176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3" name="Texto 766"/>
          <p:cNvSpPr txBox="1"/>
          <p:nvPr/>
        </p:nvSpPr>
        <p:spPr>
          <a:xfrm>
            <a:off x="6492240" y="52120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chemeClr val="bg1"/>
                </a:solidFill>
              </a:rPr>
              <a:t>TELÉFONO</a:t>
            </a:r>
            <a:endParaRPr lang="en-US" sz="900" dirty="0"/>
          </a:p>
        </p:txBody>
      </p:sp>
      <p:sp>
        <p:nvSpPr>
          <p:cNvPr id="14" name="Texto 767"/>
          <p:cNvSpPr txBox="1"/>
          <p:nvPr/>
        </p:nvSpPr>
        <p:spPr>
          <a:xfrm>
            <a:off x="649224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+34 000 000 000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cha marca de agua 768" descr="/tmp/claude-0/-home-user-pruebas-brandbook-/fbbf11e7-4add-5196-9360-974883348c29/scratchpad/ppt2/img/concha-agua-ver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8415" y="4053738"/>
            <a:ext cx="2743200" cy="2301342"/>
          </a:xfrm>
          <a:prstGeom prst="rect">
            <a:avLst/>
          </a:prstGeom>
        </p:spPr>
      </p:pic>
      <p:pic>
        <p:nvPicPr>
          <p:cNvPr id="3" name="Logo 769" descr="/tmp/claude-0/-home-user-pruebas-brandbook-/fbbf11e7-4add-5196-9360-974883348c29/scratchpad/ppt2/img/logo-vertic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28" y="1874520"/>
            <a:ext cx="1920240" cy="1733864"/>
          </a:xfrm>
          <a:prstGeom prst="rect">
            <a:avLst/>
          </a:prstGeom>
        </p:spPr>
      </p:pic>
      <p:sp>
        <p:nvSpPr>
          <p:cNvPr id="4" name="Texto 770"/>
          <p:cNvSpPr txBox="1"/>
          <p:nvPr/>
        </p:nvSpPr>
        <p:spPr>
          <a:xfrm>
            <a:off x="1828800" y="3886200"/>
            <a:ext cx="8534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Gracias por tu tiempo</a:t>
            </a:r>
            <a:endParaRPr lang="en-US" sz="2800" dirty="0"/>
          </a:p>
        </p:txBody>
      </p:sp>
      <p:sp>
        <p:nvSpPr>
          <p:cNvPr id="5" name="Texto 771"/>
          <p:cNvSpPr txBox="1"/>
          <p:nvPr/>
        </p:nvSpPr>
        <p:spPr>
          <a:xfrm>
            <a:off x="1828800" y="4526280"/>
            <a:ext cx="8534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santiagoways.com · correo@santiagoways.com · +34 000 000 000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ntiago Ways">
  <a:themeElements>
    <a:clrScheme name="Santiago Ways">
      <a:dk1>
        <a:srgbClr val="2E2E2D"/>
      </a:dk1>
      <a:lt1>
        <a:srgbClr val="FFFFFF"/>
      </a:lt1>
      <a:dk2>
        <a:srgbClr val="506718"/>
      </a:dk2>
      <a:lt2>
        <a:srgbClr val="E8E8E6"/>
      </a:lt2>
      <a:accent1>
        <a:srgbClr val="7AA606"/>
      </a:accent1>
      <a:accent2>
        <a:srgbClr val="506718"/>
      </a:accent2>
      <a:accent3>
        <a:srgbClr val="6F6F6E"/>
      </a:accent3>
      <a:accent4>
        <a:srgbClr val="A9C95A"/>
      </a:accent4>
      <a:accent5>
        <a:srgbClr val="FAFFEE"/>
      </a:accent5>
      <a:accent6>
        <a:srgbClr val="2E2E2D"/>
      </a:accent6>
      <a:hlink>
        <a:srgbClr val="506718"/>
      </a:hlink>
      <a:folHlink>
        <a:srgbClr val="6F6F6E"/>
      </a:folHlink>
    </a:clrScheme>
    <a:fontScheme name="Santiago Ways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Santiago Ways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Santiago Ways</dc:title>
  <dc:subject>PptxGenJS Presentation</dc:subject>
  <dc:creator>Santiago Ways</dc:creator>
  <cp:lastModifiedBy>Santiago Ways</cp:lastModifiedBy>
  <cp:revision>1</cp:revision>
  <dcterms:created xsi:type="dcterms:W3CDTF">2026-10-20T08:17:47Z</dcterms:created>
  <dcterms:modified xsi:type="dcterms:W3CDTF">2026-10-20T08:17:47Z</dcterms:modified>
</cp:coreProperties>
</file>